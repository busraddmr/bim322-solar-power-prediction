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2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7D25C-D0A9-41BC-8498-FE0308638534}" type="datetimeFigureOut">
              <a:rPr lang="tr-TR" smtClean="0"/>
              <a:t>9.05.2026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73468-66C6-41A0-B0C2-B9351242C78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772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73468-66C6-41A0-B0C2-B9351242C783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4175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73468-66C6-41A0-B0C2-B9351242C783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2286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52" y="1014984"/>
            <a:ext cx="12188952" cy="21031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652" y="1014984"/>
            <a:ext cx="228600" cy="21031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0852" y="1106424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☀  Solar Power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852" y="19751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8F3DC"/>
                </a:solidFill>
              </a:rPr>
              <a:t>Makine Öğrenmesi ile İkili Üretim Seviyesi Sınıflandırması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3214052" y="2615184"/>
            <a:ext cx="5760720" cy="36576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5639" y="3533816"/>
            <a:ext cx="111449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212529"/>
                </a:solidFill>
              </a:rPr>
              <a:t>Büşra Demir  —  030123075</a:t>
            </a:r>
            <a:endParaRPr lang="tr-TR" sz="2000" b="1" i="0" dirty="0">
              <a:solidFill>
                <a:srgbClr val="212529"/>
              </a:solidFill>
            </a:endParaRPr>
          </a:p>
          <a:p>
            <a:pPr algn="ctr"/>
            <a:r>
              <a:rPr lang="tr-TR" sz="2000" b="1" dirty="0">
                <a:solidFill>
                  <a:srgbClr val="212529"/>
                </a:solidFill>
              </a:rPr>
              <a:t>Nazenin Tatar —  030123053</a:t>
            </a:r>
          </a:p>
          <a:p>
            <a:pPr algn="ctr"/>
            <a:endParaRPr lang="tr-TR" sz="2000" b="1" i="0" dirty="0">
              <a:solidFill>
                <a:srgbClr val="212529"/>
              </a:solidFill>
            </a:endParaRPr>
          </a:p>
          <a:p>
            <a:pPr algn="ctr"/>
            <a:endParaRPr sz="2000" b="1" i="0" dirty="0">
              <a:solidFill>
                <a:srgbClr val="21252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8709" y="54041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495057"/>
                </a:solidFill>
              </a:rPr>
              <a:t>BIM 322 — </a:t>
            </a:r>
            <a:r>
              <a:rPr sz="1600" b="0" i="0" dirty="0" err="1">
                <a:solidFill>
                  <a:srgbClr val="495057"/>
                </a:solidFill>
              </a:rPr>
              <a:t>Makine</a:t>
            </a:r>
            <a:r>
              <a:rPr sz="1600" b="0" i="0" dirty="0">
                <a:solidFill>
                  <a:srgbClr val="495057"/>
                </a:solidFill>
              </a:rPr>
              <a:t> </a:t>
            </a:r>
            <a:r>
              <a:rPr sz="1600" b="0" i="0" dirty="0" err="1">
                <a:solidFill>
                  <a:srgbClr val="495057"/>
                </a:solidFill>
              </a:rPr>
              <a:t>Öğrenmesi</a:t>
            </a:r>
            <a:r>
              <a:rPr sz="1600" b="0" i="0" dirty="0">
                <a:solidFill>
                  <a:srgbClr val="495057"/>
                </a:solidFill>
              </a:rPr>
              <a:t> </a:t>
            </a:r>
            <a:r>
              <a:rPr sz="1600" b="0" i="0" dirty="0" err="1">
                <a:solidFill>
                  <a:srgbClr val="495057"/>
                </a:solidFill>
              </a:rPr>
              <a:t>ve</a:t>
            </a:r>
            <a:r>
              <a:rPr sz="1600" b="0" i="0" dirty="0">
                <a:solidFill>
                  <a:srgbClr val="495057"/>
                </a:solidFill>
              </a:rPr>
              <a:t> </a:t>
            </a:r>
            <a:r>
              <a:rPr sz="1600" b="0" i="0" dirty="0" err="1">
                <a:solidFill>
                  <a:srgbClr val="495057"/>
                </a:solidFill>
              </a:rPr>
              <a:t>Uygulamaları</a:t>
            </a:r>
            <a:r>
              <a:rPr sz="1600" b="0" i="0" dirty="0">
                <a:solidFill>
                  <a:srgbClr val="495057"/>
                </a:solidFill>
              </a:rPr>
              <a:t>  |  </a:t>
            </a:r>
            <a:r>
              <a:rPr sz="1600" b="0" i="0" dirty="0" err="1">
                <a:solidFill>
                  <a:srgbClr val="495057"/>
                </a:solidFill>
              </a:rPr>
              <a:t>Mayıs</a:t>
            </a:r>
            <a:r>
              <a:rPr sz="1600" b="0" i="0" dirty="0">
                <a:solidFill>
                  <a:srgbClr val="495057"/>
                </a:solidFill>
              </a:rPr>
              <a:t>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İçindekiler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0759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32588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Veri Seti &amp; Problem Tanımı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6832" y="126187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56832" y="126187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130759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32588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Keşifsel Veri Analizi (EDA)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6479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76479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81051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182880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Veri Ön İşleme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56832" y="176479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56832" y="176479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02552" y="181051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82880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Data Leakage &amp; Normalizasyon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26771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226771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3134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233172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Özellik Seçimi — Korelasyon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56832" y="226771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56832" y="226771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02552" y="23134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33172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Özellik Seçimi — SelectKBest &amp; RFE &amp; MI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77063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77063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281635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283464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Özellik Seçimi — Sonuç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6832" y="277063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56832" y="277063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02552" y="281635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83464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Modelleme — 5 Algoritma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7355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327355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331927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333756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Confusion Matrisleri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56832" y="327355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656832" y="327355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11112" y="3319272"/>
            <a:ext cx="384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33756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Model Değerlendirme — Metrik Tablosu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77647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0040" y="377647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59" y="3822192"/>
            <a:ext cx="676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" y="384048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ROC Analizi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56832" y="377647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56832" y="377647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33972" y="3799332"/>
            <a:ext cx="429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384048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Precision-Recall Analizi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27939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20040" y="427939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" y="4325112"/>
            <a:ext cx="429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8" y="434340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Özellik Önemi &amp; SHAP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56832" y="427939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656832" y="427939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02552" y="4325112"/>
            <a:ext cx="384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434340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Streamlit Uygulaması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782312"/>
            <a:ext cx="557784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4782312"/>
            <a:ext cx="38404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" y="4828032"/>
            <a:ext cx="429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8" y="484632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Sonuç &amp; Değerlendirme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Veri Seti Tanıtımı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Solar Power Generation Data — Kaggle  |  Hindistan, 2 Tesis, 34 Gün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76072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73152" cy="5303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71600"/>
            <a:ext cx="5504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Veri Seti Genel Bilgileri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20824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0195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4 CSV dosyası:  2× Generation Data,  2× Weather Sensor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96312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Plant 1 Generation Data: 68.774 satır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852928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Plant 2 Generation Data: 67.698 satır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328416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Ham toplam: 136.472 kayıt  |  Süre: 34 günlük sensör ölçümü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2277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80390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Örnekleme sıklığı: Her 15 dakikada bir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" y="4526280"/>
            <a:ext cx="5431536" cy="3657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4617720"/>
            <a:ext cx="5431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Sütunlar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50292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0916C"/>
                </a:solidFill>
              </a:rPr>
              <a:t>Generation: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0292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</a:rPr>
              <a:t>DATE_TIME · PLANT_ID · SOURCE_KEY · DC_POWER · AC_POWER · DAILY_YIELD · TOTAL_YIELD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54498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0916C"/>
                </a:solidFill>
              </a:rPr>
              <a:t>Weather: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44982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</a:rPr>
              <a:t>AMBIENT_TEMPERATURE (°C) · MODULE_TEMPERATURE (°C) · IRRADIATION (W/m²)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1280160"/>
            <a:ext cx="5760720" cy="21488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20" y="1280160"/>
            <a:ext cx="73152" cy="214884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11112" y="1371600"/>
            <a:ext cx="5504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Problem Tanımı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1901952"/>
            <a:ext cx="5431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2529"/>
                </a:solidFill>
              </a:rPr>
              <a:t>Hedef değişken  →  AC_POWER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286000"/>
            <a:ext cx="5431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Binary sınıflandırma:  Düşük (0)  /  Yüksek (1) güç üretimi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670048"/>
            <a:ext cx="5431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95057"/>
                </a:solidFill>
              </a:rPr>
              <a:t>Threshold = train setinin AC_POWER ortalaması = 544.71 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566160"/>
            <a:ext cx="5760720" cy="4114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46520" y="3566160"/>
            <a:ext cx="109728" cy="411480"/>
          </a:xfrm>
          <a:prstGeom prst="rect">
            <a:avLst/>
          </a:prstGeom>
          <a:solidFill>
            <a:srgbClr val="E5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47688" y="36210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533B"/>
                </a:solidFill>
              </a:rPr>
              <a:t>Sınıf 0 — DÜŞÜK  (&lt;544.71 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92193" y="3621024"/>
            <a:ext cx="152360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E5533B"/>
                </a:solidFill>
              </a:rPr>
              <a:t>~%51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096512"/>
            <a:ext cx="5760720" cy="4114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46520" y="4096512"/>
            <a:ext cx="109728" cy="4114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47688" y="41513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0916C"/>
                </a:solidFill>
              </a:rPr>
              <a:t>Sınıf 1 — YÜKSEK (≥544.71 W)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92193" y="4148703"/>
            <a:ext cx="152360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40916C"/>
                </a:solidFill>
              </a:rPr>
              <a:t>~%49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681728"/>
            <a:ext cx="5760720" cy="190195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46520" y="4681728"/>
            <a:ext cx="73152" cy="190195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11112" y="4696493"/>
            <a:ext cx="5504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 err="1">
                <a:solidFill>
                  <a:srgbClr val="1B4332"/>
                </a:solidFill>
              </a:rPr>
              <a:t>Neden</a:t>
            </a:r>
            <a:r>
              <a:rPr sz="1700" b="1" i="0" dirty="0">
                <a:solidFill>
                  <a:srgbClr val="1B4332"/>
                </a:solidFill>
              </a:rPr>
              <a:t> Bu Veri Seti?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63917" y="5088621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17890" y="6181216"/>
            <a:ext cx="4572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212529"/>
                </a:solidFill>
              </a:rPr>
              <a:t>Gerçek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dünya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verisi</a:t>
            </a:r>
            <a:r>
              <a:rPr sz="1600" b="0" i="0" dirty="0">
                <a:solidFill>
                  <a:srgbClr val="212529"/>
                </a:solidFill>
              </a:rPr>
              <a:t> — 2 </a:t>
            </a:r>
            <a:r>
              <a:rPr sz="1600" b="0" i="0" dirty="0" err="1">
                <a:solidFill>
                  <a:srgbClr val="212529"/>
                </a:solidFill>
              </a:rPr>
              <a:t>farklı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güneş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enerjisi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tesisi</a:t>
            </a:r>
            <a:endParaRPr sz="1600" b="0" i="0" dirty="0">
              <a:solidFill>
                <a:srgbClr val="212529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563917" y="5509245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47688" y="4965192"/>
            <a:ext cx="534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12529"/>
                </a:solidFill>
              </a:rPr>
              <a:t>Zengin </a:t>
            </a:r>
            <a:r>
              <a:rPr sz="1600" b="0" i="0" dirty="0" err="1">
                <a:solidFill>
                  <a:srgbClr val="212529"/>
                </a:solidFill>
              </a:rPr>
              <a:t>özellik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seti</a:t>
            </a:r>
            <a:r>
              <a:rPr sz="1600" b="0" i="0" dirty="0">
                <a:solidFill>
                  <a:srgbClr val="212529"/>
                </a:solidFill>
              </a:rPr>
              <a:t> (</a:t>
            </a:r>
            <a:r>
              <a:rPr sz="1600" b="0" i="0" dirty="0" err="1">
                <a:solidFill>
                  <a:srgbClr val="212529"/>
                </a:solidFill>
              </a:rPr>
              <a:t>sıcaklık</a:t>
            </a:r>
            <a:r>
              <a:rPr sz="1600" b="0" i="0" dirty="0">
                <a:solidFill>
                  <a:srgbClr val="212529"/>
                </a:solidFill>
              </a:rPr>
              <a:t> + </a:t>
            </a:r>
            <a:r>
              <a:rPr sz="1600" b="0" i="0" dirty="0" err="1">
                <a:solidFill>
                  <a:srgbClr val="212529"/>
                </a:solidFill>
              </a:rPr>
              <a:t>ışınım</a:t>
            </a:r>
            <a:r>
              <a:rPr sz="1600" b="0" i="0" dirty="0">
                <a:solidFill>
                  <a:srgbClr val="212529"/>
                </a:solidFill>
              </a:rPr>
              <a:t> + </a:t>
            </a:r>
            <a:r>
              <a:rPr sz="1600" b="0" i="0" dirty="0" err="1">
                <a:solidFill>
                  <a:srgbClr val="212529"/>
                </a:solidFill>
              </a:rPr>
              <a:t>üretim</a:t>
            </a:r>
            <a:r>
              <a:rPr sz="1600" b="0" i="0" dirty="0">
                <a:solidFill>
                  <a:srgbClr val="212529"/>
                </a:solidFill>
              </a:rPr>
              <a:t>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63917" y="5929869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3645" y="5342450"/>
            <a:ext cx="4919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12529"/>
                </a:solidFill>
              </a:rPr>
              <a:t>Makul </a:t>
            </a:r>
            <a:r>
              <a:rPr sz="1600" b="0" i="0" dirty="0" err="1">
                <a:solidFill>
                  <a:srgbClr val="212529"/>
                </a:solidFill>
              </a:rPr>
              <a:t>boyut</a:t>
            </a:r>
            <a:r>
              <a:rPr sz="1600" b="0" i="0" dirty="0">
                <a:solidFill>
                  <a:srgbClr val="212529"/>
                </a:solidFill>
              </a:rPr>
              <a:t>: overfitting/underfitting </a:t>
            </a:r>
            <a:r>
              <a:rPr sz="1600" b="0" i="0" dirty="0" err="1">
                <a:solidFill>
                  <a:srgbClr val="212529"/>
                </a:solidFill>
              </a:rPr>
              <a:t>dengesi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için</a:t>
            </a:r>
            <a:r>
              <a:rPr sz="1600" b="0" i="0" dirty="0">
                <a:solidFill>
                  <a:srgbClr val="212529"/>
                </a:solidFill>
              </a:rPr>
              <a:t> ideal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63917" y="6350493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17890" y="5760592"/>
            <a:ext cx="38743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212529"/>
                </a:solidFill>
              </a:rPr>
              <a:t>Ödevde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istenen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tüm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metrikler</a:t>
            </a:r>
            <a:r>
              <a:rPr sz="1600" b="0" i="0" dirty="0">
                <a:solidFill>
                  <a:srgbClr val="212529"/>
                </a:solidFill>
              </a:rPr>
              <a:t> </a:t>
            </a:r>
            <a:r>
              <a:rPr sz="1600" b="0" i="0" dirty="0" err="1">
                <a:solidFill>
                  <a:srgbClr val="212529"/>
                </a:solidFill>
              </a:rPr>
              <a:t>uygulanabilir</a:t>
            </a:r>
            <a:endParaRPr sz="1600" b="0" i="0" dirty="0">
              <a:solidFill>
                <a:srgbClr val="21252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Keşifsel Veri Analizi (EDA) — Temel İstatistikler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Hücre 5 çalıştırılarak üretilen histogram, zaman serisi ve scatter plot grafikleri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788920" cy="107899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788920" cy="6400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371600"/>
            <a:ext cx="2569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</a:rPr>
              <a:t>AC_POWER  (hedef)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921" y="1627632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12529"/>
                </a:solidFill>
              </a:rPr>
              <a:t>ort: 544.71 W
std: 475.2 W
min: 0 / max: 3898 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61872"/>
            <a:ext cx="2788920" cy="107899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18688" y="1261872"/>
            <a:ext cx="2788920" cy="64008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28416" y="1371600"/>
            <a:ext cx="2569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</a:rPr>
              <a:t>IRRADIATION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1591056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12529"/>
                </a:solidFill>
              </a:rPr>
              <a:t>ort: 0.516 W/m²
std: 0.287 W/m²
min: 0.001 / max: 1.29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7336" y="1261872"/>
            <a:ext cx="2788920" cy="107899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17336" y="1261872"/>
            <a:ext cx="27889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27064" y="1371600"/>
            <a:ext cx="2569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</a:rPr>
              <a:t>MODULE_TEMP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577340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12529"/>
                </a:solidFill>
              </a:rPr>
              <a:t>ort: 49.8 °C
std: 11.3 °C
min: 24.8 / max: 66.5 °C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984" y="1261872"/>
            <a:ext cx="2788920" cy="11247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15984" y="1261872"/>
            <a:ext cx="2788920" cy="64008"/>
          </a:xfrm>
          <a:prstGeom prst="rect">
            <a:avLst/>
          </a:prstGeom>
          <a:solidFill>
            <a:srgbClr val="E5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1371600"/>
            <a:ext cx="2569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332"/>
                </a:solidFill>
              </a:rPr>
              <a:t>AMBIENT_TEMP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1527296"/>
            <a:ext cx="2569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12529"/>
                </a:solidFill>
              </a:rPr>
              <a:t>ort: 33.6 °C
std: 4.9 °C
min: 22.1 / max: 44.2 °C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359152"/>
            <a:ext cx="11548872" cy="4114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39572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Ham veri: 136.472 satır   →   Gece filtresi sonrası: 68.859 satır   →   Train: 44.069  |  Val: 11.018  |  Test: 13.772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154680"/>
            <a:ext cx="5623560" cy="3429000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3246120"/>
            <a:ext cx="5440680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6455664"/>
            <a:ext cx="5440680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33756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DB5BD"/>
                </a:solidFill>
              </a:rPr>
              <a:t>[ GÖRSEL ALANI ]</a:t>
            </a:r>
          </a:p>
        </p:txBody>
      </p:sp>
      <p:pic>
        <p:nvPicPr>
          <p:cNvPr id="39" name="Resim 38">
            <a:extLst>
              <a:ext uri="{FF2B5EF4-FFF2-40B4-BE49-F238E27FC236}">
                <a16:creationId xmlns:a16="http://schemas.microsoft.com/office/drawing/2014/main" id="{9E31623A-49B5-0D67-15FA-4DA77B927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734" r="62790"/>
          <a:stretch>
            <a:fillRect/>
          </a:stretch>
        </p:blipFill>
        <p:spPr>
          <a:xfrm>
            <a:off x="7924801" y="3053775"/>
            <a:ext cx="4101788" cy="2822508"/>
          </a:xfrm>
          <a:prstGeom prst="rect">
            <a:avLst/>
          </a:prstGeom>
        </p:spPr>
      </p:pic>
      <p:pic>
        <p:nvPicPr>
          <p:cNvPr id="44" name="Resim 43">
            <a:extLst>
              <a:ext uri="{FF2B5EF4-FFF2-40B4-BE49-F238E27FC236}">
                <a16:creationId xmlns:a16="http://schemas.microsoft.com/office/drawing/2014/main" id="{58C6C1A5-AFB9-A303-114B-C7D57EF82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805"/>
          <a:stretch>
            <a:fillRect/>
          </a:stretch>
        </p:blipFill>
        <p:spPr>
          <a:xfrm>
            <a:off x="256032" y="2770632"/>
            <a:ext cx="7481706" cy="3989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FC1619ED-723F-BBB8-2219-CE8C90360A1F}"/>
              </a:ext>
            </a:extLst>
          </p:cNvPr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8E410648-6F1C-1FB7-EF1B-E1E363FAE57B}"/>
              </a:ext>
            </a:extLst>
          </p:cNvPr>
          <p:cNvSpPr/>
          <p:nvPr/>
        </p:nvSpPr>
        <p:spPr>
          <a:xfrm>
            <a:off x="0" y="571500"/>
            <a:ext cx="8295640" cy="33528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F33AEB2-031B-1C2E-60D1-289561DA6586}"/>
              </a:ext>
            </a:extLst>
          </p:cNvPr>
          <p:cNvSpPr/>
          <p:nvPr/>
        </p:nvSpPr>
        <p:spPr>
          <a:xfrm>
            <a:off x="6802119" y="2415540"/>
            <a:ext cx="4975225" cy="41071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773AED2-5096-AAC4-2359-43399F875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1201566"/>
            <a:ext cx="7315199" cy="2053943"/>
          </a:xfrm>
          <a:prstGeom prst="rect">
            <a:avLst/>
          </a:prstGeom>
        </p:spPr>
      </p:pic>
      <p:pic>
        <p:nvPicPr>
          <p:cNvPr id="35" name="Resim 34">
            <a:extLst>
              <a:ext uri="{FF2B5EF4-FFF2-40B4-BE49-F238E27FC236}">
                <a16:creationId xmlns:a16="http://schemas.microsoft.com/office/drawing/2014/main" id="{EC0E1047-06CF-F96B-FBFB-998C6A5C8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83" y="3491729"/>
            <a:ext cx="4507695" cy="27947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5609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Görev 1 — Veri Ön İşleme  (10 Puan)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Birleştirme · Gece Filtresi · IQR Aykırı Değer · Veri Ayrımı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577840" cy="22860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577840" cy="7315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48132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4332"/>
                </a:solidFill>
              </a:rPr>
              <a:t>Veri Birleştirme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956816"/>
            <a:ext cx="5276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</a:rPr>
              <a:t>Plant 1 ve Plant 2 verileri DATE_TIME + PLANT_ID üzerinden merge edildi.
Generation + Weather inner join → Her kayıt için hava durumu eşleştirildi.
Toplam birleşik satır: 136.472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56832" y="1298448"/>
            <a:ext cx="5577840" cy="22860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56832" y="1298448"/>
            <a:ext cx="5577840" cy="73152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93992" y="1463040"/>
            <a:ext cx="411480" cy="411480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21424" y="14813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48132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4332"/>
                </a:solidFill>
              </a:rPr>
              <a:t>Gece Saati Filtresi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1956816"/>
            <a:ext cx="5276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</a:rPr>
              <a:t>AC_POWER = 0 olan satırlar gece saatlerine ait — modele bilgi taşımıyor.
Koşul: AC_POWER &gt; 0  →  gece kayıtları filtrelendi.
136.472  →  68.859 satır   (67.613 satır elendi, %49.5)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21608"/>
            <a:ext cx="5577840" cy="22860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721608"/>
            <a:ext cx="557784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39044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90448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4332"/>
                </a:solidFill>
              </a:rPr>
              <a:t>IQR Aykırı Değer Temizliği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4379976"/>
            <a:ext cx="5276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</a:rPr>
              <a:t>Yöntem: Q1 − 1.5×IQR   /   Q3 + 1.5×IQR sınırları
Uygulanan sütunlar: DC_POWER, AC_POWER
Gece filtresi sonrası veri düzenli → aykırı değer = 0 satır çıkarıldı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56832" y="3721608"/>
            <a:ext cx="5577840" cy="228600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56832" y="3721608"/>
            <a:ext cx="5577840" cy="73152"/>
          </a:xfrm>
          <a:prstGeom prst="rect">
            <a:avLst/>
          </a:prstGeom>
          <a:solidFill>
            <a:srgbClr val="E5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93992" y="3886200"/>
            <a:ext cx="411480" cy="411480"/>
          </a:xfrm>
          <a:prstGeom prst="rect">
            <a:avLst/>
          </a:prstGeom>
          <a:solidFill>
            <a:srgbClr val="E5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21424" y="39044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0448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4332"/>
                </a:solidFill>
              </a:rPr>
              <a:t>Train / Val / Test Ayrımı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4379976"/>
            <a:ext cx="5276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</a:rPr>
              <a:t>Stratified split (random_state=42) — sınıf oranları korundu
Train: 44.069 (%64)   Validation: 11.018 (%16)   Test: 13.772 (%20)
Binary threshold = train setinin AC_POWER ortalaması = 544.71 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 Leakage Önlemi &amp; Normalizasyon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Hücre 6 &amp; 7 — Scaler sadece train verisine fit edildi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57784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73152" cy="5303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71600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Data Leakage Nedir &amp; Nasıl Önlendi?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901952"/>
            <a:ext cx="5248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533B"/>
                </a:solidFill>
              </a:rPr>
              <a:t>Leakage: Test/val verisinin eğitime sızması → sahte yüksek başarım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487168"/>
            <a:ext cx="1463040" cy="34747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2523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Çıkarılan özellik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237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</a:rPr>
              <a:t>DC_POWER — hedef AC_POWER ile r=0.99, doğrudan ilişkili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3172968"/>
            <a:ext cx="1463040" cy="34747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3209544"/>
            <a:ext cx="1554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Çıkarılan türetme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2095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</a:rPr>
              <a:t>DC_AC_RATIO — DC_POWER / AC_POWER → target leakage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858768"/>
            <a:ext cx="1463040" cy="34747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3895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Scaler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8953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</a:rPr>
              <a:t>MinMaxScaler SADECE train'e fit edildi, val/test'e transform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" y="4544568"/>
            <a:ext cx="1463040" cy="34747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4581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5811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</a:rPr>
              <a:t>Binary eşik değeri SADECE train ortalamasından hesaplandı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5230368"/>
            <a:ext cx="1463040" cy="34747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5266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Sıralama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2669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</a:rPr>
              <a:t>Split ÖNCE yapıldı, feature engineering SONRA uygulandı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280160"/>
            <a:ext cx="5833872" cy="25603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35040" y="1280160"/>
            <a:ext cx="73152" cy="25603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9632" y="13716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MinMaxScaler — Normalizasyon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1901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</a:rPr>
              <a:t>Formül:  X_scaled = (X − X_min) / (X_max − X_min)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2304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</a:rPr>
              <a:t>Sonuç: Tüm özellikler  [0, 1]  aralığına ölçeklendi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2642616"/>
            <a:ext cx="3200400" cy="3657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45352" y="2651760"/>
            <a:ext cx="200076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40916C"/>
                </a:solidFill>
              </a:rPr>
              <a:t>Train fit + transform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2" y="26265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95057"/>
                </a:solidFill>
              </a:rPr>
              <a:t>44.069 </a:t>
            </a:r>
            <a:r>
              <a:rPr sz="1500" b="0" i="0" dirty="0" err="1">
                <a:solidFill>
                  <a:srgbClr val="495057"/>
                </a:solidFill>
              </a:rPr>
              <a:t>satır</a:t>
            </a:r>
            <a:endParaRPr sz="1500" b="0" i="0" dirty="0">
              <a:solidFill>
                <a:srgbClr val="495057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45352" y="3077888"/>
            <a:ext cx="3200400" cy="3657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45352" y="310748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40916C"/>
                </a:solidFill>
              </a:rPr>
              <a:t>Val → </a:t>
            </a:r>
            <a:r>
              <a:rPr sz="1500" b="1" i="0" dirty="0" err="1">
                <a:solidFill>
                  <a:srgbClr val="40916C"/>
                </a:solidFill>
              </a:rPr>
              <a:t>sadece</a:t>
            </a:r>
            <a:r>
              <a:rPr sz="1500" b="1" i="0" dirty="0">
                <a:solidFill>
                  <a:srgbClr val="40916C"/>
                </a:solidFill>
              </a:rPr>
              <a:t> transform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06437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95057"/>
                </a:solidFill>
              </a:rPr>
              <a:t>11.018 </a:t>
            </a:r>
            <a:r>
              <a:rPr sz="1500" b="0" i="0" dirty="0" err="1">
                <a:solidFill>
                  <a:srgbClr val="495057"/>
                </a:solidFill>
              </a:rPr>
              <a:t>satır</a:t>
            </a:r>
            <a:endParaRPr sz="1500" b="0" i="0" dirty="0">
              <a:solidFill>
                <a:srgbClr val="495057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45352" y="3474720"/>
            <a:ext cx="3200400" cy="3657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245352" y="3507655"/>
            <a:ext cx="22202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0916C"/>
                </a:solidFill>
              </a:rPr>
              <a:t>Test → sadece transform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95057"/>
                </a:solidFill>
              </a:rPr>
              <a:t>13.772 </a:t>
            </a:r>
            <a:r>
              <a:rPr sz="1500" b="0" i="0" dirty="0" err="1">
                <a:solidFill>
                  <a:srgbClr val="495057"/>
                </a:solidFill>
              </a:rPr>
              <a:t>satır</a:t>
            </a:r>
            <a:endParaRPr sz="1500" b="0" i="0" dirty="0">
              <a:solidFill>
                <a:srgbClr val="495057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35040" y="3977639"/>
            <a:ext cx="5833872" cy="2587752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26480" y="4069079"/>
            <a:ext cx="5650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0" y="6437375"/>
            <a:ext cx="5650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4160519"/>
            <a:ext cx="5833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DB5BD"/>
                </a:solidFill>
              </a:rPr>
              <a:t>[ GÖRSEL ALANI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571999"/>
            <a:ext cx="555955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95057"/>
                </a:solidFill>
              </a:rPr>
              <a:t>Hücre 6 çıktısı — Aykırı değer boxplot grafiği
DC_POWER ve AC_POWER için IQR sınırları görselleştirmesi
(Temizlik öncesi / sonrası karşılaştırma)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Özellik Seçimi — Yöntem 1: Korelasyon Matrisi  (25 Puan)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Filter yöntemi — Özellikler arası Pearson korelasyonu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" y="1216152"/>
            <a:ext cx="5404104" cy="536752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9456" y="1280160"/>
            <a:ext cx="73152" cy="5303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71600"/>
            <a:ext cx="5047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Yöntem Açıklaması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901952"/>
            <a:ext cx="497433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</a:rPr>
              <a:t>Pearson korelasyon katsayısı, özellik ile hedef
arasındaki doğrusal ilişkinin gücünü ölçer.
|r| &gt; 0.5 → güçlü ilişki, özellik seçimi için uygun.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80360"/>
            <a:ext cx="237744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3264408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2916936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Özellik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880360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97480" y="326440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0632" y="291693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Korelasyon (r)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2880360"/>
            <a:ext cx="128016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69080" y="3264408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42232" y="2916936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Durum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64408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648456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" y="3300984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IRRADIATION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326440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97480" y="364845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70632" y="330098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0.8236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326440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69080" y="3648456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42232" y="330098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Seçildi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4032504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192" y="3685032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MODULE_TEMPERATURE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364845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697480" y="403250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70632" y="368503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0.7687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364845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069080" y="4032504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42232" y="3685032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Seçildi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032504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416552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3192" y="4069080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AMBIENT_TEMPERATURE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403250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697480" y="441655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70632" y="406908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0.3946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032504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069080" y="4416552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42232" y="406908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Seçildi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416552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4800600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3192" y="4453128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DAILY_YIELD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7480" y="441655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697480" y="480060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70632" y="445312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0.0522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80" y="441655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069080" y="4800600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42232" y="4453128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Elendi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800600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20040" y="5184648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93192" y="4837176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TOTAL_YIELD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97480" y="480060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697480" y="518464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70632" y="483717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0.0494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69080" y="4800600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069080" y="5184648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42232" y="4837176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Elendi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06440" y="1280160"/>
            <a:ext cx="6062472" cy="5303520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897880" y="1371600"/>
            <a:ext cx="58795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897880" y="6455664"/>
            <a:ext cx="58795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806440" y="1463040"/>
            <a:ext cx="6062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DB5BD"/>
                </a:solidFill>
              </a:rPr>
              <a:t>[ GÖRSEL ALANI ]</a:t>
            </a:r>
          </a:p>
        </p:txBody>
      </p:sp>
      <p:pic>
        <p:nvPicPr>
          <p:cNvPr id="38" name="Resim 37">
            <a:extLst>
              <a:ext uri="{FF2B5EF4-FFF2-40B4-BE49-F238E27FC236}">
                <a16:creationId xmlns:a16="http://schemas.microsoft.com/office/drawing/2014/main" id="{E662D2AC-222F-9C77-F65C-544A15657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99616"/>
            <a:ext cx="5879592" cy="48239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Özellik Seçimi — Yöntem 2, 3 &amp;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SelectKBest (ANOVA F-test) · RFE (Recursive Feature Elimination) · Mutual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370332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3703320" cy="91440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 err="1">
                <a:solidFill>
                  <a:srgbClr val="1B4332"/>
                </a:solidFill>
              </a:rPr>
              <a:t>Yöntem</a:t>
            </a:r>
            <a:r>
              <a:rPr sz="1700" b="1" i="0" dirty="0">
                <a:solidFill>
                  <a:srgbClr val="1B4332"/>
                </a:solidFill>
              </a:rPr>
              <a:t> 2 — </a:t>
            </a:r>
            <a:r>
              <a:rPr sz="1700" b="1" i="0" dirty="0" err="1">
                <a:solidFill>
                  <a:srgbClr val="1B4332"/>
                </a:solidFill>
              </a:rPr>
              <a:t>SelectKBest</a:t>
            </a:r>
            <a:r>
              <a:rPr sz="1700" b="1" i="0" dirty="0">
                <a:solidFill>
                  <a:srgbClr val="1B4332"/>
                </a:solidFill>
              </a:rPr>
              <a:t>
(ANOVA F-test)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95057"/>
                </a:solidFill>
              </a:rPr>
              <a:t>Tip: Filter yöntemi
Model bağımsız, hızlı
istatistiksel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11780"/>
            <a:ext cx="3429000" cy="27432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28712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IRRADIATION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31821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31912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7AB4"/>
                </a:solidFill>
              </a:rPr>
              <a:t>F = 92.944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5570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MODULE_TEMPERATURE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38679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38770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7AB4"/>
                </a:solidFill>
              </a:rPr>
              <a:t>F = 63.656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2428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AMBIENT_TEMPERATURE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45537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45628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7AB4"/>
                </a:solidFill>
              </a:rPr>
              <a:t>F = 8.126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9286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DAILY_YIELD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" y="52395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" y="52486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7AB4"/>
                </a:solidFill>
              </a:rPr>
              <a:t>F = 156 (düşük)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56144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TOTAL_YIELD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9253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" y="59344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7AB4"/>
                </a:solidFill>
              </a:rPr>
              <a:t>F = 132 (düşük)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8" y="1298448"/>
            <a:ext cx="370332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24528" y="1298448"/>
            <a:ext cx="3703320" cy="9144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61688" y="1435608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Yöntem 3 — RFE
(Recursive Feature
Elimination)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2139696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95057"/>
                </a:solidFill>
              </a:rPr>
              <a:t>Tip: Wrapper yöntemi
LinearRegression tabanlı
non-linear ilişkiler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1688" y="2761488"/>
            <a:ext cx="3429000" cy="2743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0" y="28712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IRRADIATION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1821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25696" y="31912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916C"/>
                </a:solidFill>
              </a:rPr>
              <a:t>Sıra: 1  ✓ Seçildi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570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MODULE_TEMPERATURE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38679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25696" y="38770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916C"/>
                </a:solidFill>
              </a:rPr>
              <a:t>Sıra: 1  ✓ Seçildi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2428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AMBIENT_TEMPERATURE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5537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25696" y="45628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916C"/>
                </a:solidFill>
              </a:rPr>
              <a:t>Sıra: 1  ✓ Seçildi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9286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DAILY_YIELD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52395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25696" y="52486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533B"/>
                </a:solidFill>
              </a:rPr>
              <a:t>Sıra: 2  ✗ Elendi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6144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TOTAL_YIELD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59253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25696" y="59344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533B"/>
                </a:solidFill>
              </a:rPr>
              <a:t>Sıra: 3  ✗ Elendi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29016" y="1298448"/>
            <a:ext cx="370332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29016" y="1298448"/>
            <a:ext cx="370332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66176" y="1435608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Yöntem 4 — Mutual
Information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6" y="2139696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95057"/>
                </a:solidFill>
              </a:rPr>
              <a:t>Tip: Filter yöntemi
Doğrusal olmayan ilişkileri
de yakalar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66176" y="2761488"/>
            <a:ext cx="34290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93608" y="28712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AMBIENT_TEMPERATURE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93608" y="31821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30184" y="31912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MI = 0.6232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93608" y="35570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MODULE_TEMPERATURE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93608" y="38679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30184" y="38770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MI = 0.6204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93608" y="42428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IRRADIATION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93608" y="45537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30184" y="45628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MI = 0.6176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93608" y="49286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DAILY_YIELD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93608" y="52395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30184" y="52486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MI = 0.0001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93608" y="5614416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529"/>
                </a:solidFill>
              </a:rPr>
              <a:t>TOTAL_YIELD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93608" y="5925312"/>
            <a:ext cx="337413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30184" y="5934456"/>
            <a:ext cx="3300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MI = 0.0000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Özellik Seçimi — Sonuç &amp; Karşılaştırma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4 Yöntemin Kesişimi → Final Özellik Seti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237744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682496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335024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Özellik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298448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97480" y="168249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0632" y="133502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Korelasyon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298448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168249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42232" y="133502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SelectKBest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1298448"/>
            <a:ext cx="109728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40680" y="1682496"/>
            <a:ext cx="10972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13832" y="1335024"/>
            <a:ext cx="950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298448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37960" y="168249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33502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Mutual Info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1298448"/>
            <a:ext cx="128016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09560" y="1682496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82712" y="133502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SONUÇ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6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066544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" y="1719072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IRRADIATION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168249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697480" y="206654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70632" y="171907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0.82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69080" y="168249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69080" y="206654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42232" y="171907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92944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1682496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40680" y="2066544"/>
            <a:ext cx="10972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13832" y="1719072"/>
            <a:ext cx="950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Sıra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168249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37960" y="206654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171907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0.618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09560" y="168249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09560" y="2066544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82712" y="1719072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SEÇİLDİ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066544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2450592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3192" y="2103120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MODULE_TEMPERATURE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97480" y="206654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697480" y="245059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70632" y="210312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0.77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69080" y="206654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069080" y="245059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42232" y="210312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63656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066544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440680" y="2450592"/>
            <a:ext cx="10972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13832" y="2103120"/>
            <a:ext cx="950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Sıra 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60" y="206654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537960" y="245059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11112" y="210312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0.620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60" y="2066544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909560" y="2450592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82712" y="21031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SEÇİLDİ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2450592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0040" y="2834640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3192" y="2487168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AMBIENT_TEMPERATURE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97480" y="245059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697480" y="283464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70632" y="248716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0.39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245059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069080" y="283464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142232" y="248716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8127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450592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440680" y="2834640"/>
            <a:ext cx="10972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13832" y="2487168"/>
            <a:ext cx="950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Sıra 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60" y="245059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537960" y="283464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11112" y="248716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0.623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09560" y="245059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909560" y="2834640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982712" y="2487168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✓ SEÇİLDİ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2834640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20040" y="3218688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93192" y="2871216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DAILY_YIELD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97480" y="28346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697480" y="321868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70632" y="287121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0.05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69080" y="28346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069080" y="321868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142232" y="287121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156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40680" y="283464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440680" y="3218688"/>
            <a:ext cx="10972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513832" y="2871216"/>
            <a:ext cx="950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Sıra 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37960" y="28346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537960" y="321868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611112" y="287121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0.000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909560" y="2834640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909560" y="3218688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982712" y="2871216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ELENDİ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" y="3218688"/>
            <a:ext cx="237744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20040" y="3602736"/>
            <a:ext cx="23774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93192" y="3255264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TOTAL_YIELD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697480" y="321868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697480" y="360273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770632" y="325526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0.05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069080" y="321868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069080" y="360273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142232" y="325526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132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40680" y="3218688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440680" y="3602736"/>
            <a:ext cx="10972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513832" y="3255264"/>
            <a:ext cx="950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Sıra 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537960" y="321868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537960" y="360273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611112" y="325526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0.000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09560" y="321868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7909560" y="3602736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982712" y="325526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✗ ELENDİ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20040" y="4297680"/>
            <a:ext cx="11548872" cy="6217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02920" y="43708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   Final Özellik Seti:   IRRADIATION   ·   MODULE_TEMPERATURE   ·   AMBIENT_TEMPERATURE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20040" y="5074920"/>
            <a:ext cx="5577840" cy="1572768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11480" y="5166360"/>
            <a:ext cx="5394960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11480" y="6519672"/>
            <a:ext cx="5394960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20040" y="5257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DB5BD"/>
                </a:solidFill>
              </a:rPr>
              <a:t>[ GÖRSEL ALANI ]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5669280"/>
            <a:ext cx="5303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95057"/>
                </a:solidFill>
              </a:rPr>
              <a:t>Hücre 7 çıktısı — SelectKBest F-skorları bar grafiği
(IRRADIATION skoru diğerlerine kıyasla belirgin biçimde yüksek)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35040" y="5074920"/>
            <a:ext cx="5833872" cy="1572768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126480" y="5166360"/>
            <a:ext cx="5650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126480" y="6519672"/>
            <a:ext cx="5650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035040" y="5257800"/>
            <a:ext cx="5833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DB5BD"/>
                </a:solidFill>
              </a:rPr>
              <a:t>[ GÖRSEL ALANI ]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72200" y="5669280"/>
            <a:ext cx="555955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95057"/>
                </a:solidFill>
              </a:rPr>
              <a:t>Hücre 7 çıktısı — RFE özellik sıralama grafiği
ya da Mutual Information bar grafiği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Görev 3 — Modelleme  (25 Puan)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5 Farklı ML Algoritması  |  stratify=True  |  random_state=42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548872" cy="47548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Veri Ayrımı:   Train 44.069 (%64)   |   Validation 11.018 (%16)   |   Test 13.772 (%20)   |   stratify=True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2240280" cy="468172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2240280" cy="9144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2057400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4332"/>
                </a:solidFill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78608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95057"/>
                </a:solidFill>
              </a:rPr>
              <a:t>Gradient Boosting
(XGBoost lib)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017520"/>
            <a:ext cx="2020824" cy="2743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309067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B4332"/>
                </a:solidFill>
              </a:rPr>
              <a:t>Parametreler</a:t>
            </a:r>
            <a:r>
              <a:rPr sz="1300" b="1" i="0" dirty="0">
                <a:solidFill>
                  <a:srgbClr val="1B4332"/>
                </a:solidFill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410712"/>
            <a:ext cx="2020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529"/>
                </a:solidFill>
              </a:rPr>
              <a:t>n_estimators=100
max_depth=5
eval_metric='logloss'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943600"/>
            <a:ext cx="2240280" cy="65836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007608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Val Acc
0.9740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920240"/>
            <a:ext cx="2240280" cy="468172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51760" y="1920240"/>
            <a:ext cx="2240280" cy="91440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61488" y="2057400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4332"/>
                </a:solidFill>
              </a:rPr>
              <a:t>Random
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2578608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95057"/>
                </a:solidFill>
              </a:rPr>
              <a:t>Ensemble Bagging
(sklearn)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1488" y="3017520"/>
            <a:ext cx="2020824" cy="27432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61488" y="309067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</a:rPr>
              <a:t>Parametreler: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3410712"/>
            <a:ext cx="2020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529"/>
                </a:solidFill>
              </a:rPr>
              <a:t>n_estimators=100
max_depth=None
random_state=42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943600"/>
            <a:ext cx="2240280" cy="658368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97480" y="6007608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Val Acc
0.9734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1920240"/>
            <a:ext cx="2240280" cy="468172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83480" y="1920240"/>
            <a:ext cx="224028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93208" y="2057400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4332"/>
                </a:solidFill>
              </a:rPr>
              <a:t>KNN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578608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95057"/>
                </a:solidFill>
              </a:rPr>
              <a:t>Instance-Based
Learning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93208" y="3017520"/>
            <a:ext cx="2020824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93208" y="309067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</a:rPr>
              <a:t>Parametreler: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3208" y="3410712"/>
            <a:ext cx="2020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529"/>
                </a:solidFill>
              </a:rPr>
              <a:t>n_neighbors=5
weights='uniform'
algorithm='auto'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5943600"/>
            <a:ext cx="2240280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6007608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Val Acc
0.9719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1920240"/>
            <a:ext cx="2240280" cy="468172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0" y="1920240"/>
            <a:ext cx="2240280" cy="91440"/>
          </a:xfrm>
          <a:prstGeom prst="rect">
            <a:avLst/>
          </a:prstGeom>
          <a:solidFill>
            <a:srgbClr val="805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24928" y="2057400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4332"/>
                </a:solidFill>
              </a:rPr>
              <a:t>Logistic
Regression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8" y="2578608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95057"/>
                </a:solidFill>
              </a:rPr>
              <a:t>Lineer Sınıflandırıcı
(baseline)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24928" y="3017520"/>
            <a:ext cx="2020824" cy="27432"/>
          </a:xfrm>
          <a:prstGeom prst="rect">
            <a:avLst/>
          </a:prstGeom>
          <a:solidFill>
            <a:srgbClr val="805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24928" y="309067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</a:rPr>
              <a:t>Parametreler: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4928" y="3410712"/>
            <a:ext cx="2020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529"/>
                </a:solidFill>
              </a:rPr>
              <a:t>max_iter=1000
C=1.0
solver='lbfgs'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5943600"/>
            <a:ext cx="2240280" cy="658368"/>
          </a:xfrm>
          <a:prstGeom prst="rect">
            <a:avLst/>
          </a:prstGeom>
          <a:solidFill>
            <a:srgbClr val="805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60920" y="6007608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Val Acc
0.9499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46920" y="1920240"/>
            <a:ext cx="2240280" cy="468172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646920" y="1920240"/>
            <a:ext cx="2240280" cy="91440"/>
          </a:xfrm>
          <a:prstGeom prst="rect">
            <a:avLst/>
          </a:prstGeom>
          <a:solidFill>
            <a:srgbClr val="E5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56648" y="2057400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4332"/>
                </a:solidFill>
              </a:rPr>
              <a:t>Naive
Bayes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8" y="2578608"/>
            <a:ext cx="2020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95057"/>
                </a:solidFill>
              </a:rPr>
              <a:t>Probabilistik
GaussianNB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56648" y="3017520"/>
            <a:ext cx="2020824" cy="27432"/>
          </a:xfrm>
          <a:prstGeom prst="rect">
            <a:avLst/>
          </a:prstGeom>
          <a:solidFill>
            <a:srgbClr val="E5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756648" y="309067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332"/>
                </a:solidFill>
              </a:rPr>
              <a:t>Parametreler: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6648" y="3410712"/>
            <a:ext cx="2020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529"/>
                </a:solidFill>
              </a:rPr>
              <a:t>var_smoothing=1e-9
(en basit baseline)
model bağımsız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5943600"/>
            <a:ext cx="2240280" cy="658368"/>
          </a:xfrm>
          <a:prstGeom prst="rect">
            <a:avLst/>
          </a:prstGeom>
          <a:solidFill>
            <a:srgbClr val="E5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92640" y="6007608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Val Acc
0.9122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Karışıklık Matrisleri — Test Seti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Binary: Düşük (0) vs Yüksek (1)  |  5 model  |  13.772 test kaydı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548872" cy="3017520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4187952"/>
            <a:ext cx="11365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813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DB5BD"/>
                </a:solidFill>
              </a:rPr>
              <a:t>[ GÖRSEL ALANI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462272"/>
            <a:ext cx="210312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4846320"/>
            <a:ext cx="210312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" y="4498848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4462272"/>
            <a:ext cx="82296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23160" y="4846320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6312" y="4498848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4462272"/>
            <a:ext cx="82296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4846320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9272" y="4498848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4462272"/>
            <a:ext cx="82296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69080" y="4846320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42232" y="4498848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4462272"/>
            <a:ext cx="82296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92040" y="4846320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65192" y="4498848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462272"/>
            <a:ext cx="18288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5000" y="4846320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88152" y="4498848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Yanlış Sınıf.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4462272"/>
            <a:ext cx="146304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43800" y="4846320"/>
            <a:ext cx="14630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16952" y="4498848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46320"/>
            <a:ext cx="210312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5230368"/>
            <a:ext cx="210312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3192" y="4882896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XGBoost 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4846320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423160" y="5230368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96312" y="4882896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7019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4846320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46120" y="5230368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19272" y="4882896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4846320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069080" y="5230368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42232" y="4882896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156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4846320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892040" y="5230368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65192" y="4882896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6417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4846320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715000" y="5230368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88152" y="4882896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336 / 13772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4846320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543800" y="5230368"/>
            <a:ext cx="14630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16952" y="4882896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0.9742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230368"/>
            <a:ext cx="210312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20040" y="5614416"/>
            <a:ext cx="210312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3192" y="5266944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Random Forest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23160" y="5230368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423160" y="5614416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96312" y="5266944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7032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46120" y="5230368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246120" y="5614416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319272" y="5266944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167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69080" y="5230368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069080" y="5614416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142232" y="5266944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92040" y="5230368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892040" y="5614416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965192" y="5266944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6384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5000" y="523036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715000" y="5614416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88152" y="5266944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356 / 13772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43800" y="5230368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543800" y="5614416"/>
            <a:ext cx="14630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616952" y="526694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0.9737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614416"/>
            <a:ext cx="210312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20040" y="5998464"/>
            <a:ext cx="210312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93192" y="5650992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KNN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23160" y="5614416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423160" y="5998464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496312" y="56509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6984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46120" y="5614416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246120" y="5998464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319272" y="56509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215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69080" y="5614416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069080" y="5998464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142232" y="56509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167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92040" y="5614416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892040" y="5998464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965192" y="56509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6406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15000" y="5614416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715000" y="5998464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788152" y="5650992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382 / 13772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43800" y="5614416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543800" y="5998464"/>
            <a:ext cx="14630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616952" y="5650992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0.9719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5998464"/>
            <a:ext cx="210312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20040" y="6382512"/>
            <a:ext cx="210312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93192" y="6035040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Logistic Reg.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423160" y="5998464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2423160" y="6382512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496312" y="6035040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6765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46120" y="5998464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3246120" y="6382512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319272" y="6035040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434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69080" y="5998464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069080" y="6382512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142232" y="6035040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276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892040" y="5998464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4892040" y="6382512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965192" y="6035040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6297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15000" y="5998464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5715000" y="6382512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788152" y="6035040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710 / 13772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43800" y="5998464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7543800" y="6382512"/>
            <a:ext cx="14630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616952" y="6035040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0.9483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20040" y="6382512"/>
            <a:ext cx="210312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20040" y="6766560"/>
            <a:ext cx="210312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93192" y="6419088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Naive Bayes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423160" y="6382512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423160" y="6766560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496312" y="6419088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6512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46120" y="6382512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46120" y="6766560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319272" y="6419088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687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069080" y="6382512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4069080" y="6766560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142232" y="6419088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447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892040" y="6382512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4892040" y="6766560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965192" y="6419088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6126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715000" y="6382512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5715000" y="6766560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788152" y="6419088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1134 / 13772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43800" y="6382512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7543800" y="6766560"/>
            <a:ext cx="14630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616952" y="6419088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0.9169</a:t>
            </a:r>
          </a:p>
        </p:txBody>
      </p:sp>
      <p:pic>
        <p:nvPicPr>
          <p:cNvPr id="138" name="Resim 137">
            <a:extLst>
              <a:ext uri="{FF2B5EF4-FFF2-40B4-BE49-F238E27FC236}">
                <a16:creationId xmlns:a16="http://schemas.microsoft.com/office/drawing/2014/main" id="{E828F82B-DE1A-BEC6-EB38-3263F397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990"/>
          <a:stretch>
            <a:fillRect/>
          </a:stretch>
        </p:blipFill>
        <p:spPr>
          <a:xfrm>
            <a:off x="0" y="1140947"/>
            <a:ext cx="9128698" cy="3026952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80DDDE14-411E-8BD8-27FE-E421E03C96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691" r="68124" b="532"/>
          <a:stretch>
            <a:fillRect/>
          </a:stretch>
        </p:blipFill>
        <p:spPr>
          <a:xfrm>
            <a:off x="9128698" y="1152143"/>
            <a:ext cx="3012578" cy="301575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F4BBB6B-9A9F-B166-AC8D-794882E805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00" t="50734" r="33879" b="933"/>
          <a:stretch>
            <a:fillRect/>
          </a:stretch>
        </p:blipFill>
        <p:spPr>
          <a:xfrm>
            <a:off x="9220138" y="4224528"/>
            <a:ext cx="2740214" cy="25805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Görev 4 — Model Değerlendirme — Metrik Tablosu  (30 Puan)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Accuracy · Precision · Recall · F1-Score  —  Train / Validation /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31" y="1078992"/>
            <a:ext cx="22860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9431" y="1463040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2583" y="1115568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5431" y="1078992"/>
            <a:ext cx="128016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85431" y="1463040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58583" y="1115568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65591" y="1078992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65591" y="146304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8743" y="111556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7191" y="1078992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37191" y="146304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10343" y="111556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8791" y="1078992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8791" y="146304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1943" y="111556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80391" y="1078992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80391" y="146304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53543" y="111556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431" y="1463040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9431" y="1847088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2583" y="1499616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XGBoost 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5431" y="1463040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85431" y="1847088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58583" y="1499616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Train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65591" y="14630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65591" y="184708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38743" y="149961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0.9758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37191" y="14630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37191" y="184708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10343" y="149961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0.9650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8791" y="14630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8791" y="184708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81943" y="149961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0.9862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80391" y="14630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80391" y="184708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53543" y="149961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0.9755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31" y="1847088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9431" y="2231136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72583" y="188366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XGBoost 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85431" y="184708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385431" y="2231136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458583" y="188366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Val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65591" y="184708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665591" y="223113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38743" y="188366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37191" y="184708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37191" y="223113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10343" y="188366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0.9639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8791" y="184708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8791" y="223113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81943" y="188366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0.9836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80391" y="184708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780391" y="223113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53543" y="188366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0.9737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431" y="2231136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9431" y="2615184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72583" y="226771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XGBoost 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85431" y="223113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385431" y="2615184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458583" y="2267712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Test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65591" y="223113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665591" y="261518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38743" y="226771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0.9742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37191" y="223113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037191" y="261518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110343" y="226771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0.9623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8791" y="223113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408791" y="261518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81943" y="226771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0.9851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80391" y="223113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780391" y="261518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853543" y="226771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0.9736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431" y="2615184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9431" y="2999232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2583" y="2651760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Random Forest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85431" y="2615184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385431" y="2999232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458583" y="265176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Train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65591" y="261518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665591" y="299923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738743" y="265176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0.9829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37191" y="261518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037191" y="299923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10343" y="265176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0.9748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8791" y="261518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408791" y="299923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81943" y="265176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0.9906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80391" y="261518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780391" y="299923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853543" y="265176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0.9826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431" y="2999232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99431" y="3383280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72583" y="3035808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Random Forest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85431" y="299923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385431" y="3383280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458583" y="3035808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Val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65591" y="299923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665591" y="338328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738743" y="303580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0.9734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37191" y="299923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037191" y="338328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110343" y="303580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0.9634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08791" y="299923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408791" y="338328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81943" y="303580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0.9827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80391" y="299923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7780391" y="338328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853543" y="303580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0.9730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9431" y="3383280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99431" y="3767328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72583" y="3419856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Random Forest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385431" y="3383280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385431" y="3767328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458583" y="3419856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Test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65591" y="338328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665591" y="376732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738743" y="341985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0.9737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037191" y="338328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5037191" y="376732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110343" y="341985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0.9621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8791" y="338328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6408791" y="376732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481943" y="341985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0.9844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780391" y="338328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780391" y="376732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853543" y="341985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0.9731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9431" y="3767328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99431" y="4151376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72583" y="380390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KNN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385431" y="376732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2385431" y="4151376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458583" y="380390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Train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665591" y="37673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665591" y="415137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38743" y="380390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0.9789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037191" y="37673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5037191" y="415137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110343" y="380390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0.9711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408791" y="37673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408791" y="415137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481943" y="380390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0.9860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780391" y="37673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7780391" y="415137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7853543" y="380390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0.9785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9431" y="4151376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99431" y="4535424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72583" y="418795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KNN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385431" y="415137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2385431" y="4535424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458583" y="4187952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Val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665591" y="415137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3665591" y="453542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738743" y="418795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0.9719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037191" y="415137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5037191" y="453542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110343" y="418795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0.9609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408791" y="415137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6408791" y="453542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481943" y="418795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0.9818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780391" y="415137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7780391" y="453542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853543" y="418795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0.9712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9431" y="4535424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9431" y="4919472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72583" y="4572000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KNN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385431" y="4535424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385431" y="4919472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2458583" y="457200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Test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665591" y="453542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3665591" y="491947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738743" y="457200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0.9719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037191" y="453542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5037191" y="491947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5110343" y="457200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0.9609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408791" y="453542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6408791" y="491947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481943" y="457200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0.9818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780391" y="453542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7780391" y="491947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7853543" y="457200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0.9712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431" y="4919472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99431" y="5303520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172583" y="4956048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Logistic Reg.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385431" y="491947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2385431" y="5303520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2458583" y="4956048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Train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665591" y="491947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3665591" y="530352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3738743" y="495604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0.9484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037191" y="491947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5037191" y="530352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5110343" y="495604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0.9481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08791" y="491947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6408791" y="530352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481943" y="495604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0.9450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780391" y="491947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7780391" y="530352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7853543" y="495604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0.9465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99431" y="5303520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99431" y="5687568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172583" y="5340096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Logistic Reg.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385431" y="5303520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2385431" y="5687568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2458583" y="5340096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Val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665591" y="530352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3665591" y="568756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3738743" y="534009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0.9499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37191" y="530352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5037191" y="568756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5110343" y="534009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0.9485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6408791" y="530352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6408791" y="568756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6481943" y="534009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0.9470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780391" y="530352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7780391" y="568756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7853543" y="534009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0.9478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9431" y="5687568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99431" y="6071616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172583" y="572414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Logistic Reg.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85431" y="568756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2385431" y="6071616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2458583" y="572414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Test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65591" y="568756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3665591" y="607161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3738743" y="572414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0.9483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037191" y="568756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5037191" y="607161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5110343" y="572414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0.9485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408791" y="568756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6408791" y="607161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6481943" y="572414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0.9443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7780391" y="568756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7780391" y="607161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7853543" y="572414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0.9464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9431" y="6071616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99431" y="6455664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172583" y="610819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Naive Bayes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385431" y="607161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2385431" y="6455664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2458583" y="6108192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Train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665591" y="607161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3665591" y="645566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3738743" y="610819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0.9133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037191" y="607161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5037191" y="645566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5110343" y="610819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0.9180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6408791" y="607161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6408791" y="645566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6481943" y="610819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0.9033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780391" y="607161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7780391" y="645566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7853543" y="610819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0.9106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99431" y="6455664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99431" y="6839712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172583" y="6492240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Naive Bayes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385431" y="6455664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2385431" y="6839712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2458583" y="649224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Val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3665591" y="645566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3665591" y="683971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3738743" y="649224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0.9122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5037191" y="645566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5037191" y="683971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5110343" y="649224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0.9153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6408791" y="645566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6408791" y="683971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481943" y="649224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0.9040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780391" y="645566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7780391" y="683971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7853543" y="649224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0.9096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320040" y="7059168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320040" y="7443216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393192" y="709574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Naive Bayes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606040" y="705916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2606040" y="7443216"/>
            <a:ext cx="12801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2679192" y="709574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Test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3886200" y="705916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3886200" y="744321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3959352" y="709574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0.9169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5257800" y="705916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5257800" y="744321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5330952" y="709574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0.9153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6629400" y="705916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6629400" y="744321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6702552" y="709574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0.9126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8001000" y="705916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8001000" y="744321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8074152" y="709574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0.9139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9511838" y="2510028"/>
            <a:ext cx="2464723" cy="298094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9925017" y="3385452"/>
            <a:ext cx="24113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★  En İyi Model:</a:t>
            </a:r>
            <a:endParaRPr lang="tr-TR" sz="2000" b="1" i="0" dirty="0">
              <a:solidFill>
                <a:srgbClr val="FFFFFF"/>
              </a:solidFill>
            </a:endParaRPr>
          </a:p>
          <a:p>
            <a:pPr algn="l"/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lang="tr-TR" sz="2000" b="1" i="0" dirty="0">
                <a:solidFill>
                  <a:srgbClr val="FFFFFF"/>
                </a:solidFill>
              </a:rPr>
              <a:t> </a:t>
            </a:r>
            <a:r>
              <a:rPr sz="2000" b="1" i="0" dirty="0" err="1">
                <a:solidFill>
                  <a:srgbClr val="FFFFFF"/>
                </a:solidFill>
              </a:rPr>
              <a:t>XGBoost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endParaRPr lang="tr-TR" sz="2000" b="1" i="0" dirty="0">
              <a:solidFill>
                <a:srgbClr val="FFFFFF"/>
              </a:solidFill>
            </a:endParaRPr>
          </a:p>
          <a:p>
            <a:pPr algn="l"/>
            <a:r>
              <a:rPr sz="2000" b="1" i="0" dirty="0">
                <a:solidFill>
                  <a:srgbClr val="FFFFFF"/>
                </a:solidFill>
              </a:rPr>
              <a:t> (F1=0.9736)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ROC Analizi — AUC Karşılaştırması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Eğitim vs Doğrulama Seti  |  Tüm 5 Model  |  Hücre 9 çıktısı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303520" cy="53035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73152" cy="5303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89888"/>
            <a:ext cx="5047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AUC Değerleri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49801"/>
            <a:ext cx="18288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2233849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886377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1849801"/>
            <a:ext cx="100584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59152" y="2233849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32304" y="1886377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Train 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1849801"/>
            <a:ext cx="100584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64992" y="2233849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38144" y="1886377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1849801"/>
            <a:ext cx="82296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70832" y="2233849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43984" y="1886377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Δ Fark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2233849"/>
            <a:ext cx="18288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0352" y="2617897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2270425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XGBoost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9152" y="2233849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59152" y="2617897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32304" y="2270425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1.0000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4992" y="2233849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64992" y="2617897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38144" y="2270425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0.9970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0832" y="2233849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70832" y="2617897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43984" y="2270425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0.0030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2617897"/>
            <a:ext cx="18288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0352" y="3001945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" y="2654473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Random Forest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9152" y="2617897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359152" y="3001945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32304" y="2654473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1.0000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2617897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364992" y="3001945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38144" y="2654473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0.9966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0832" y="2617897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70832" y="3001945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43984" y="2654473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0.0034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3001945"/>
            <a:ext cx="18288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30352" y="3385993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3504" y="3038521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KNN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59152" y="3001945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359152" y="3385993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32304" y="3038521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1.0000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64992" y="3001945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364992" y="3385993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38144" y="3038521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0.9960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70832" y="3001945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70832" y="3385993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43984" y="303852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0.0040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" y="3385993"/>
            <a:ext cx="18288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30352" y="3770041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3504" y="3422569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Logistic Reg.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59152" y="3385993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359152" y="3770041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432304" y="3422569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64992" y="3385993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364992" y="3770041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438144" y="3422569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70832" y="3385993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370832" y="3770041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43984" y="3422569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−0.002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0352" y="3770041"/>
            <a:ext cx="18288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30352" y="4154089"/>
            <a:ext cx="18288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3504" y="3806617"/>
            <a:ext cx="1682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Naive Bayes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59152" y="3770041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359152" y="4154089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32304" y="3806617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0.9600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64992" y="3770041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364992" y="4154089"/>
            <a:ext cx="100584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438144" y="3806617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0.9550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70832" y="3770041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370832" y="4154089"/>
            <a:ext cx="82296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43984" y="3806617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0.0050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" y="5543977"/>
            <a:ext cx="49743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B4332"/>
                </a:solidFill>
              </a:rPr>
              <a:t>Train ↔ Val </a:t>
            </a:r>
            <a:r>
              <a:rPr sz="1600" b="1" i="0" dirty="0" err="1">
                <a:solidFill>
                  <a:srgbClr val="1B4332"/>
                </a:solidFill>
              </a:rPr>
              <a:t>farkı</a:t>
            </a:r>
            <a:r>
              <a:rPr sz="1600" b="1" i="0" dirty="0">
                <a:solidFill>
                  <a:srgbClr val="1B4332"/>
                </a:solidFill>
              </a:rPr>
              <a:t> &lt; 0.005 → overfitting yok
</a:t>
            </a:r>
            <a:r>
              <a:rPr sz="1600" b="1" i="0" dirty="0" err="1">
                <a:solidFill>
                  <a:srgbClr val="1B4332"/>
                </a:solidFill>
              </a:rPr>
              <a:t>Tüm</a:t>
            </a:r>
            <a:r>
              <a:rPr sz="1600" b="1" i="0" dirty="0">
                <a:solidFill>
                  <a:srgbClr val="1B4332"/>
                </a:solidFill>
              </a:rPr>
              <a:t> </a:t>
            </a:r>
            <a:r>
              <a:rPr sz="1600" b="1" i="0" dirty="0" err="1">
                <a:solidFill>
                  <a:srgbClr val="1B4332"/>
                </a:solidFill>
              </a:rPr>
              <a:t>modeller</a:t>
            </a:r>
            <a:r>
              <a:rPr sz="1600" b="1" i="0" dirty="0">
                <a:solidFill>
                  <a:srgbClr val="1B4332"/>
                </a:solidFill>
              </a:rPr>
              <a:t> AUC &gt; 0.95 → </a:t>
            </a:r>
            <a:r>
              <a:rPr sz="1600" b="1" i="0" dirty="0" err="1">
                <a:solidFill>
                  <a:srgbClr val="1B4332"/>
                </a:solidFill>
              </a:rPr>
              <a:t>güçlü</a:t>
            </a:r>
            <a:r>
              <a:rPr sz="1600" b="1" i="0" dirty="0">
                <a:solidFill>
                  <a:srgbClr val="1B4332"/>
                </a:solidFill>
              </a:rPr>
              <a:t> </a:t>
            </a:r>
            <a:r>
              <a:rPr sz="1600" b="1" i="0" dirty="0" err="1">
                <a:solidFill>
                  <a:srgbClr val="1B4332"/>
                </a:solidFill>
              </a:rPr>
              <a:t>sınıflandırma</a:t>
            </a:r>
            <a:endParaRPr sz="1600" b="1" i="0" dirty="0">
              <a:solidFill>
                <a:srgbClr val="1B4332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57200" y="4325112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58368" y="4206240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</a:rPr>
              <a:t>AUC = 1.00 eğitimde → mükemmel ayırım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474573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67513" y="4626864"/>
            <a:ext cx="32111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212529"/>
                </a:solidFill>
              </a:rPr>
              <a:t>XGBoost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en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yüksek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val</a:t>
            </a:r>
            <a:r>
              <a:rPr sz="1500" b="0" i="0" dirty="0">
                <a:solidFill>
                  <a:srgbClr val="212529"/>
                </a:solidFill>
              </a:rPr>
              <a:t> AUC = 0.9970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166360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58368" y="5047488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</a:rPr>
              <a:t>Naive Bayes en düşük → baseline olarak uygun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66944" y="1737360"/>
            <a:ext cx="6601968" cy="4379976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989193" y="1737360"/>
            <a:ext cx="58795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025896" y="6144768"/>
            <a:ext cx="58795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4" name="Resim 93">
            <a:extLst>
              <a:ext uri="{FF2B5EF4-FFF2-40B4-BE49-F238E27FC236}">
                <a16:creationId xmlns:a16="http://schemas.microsoft.com/office/drawing/2014/main" id="{73653D1D-AA50-ADAC-3684-F07B74F0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1849801"/>
            <a:ext cx="6727726" cy="4167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Precision-Recall &amp; Recall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Sınıf Bazında  |  Train vs Validation  |  Hücre 9 çıktısı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88" y="1463040"/>
            <a:ext cx="5878776" cy="4681728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394960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04548" y="4535424"/>
            <a:ext cx="5394960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04548" y="4892040"/>
            <a:ext cx="5394960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04548" y="6391656"/>
            <a:ext cx="5394960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3108" y="4983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DB5BD"/>
                </a:solidFill>
              </a:rPr>
              <a:t>[ GÖRSEL ALANI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0268" y="5394960"/>
            <a:ext cx="53035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95057"/>
                </a:solidFill>
              </a:rPr>
              <a:t>Hücre 9 çıktısı — Recall karşılaştırma bar grafiği
(Train vs Validation her model için yan yana)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12179" y="1285452"/>
            <a:ext cx="5856605" cy="258246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20739" y="1312884"/>
            <a:ext cx="90040" cy="25824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71616" y="1228245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B4332"/>
                </a:solidFill>
              </a:rPr>
              <a:t>Average Precision (AP) </a:t>
            </a:r>
            <a:r>
              <a:rPr sz="1700" b="1" i="0" dirty="0" err="1">
                <a:solidFill>
                  <a:srgbClr val="1B4332"/>
                </a:solidFill>
              </a:rPr>
              <a:t>Tablosu</a:t>
            </a:r>
            <a:endParaRPr sz="1700" b="1" i="0" dirty="0">
              <a:solidFill>
                <a:srgbClr val="1B433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04548" y="1543713"/>
            <a:ext cx="201168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04548" y="1927761"/>
            <a:ext cx="20116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5988" y="1598577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16228" y="1543713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16228" y="1927761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9380" y="1580289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Train 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87828" y="1543713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87828" y="1927761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60980" y="1580289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 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4548" y="1927761"/>
            <a:ext cx="201168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04548" y="2311809"/>
            <a:ext cx="20116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77700" y="1964337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XGBoost 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6228" y="1927761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16228" y="2311809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89380" y="1964337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1.0000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7828" y="1927761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87828" y="2311809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60980" y="1964337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0.9968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4548" y="2311809"/>
            <a:ext cx="201168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04548" y="2695857"/>
            <a:ext cx="20116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77700" y="2348385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Random Forest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16228" y="2311809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16228" y="2695857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89380" y="2348385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1.0000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87828" y="2311809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587828" y="2695857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60980" y="2348385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0.9962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04548" y="2695857"/>
            <a:ext cx="201168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04548" y="3079905"/>
            <a:ext cx="20116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77700" y="2732433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KNN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6228" y="2695857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16228" y="3079905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89380" y="2732433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0.9900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87828" y="2695857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587828" y="3079905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60980" y="2732433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0.9946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04548" y="3079905"/>
            <a:ext cx="201168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204548" y="3463953"/>
            <a:ext cx="20116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77700" y="3116481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Logistic Reg.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16228" y="3079905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16228" y="3463953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89380" y="3116481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0.9800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87828" y="3079905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587828" y="3463953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660980" y="3116481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0.9781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04548" y="3463953"/>
            <a:ext cx="201168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204548" y="3848001"/>
            <a:ext cx="201168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77700" y="3500529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Naive Bayes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16228" y="3463953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216228" y="3848001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89380" y="3500529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0.9400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87828" y="3463953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587828" y="3848001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660980" y="3500529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0.9302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71616" y="4086533"/>
            <a:ext cx="5833872" cy="271576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975604" y="4052168"/>
            <a:ext cx="73152" cy="271576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199632" y="40050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Recall Neden Önemli?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50268" y="4416552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82280" y="4292993"/>
            <a:ext cx="48981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12529"/>
                </a:solidFill>
              </a:rPr>
              <a:t>Recall = TP / (TP + FN)  →  </a:t>
            </a:r>
            <a:r>
              <a:rPr sz="1500" b="0" i="0" dirty="0" err="1">
                <a:solidFill>
                  <a:srgbClr val="212529"/>
                </a:solidFill>
              </a:rPr>
              <a:t>gerçek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pozitifleri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yakalama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oranı</a:t>
            </a:r>
            <a:endParaRPr sz="1500" b="0" i="0" dirty="0">
              <a:solidFill>
                <a:srgbClr val="212529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250268" y="483717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88116" y="4698345"/>
            <a:ext cx="537667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12529"/>
                </a:solidFill>
              </a:rPr>
              <a:t>Enerji </a:t>
            </a:r>
            <a:r>
              <a:rPr sz="1500" b="0" i="0" dirty="0" err="1">
                <a:solidFill>
                  <a:srgbClr val="212529"/>
                </a:solidFill>
              </a:rPr>
              <a:t>sistemlerinde</a:t>
            </a:r>
            <a:r>
              <a:rPr sz="1500" b="0" i="0" dirty="0">
                <a:solidFill>
                  <a:srgbClr val="212529"/>
                </a:solidFill>
              </a:rPr>
              <a:t> '</a:t>
            </a:r>
            <a:r>
              <a:rPr sz="1500" b="0" i="0" dirty="0" err="1">
                <a:solidFill>
                  <a:srgbClr val="212529"/>
                </a:solidFill>
              </a:rPr>
              <a:t>yüksek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üretim</a:t>
            </a:r>
            <a:r>
              <a:rPr sz="1500" b="0" i="0" dirty="0">
                <a:solidFill>
                  <a:srgbClr val="212529"/>
                </a:solidFill>
              </a:rPr>
              <a:t>' </a:t>
            </a:r>
            <a:r>
              <a:rPr sz="1500" b="0" i="0" dirty="0" err="1">
                <a:solidFill>
                  <a:srgbClr val="212529"/>
                </a:solidFill>
              </a:rPr>
              <a:t>anlarını</a:t>
            </a:r>
            <a:r>
              <a:rPr sz="1500" b="0" i="0" dirty="0">
                <a:solidFill>
                  <a:srgbClr val="212529"/>
                </a:solidFill>
              </a:rPr>
              <a:t> KAÇIRMAMAK </a:t>
            </a:r>
            <a:r>
              <a:rPr sz="1500" b="0" i="0" dirty="0" err="1">
                <a:solidFill>
                  <a:srgbClr val="212529"/>
                </a:solidFill>
              </a:rPr>
              <a:t>kritik</a:t>
            </a:r>
            <a:endParaRPr sz="1500" b="0" i="0" dirty="0">
              <a:solidFill>
                <a:srgbClr val="212529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50268" y="5257800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68452" y="5142489"/>
            <a:ext cx="55919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212529"/>
                </a:solidFill>
              </a:rPr>
              <a:t>XGBoost</a:t>
            </a:r>
            <a:r>
              <a:rPr sz="1500" b="0" i="0" dirty="0">
                <a:solidFill>
                  <a:srgbClr val="212529"/>
                </a:solidFill>
              </a:rPr>
              <a:t> Recall = 0.9851 → 13.772 test </a:t>
            </a:r>
            <a:r>
              <a:rPr sz="1500" b="0" i="0" dirty="0" err="1">
                <a:solidFill>
                  <a:srgbClr val="212529"/>
                </a:solidFill>
              </a:rPr>
              <a:t>kaydında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sadece</a:t>
            </a:r>
            <a:r>
              <a:rPr sz="1500" b="0" i="0" dirty="0">
                <a:solidFill>
                  <a:srgbClr val="212529"/>
                </a:solidFill>
              </a:rPr>
              <a:t> 156 </a:t>
            </a:r>
            <a:r>
              <a:rPr sz="1500" b="0" i="0" dirty="0" err="1">
                <a:solidFill>
                  <a:srgbClr val="212529"/>
                </a:solidFill>
              </a:rPr>
              <a:t>kaçırıldı</a:t>
            </a:r>
            <a:endParaRPr sz="1500" b="0" i="0" dirty="0">
              <a:solidFill>
                <a:srgbClr val="212529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6250268" y="5678424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343576" y="5594576"/>
            <a:ext cx="49755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212529"/>
                </a:solidFill>
              </a:rPr>
              <a:t>Tüm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modeller</a:t>
            </a:r>
            <a:r>
              <a:rPr sz="1500" b="0" i="0" dirty="0">
                <a:solidFill>
                  <a:srgbClr val="212529"/>
                </a:solidFill>
              </a:rPr>
              <a:t> Recall &gt; 0.90  →  </a:t>
            </a:r>
            <a:r>
              <a:rPr sz="1500" b="0" i="0" dirty="0" err="1">
                <a:solidFill>
                  <a:srgbClr val="212529"/>
                </a:solidFill>
              </a:rPr>
              <a:t>güçlü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gerçek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pozitif</a:t>
            </a:r>
            <a:r>
              <a:rPr sz="1500" b="0" i="0" dirty="0">
                <a:solidFill>
                  <a:srgbClr val="212529"/>
                </a:solidFill>
              </a:rPr>
              <a:t> </a:t>
            </a:r>
            <a:r>
              <a:rPr sz="1500" b="0" i="0" dirty="0" err="1">
                <a:solidFill>
                  <a:srgbClr val="212529"/>
                </a:solidFill>
              </a:rPr>
              <a:t>tespiti</a:t>
            </a:r>
            <a:endParaRPr sz="1500" b="0" i="0" dirty="0">
              <a:solidFill>
                <a:srgbClr val="212529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50268" y="6099048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382280" y="5944583"/>
            <a:ext cx="499191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12529"/>
                </a:solidFill>
              </a:rPr>
              <a:t>Precision-Recall trade-off: </a:t>
            </a:r>
            <a:r>
              <a:rPr sz="1500" b="0" i="0" dirty="0" err="1">
                <a:solidFill>
                  <a:srgbClr val="212529"/>
                </a:solidFill>
              </a:rPr>
              <a:t>yüksek</a:t>
            </a:r>
            <a:r>
              <a:rPr sz="1500" b="0" i="0" dirty="0">
                <a:solidFill>
                  <a:srgbClr val="212529"/>
                </a:solidFill>
              </a:rPr>
              <a:t> Recall </a:t>
            </a:r>
            <a:r>
              <a:rPr sz="1500" b="0" i="0" dirty="0" err="1">
                <a:solidFill>
                  <a:srgbClr val="212529"/>
                </a:solidFill>
              </a:rPr>
              <a:t>için</a:t>
            </a:r>
            <a:r>
              <a:rPr sz="1500" b="0" i="0" dirty="0">
                <a:solidFill>
                  <a:srgbClr val="212529"/>
                </a:solidFill>
              </a:rPr>
              <a:t> FP </a:t>
            </a:r>
            <a:r>
              <a:rPr sz="1500" b="0" i="0" dirty="0" err="1">
                <a:solidFill>
                  <a:srgbClr val="212529"/>
                </a:solidFill>
              </a:rPr>
              <a:t>artabilir</a:t>
            </a:r>
            <a:endParaRPr sz="1500" b="0" i="0" dirty="0">
              <a:solidFill>
                <a:srgbClr val="212529"/>
              </a:solidFill>
            </a:endParaRPr>
          </a:p>
        </p:txBody>
      </p:sp>
      <p:pic>
        <p:nvPicPr>
          <p:cNvPr id="93" name="Resim 92">
            <a:extLst>
              <a:ext uri="{FF2B5EF4-FFF2-40B4-BE49-F238E27FC236}">
                <a16:creationId xmlns:a16="http://schemas.microsoft.com/office/drawing/2014/main" id="{CB82D14A-7A85-206C-9F35-5167EB26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76" y="2248226"/>
            <a:ext cx="5671847" cy="35136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Özellik Önemi &amp; SHAP — Kara Kutu Açıklanabilirlik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Random Forest + XGBoost Feature Importance  |  SHAP TreeExplainer  |  Hücre 9 &amp;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79576"/>
            <a:ext cx="5577840" cy="2240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73152" cy="22402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5" y="1143000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B4332"/>
                </a:solidFill>
              </a:rPr>
              <a:t>Feature Importance </a:t>
            </a:r>
            <a:r>
              <a:rPr sz="1700" b="1" i="0" dirty="0" err="1">
                <a:solidFill>
                  <a:srgbClr val="1B4332"/>
                </a:solidFill>
              </a:rPr>
              <a:t>Karşılaştırması</a:t>
            </a:r>
            <a:endParaRPr sz="1700" b="1" i="0" dirty="0">
              <a:solidFill>
                <a:srgbClr val="1B433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192" y="1473659"/>
            <a:ext cx="22860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" y="1864294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8993" y="149853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</a:rPr>
              <a:t>Özellik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79192" y="1473659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79192" y="186429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52344" y="151682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RF Önemi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0792" y="1473659"/>
            <a:ext cx="1371600" cy="38404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50792" y="1864294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23944" y="1516822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XGB Önemi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1864294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3192" y="2248342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" y="1900870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IRRADIATION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9192" y="186429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79192" y="224834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52344" y="190087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0.6176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50792" y="186429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50792" y="2248342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23944" y="1900870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0.5980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" y="2248342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93192" y="2632390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" y="2284918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MODULE_TEMP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9192" y="224834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79192" y="263239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2344" y="228491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0.2200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50792" y="224834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50792" y="263239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23944" y="228491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0.2350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" y="2632390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93192" y="3016438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6344" y="2668966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AMBIENT_TEMP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79192" y="263239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79192" y="301643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52344" y="266896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0.0950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50792" y="263239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050792" y="3016438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23944" y="2668966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0.1050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" y="3016438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93192" y="3400486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6344" y="305301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DAILY_YIELD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79192" y="301643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679192" y="340048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52344" y="305301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0.0480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50792" y="301643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050792" y="3400486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23944" y="3053014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0.0390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822192"/>
            <a:ext cx="228600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0040" y="4206240"/>
            <a:ext cx="22860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3192" y="3858768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4332"/>
                </a:solidFill>
              </a:rPr>
              <a:t>TOTAL_YIELD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40" y="382219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606040" y="420624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79192" y="385876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0.0194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77640" y="382219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977640" y="4206240"/>
            <a:ext cx="1371600" cy="13716"/>
          </a:xfrm>
          <a:prstGeom prst="rect">
            <a:avLst/>
          </a:prstGeom>
          <a:solidFill>
            <a:srgbClr val="C3E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50792" y="3858768"/>
            <a:ext cx="12252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529"/>
                </a:solidFill>
              </a:rPr>
              <a:t>0.0230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703320"/>
            <a:ext cx="73152" cy="289864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19913" y="3734242"/>
            <a:ext cx="5577840" cy="28986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0332" y="3824478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B4332"/>
                </a:solidFill>
              </a:rPr>
              <a:t>SHAP Mean |Value| — </a:t>
            </a:r>
            <a:r>
              <a:rPr sz="1700" b="1" i="0" dirty="0" err="1">
                <a:solidFill>
                  <a:srgbClr val="1B4332"/>
                </a:solidFill>
              </a:rPr>
              <a:t>XGBoost</a:t>
            </a:r>
            <a:endParaRPr sz="1700" b="1" i="0" dirty="0">
              <a:solidFill>
                <a:srgbClr val="1B4332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84632" y="4251960"/>
            <a:ext cx="1280160" cy="34747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30352" y="42885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IRRADIATION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19072" y="4285995"/>
            <a:ext cx="1453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0916C"/>
                </a:solidFill>
              </a:rPr>
              <a:t>SHAP = 6.1861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07792" y="429833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495057"/>
                </a:solidFill>
              </a:rPr>
              <a:t>En </a:t>
            </a:r>
            <a:r>
              <a:rPr sz="1300" b="0" i="0" dirty="0" err="1">
                <a:solidFill>
                  <a:srgbClr val="495057"/>
                </a:solidFill>
              </a:rPr>
              <a:t>kritik</a:t>
            </a:r>
            <a:r>
              <a:rPr sz="1300" b="0" i="0" dirty="0">
                <a:solidFill>
                  <a:srgbClr val="495057"/>
                </a:solidFill>
              </a:rPr>
              <a:t> </a:t>
            </a:r>
            <a:r>
              <a:rPr sz="1300" b="0" i="0" dirty="0" err="1">
                <a:solidFill>
                  <a:srgbClr val="495057"/>
                </a:solidFill>
              </a:rPr>
              <a:t>özellik</a:t>
            </a:r>
            <a:r>
              <a:rPr sz="1300" b="0" i="0" dirty="0">
                <a:solidFill>
                  <a:srgbClr val="495057"/>
                </a:solidFill>
              </a:rPr>
              <a:t> — </a:t>
            </a:r>
            <a:r>
              <a:rPr sz="1300" b="0" i="0" dirty="0" err="1">
                <a:solidFill>
                  <a:srgbClr val="495057"/>
                </a:solidFill>
              </a:rPr>
              <a:t>tahminlere</a:t>
            </a:r>
            <a:r>
              <a:rPr sz="1300" b="0" i="0" dirty="0">
                <a:solidFill>
                  <a:srgbClr val="495057"/>
                </a:solidFill>
              </a:rPr>
              <a:t> </a:t>
            </a:r>
            <a:r>
              <a:rPr sz="1300" b="0" i="0" dirty="0" err="1">
                <a:solidFill>
                  <a:srgbClr val="495057"/>
                </a:solidFill>
              </a:rPr>
              <a:t>katkısı</a:t>
            </a:r>
            <a:r>
              <a:rPr sz="1300" b="0" i="0" dirty="0">
                <a:solidFill>
                  <a:srgbClr val="495057"/>
                </a:solidFill>
              </a:rPr>
              <a:t> </a:t>
            </a:r>
            <a:r>
              <a:rPr sz="1300" b="0" i="0" dirty="0" err="1">
                <a:solidFill>
                  <a:srgbClr val="495057"/>
                </a:solidFill>
              </a:rPr>
              <a:t>baskın</a:t>
            </a:r>
            <a:endParaRPr sz="1300" b="0" i="0" dirty="0">
              <a:solidFill>
                <a:srgbClr val="495057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84632" y="4937760"/>
            <a:ext cx="1280160" cy="347472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30352" y="4974336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MODULE_TEMP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64792" y="4946470"/>
            <a:ext cx="1576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337AB4"/>
                </a:solidFill>
              </a:rPr>
              <a:t>SHAP = 1.0601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07792" y="4974336"/>
            <a:ext cx="248608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495057"/>
                </a:solidFill>
              </a:rPr>
              <a:t>Panel </a:t>
            </a:r>
            <a:r>
              <a:rPr sz="1300" b="0" i="0" dirty="0" err="1">
                <a:solidFill>
                  <a:srgbClr val="495057"/>
                </a:solidFill>
              </a:rPr>
              <a:t>sıcaklığı</a:t>
            </a:r>
            <a:r>
              <a:rPr sz="1300" b="0" i="0" dirty="0">
                <a:solidFill>
                  <a:srgbClr val="495057"/>
                </a:solidFill>
              </a:rPr>
              <a:t> </a:t>
            </a:r>
            <a:r>
              <a:rPr sz="1300" b="0" i="0" dirty="0" err="1">
                <a:solidFill>
                  <a:srgbClr val="495057"/>
                </a:solidFill>
              </a:rPr>
              <a:t>orta</a:t>
            </a:r>
            <a:r>
              <a:rPr sz="1300" b="0" i="0" dirty="0">
                <a:solidFill>
                  <a:srgbClr val="495057"/>
                </a:solidFill>
              </a:rPr>
              <a:t> </a:t>
            </a:r>
            <a:r>
              <a:rPr sz="1300" b="0" i="0" dirty="0" err="1">
                <a:solidFill>
                  <a:srgbClr val="495057"/>
                </a:solidFill>
              </a:rPr>
              <a:t>düzeyde</a:t>
            </a:r>
            <a:r>
              <a:rPr sz="1300" b="0" i="0" dirty="0">
                <a:solidFill>
                  <a:srgbClr val="495057"/>
                </a:solidFill>
              </a:rPr>
              <a:t> </a:t>
            </a:r>
            <a:r>
              <a:rPr sz="1300" b="0" i="0" dirty="0" err="1">
                <a:solidFill>
                  <a:srgbClr val="495057"/>
                </a:solidFill>
              </a:rPr>
              <a:t>etkili</a:t>
            </a:r>
            <a:endParaRPr sz="1300" b="0" i="0" dirty="0">
              <a:solidFill>
                <a:srgbClr val="495057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84632" y="5623560"/>
            <a:ext cx="128016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0352" y="5660137"/>
            <a:ext cx="134416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AMBIENT_TEMP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46504" y="5609304"/>
            <a:ext cx="13898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5A623"/>
                </a:solidFill>
              </a:rPr>
              <a:t>SHAP = 0.5484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07792" y="546412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495057"/>
                </a:solidFill>
              </a:rPr>
              <a:t>Ortam </a:t>
            </a:r>
            <a:r>
              <a:rPr sz="1300" b="0" i="0" dirty="0" err="1">
                <a:solidFill>
                  <a:srgbClr val="495057"/>
                </a:solidFill>
              </a:rPr>
              <a:t>sıcaklığı</a:t>
            </a:r>
            <a:r>
              <a:rPr sz="1300" b="0" i="0" dirty="0">
                <a:solidFill>
                  <a:srgbClr val="495057"/>
                </a:solidFill>
              </a:rPr>
              <a:t> </a:t>
            </a:r>
            <a:r>
              <a:rPr sz="1300" b="0" i="0" dirty="0" err="1">
                <a:solidFill>
                  <a:srgbClr val="495057"/>
                </a:solidFill>
              </a:rPr>
              <a:t>görece</a:t>
            </a:r>
            <a:r>
              <a:rPr sz="1300" b="0" i="0" dirty="0">
                <a:solidFill>
                  <a:srgbClr val="495057"/>
                </a:solidFill>
              </a:rPr>
              <a:t> </a:t>
            </a:r>
            <a:r>
              <a:rPr sz="1300" b="0" i="0" dirty="0" err="1">
                <a:solidFill>
                  <a:srgbClr val="495057"/>
                </a:solidFill>
              </a:rPr>
              <a:t>daha</a:t>
            </a:r>
            <a:r>
              <a:rPr sz="1300" b="0" i="0" dirty="0">
                <a:solidFill>
                  <a:srgbClr val="495057"/>
                </a:solidFill>
              </a:rPr>
              <a:t> </a:t>
            </a:r>
            <a:r>
              <a:rPr sz="1300" b="0" i="0" dirty="0" err="1">
                <a:solidFill>
                  <a:srgbClr val="495057"/>
                </a:solidFill>
              </a:rPr>
              <a:t>düşük</a:t>
            </a:r>
            <a:r>
              <a:rPr sz="1300" b="0" i="0" dirty="0">
                <a:solidFill>
                  <a:srgbClr val="495057"/>
                </a:solidFill>
              </a:rPr>
              <a:t> ama </a:t>
            </a:r>
            <a:r>
              <a:rPr sz="1300" b="0" i="0" dirty="0" err="1">
                <a:solidFill>
                  <a:srgbClr val="495057"/>
                </a:solidFill>
              </a:rPr>
              <a:t>anlamlı</a:t>
            </a:r>
            <a:endParaRPr sz="1300" b="0" i="0" dirty="0">
              <a:solidFill>
                <a:srgbClr val="495057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035040" y="1298448"/>
            <a:ext cx="5833872" cy="2560320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126480" y="1389888"/>
            <a:ext cx="5650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126480" y="3730752"/>
            <a:ext cx="5650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035040" y="3977639"/>
            <a:ext cx="5833872" cy="2624328"/>
          </a:xfrm>
          <a:prstGeom prst="rect">
            <a:avLst/>
          </a:prstGeom>
          <a:solidFill>
            <a:srgbClr val="E9ECEF"/>
          </a:solidFill>
          <a:ln w="1905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126480" y="4069079"/>
            <a:ext cx="5650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126480" y="6473951"/>
            <a:ext cx="5650992" cy="36576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Resim 88">
            <a:extLst>
              <a:ext uri="{FF2B5EF4-FFF2-40B4-BE49-F238E27FC236}">
                <a16:creationId xmlns:a16="http://schemas.microsoft.com/office/drawing/2014/main" id="{435223FE-E9A3-C7F5-6E17-234B3F78E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65" y="1533650"/>
            <a:ext cx="5020021" cy="2089916"/>
          </a:xfrm>
          <a:prstGeom prst="rect">
            <a:avLst/>
          </a:prstGeom>
        </p:spPr>
      </p:pic>
      <p:pic>
        <p:nvPicPr>
          <p:cNvPr id="96" name="Resim 95">
            <a:extLst>
              <a:ext uri="{FF2B5EF4-FFF2-40B4-BE49-F238E27FC236}">
                <a16:creationId xmlns:a16="http://schemas.microsoft.com/office/drawing/2014/main" id="{42CA704F-1AE3-BF50-5303-D70EA053AD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07"/>
          <a:stretch>
            <a:fillRect/>
          </a:stretch>
        </p:blipFill>
        <p:spPr>
          <a:xfrm>
            <a:off x="6094412" y="4422252"/>
            <a:ext cx="1556391" cy="1663989"/>
          </a:xfrm>
          <a:prstGeom prst="rect">
            <a:avLst/>
          </a:prstGeom>
        </p:spPr>
      </p:pic>
      <p:pic>
        <p:nvPicPr>
          <p:cNvPr id="90" name="Resim 89">
            <a:extLst>
              <a:ext uri="{FF2B5EF4-FFF2-40B4-BE49-F238E27FC236}">
                <a16:creationId xmlns:a16="http://schemas.microsoft.com/office/drawing/2014/main" id="{94068D2C-3563-1518-4BD2-7EA64EA604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399"/>
          <a:stretch>
            <a:fillRect/>
          </a:stretch>
        </p:blipFill>
        <p:spPr>
          <a:xfrm>
            <a:off x="7629831" y="4131780"/>
            <a:ext cx="4188661" cy="2183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Canlıya Alma — Streamlit Uygulaması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app.py  |  best_model.pkl + scaler.pkl + selected_features.pkl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39" y="1298448"/>
            <a:ext cx="10387289" cy="463040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73152" cy="5303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389888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Uygulama Bileşenleri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874519"/>
            <a:ext cx="1325880" cy="34747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1911095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Girdi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7" y="1792223"/>
            <a:ext cx="47963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12529"/>
                </a:solidFill>
              </a:rPr>
              <a:t>3 </a:t>
            </a:r>
            <a:r>
              <a:rPr sz="1400" b="0" i="0" dirty="0" err="1">
                <a:solidFill>
                  <a:srgbClr val="212529"/>
                </a:solidFill>
              </a:rPr>
              <a:t>sensör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değeri</a:t>
            </a:r>
            <a:r>
              <a:rPr sz="1400" b="0" i="0" dirty="0">
                <a:solidFill>
                  <a:srgbClr val="212529"/>
                </a:solidFill>
              </a:rPr>
              <a:t>: Irradiation, </a:t>
            </a:r>
            <a:r>
              <a:rPr sz="1400" b="0" i="0" dirty="0" err="1">
                <a:solidFill>
                  <a:srgbClr val="212529"/>
                </a:solidFill>
              </a:rPr>
              <a:t>Modül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Sıcaklığı</a:t>
            </a:r>
            <a:r>
              <a:rPr sz="1400" b="0" i="0" dirty="0">
                <a:solidFill>
                  <a:srgbClr val="212529"/>
                </a:solidFill>
              </a:rPr>
              <a:t>, </a:t>
            </a:r>
            <a:r>
              <a:rPr sz="1400" b="0" i="0" dirty="0" err="1">
                <a:solidFill>
                  <a:srgbClr val="212529"/>
                </a:solidFill>
              </a:rPr>
              <a:t>Ortam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Sıcaklığı</a:t>
            </a:r>
            <a:endParaRPr sz="1400" b="0" i="0" dirty="0">
              <a:solidFill>
                <a:srgbClr val="212529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20240" y="2350007"/>
            <a:ext cx="1325880" cy="347472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2386583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386583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212529"/>
                </a:solidFill>
              </a:rPr>
              <a:t>best_model.pkl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yüklenerek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XGBoost</a:t>
            </a:r>
            <a:r>
              <a:rPr sz="1400" b="0" i="0" dirty="0">
                <a:solidFill>
                  <a:srgbClr val="212529"/>
                </a:solidFill>
              </a:rPr>
              <a:t> inference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825495"/>
            <a:ext cx="13258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0" y="2862071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7" y="2862071"/>
            <a:ext cx="55129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212529"/>
                </a:solidFill>
              </a:rPr>
              <a:t>scaler.pkl</a:t>
            </a:r>
            <a:r>
              <a:rPr sz="1400" b="0" i="0" dirty="0">
                <a:solidFill>
                  <a:srgbClr val="212529"/>
                </a:solidFill>
              </a:rPr>
              <a:t> — </a:t>
            </a:r>
            <a:r>
              <a:rPr sz="1400" b="0" i="0" dirty="0" err="1">
                <a:solidFill>
                  <a:srgbClr val="212529"/>
                </a:solidFill>
              </a:rPr>
              <a:t>girdi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değerleri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otomatik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MinMax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ölçekleme</a:t>
            </a:r>
            <a:endParaRPr sz="1400" b="0" i="0" dirty="0">
              <a:solidFill>
                <a:srgbClr val="212529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20240" y="3300983"/>
            <a:ext cx="1325880" cy="34747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0" y="33375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Tahmin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3337559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212529"/>
                </a:solidFill>
              </a:rPr>
              <a:t>Düşük</a:t>
            </a:r>
            <a:r>
              <a:rPr sz="1400" b="0" i="0" dirty="0">
                <a:solidFill>
                  <a:srgbClr val="212529"/>
                </a:solidFill>
              </a:rPr>
              <a:t> / Yüksek </a:t>
            </a:r>
            <a:r>
              <a:rPr sz="1400" b="0" i="0" dirty="0" err="1">
                <a:solidFill>
                  <a:srgbClr val="212529"/>
                </a:solidFill>
              </a:rPr>
              <a:t>güç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üretimi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sınıflandırması</a:t>
            </a:r>
            <a:endParaRPr sz="1400" b="0" i="0" dirty="0">
              <a:solidFill>
                <a:srgbClr val="212529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20240" y="3776471"/>
            <a:ext cx="1325880" cy="347472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65960" y="3813047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Olasılık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3813047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529"/>
                </a:solidFill>
              </a:rPr>
              <a:t>İki sınıf olasılığı — st.progress() ile progress bar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4251959"/>
            <a:ext cx="13258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0" y="4288535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Grafikler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4288535"/>
            <a:ext cx="5011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212529"/>
                </a:solidFill>
              </a:rPr>
              <a:t>Tüm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analiz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görselleri</a:t>
            </a:r>
            <a:r>
              <a:rPr sz="1400" b="0" i="0" dirty="0">
                <a:solidFill>
                  <a:srgbClr val="212529"/>
                </a:solidFill>
              </a:rPr>
              <a:t> (EDA, </a:t>
            </a:r>
            <a:r>
              <a:rPr sz="1400" b="0" i="0" dirty="0" err="1">
                <a:solidFill>
                  <a:srgbClr val="212529"/>
                </a:solidFill>
              </a:rPr>
              <a:t>özellik</a:t>
            </a:r>
            <a:r>
              <a:rPr sz="1400" b="0" i="0" dirty="0">
                <a:solidFill>
                  <a:srgbClr val="212529"/>
                </a:solidFill>
              </a:rPr>
              <a:t>, SHAP) </a:t>
            </a:r>
            <a:r>
              <a:rPr sz="1400" b="0" i="0" dirty="0" err="1">
                <a:solidFill>
                  <a:srgbClr val="212529"/>
                </a:solidFill>
              </a:rPr>
              <a:t>sekmede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görüntülenir</a:t>
            </a:r>
            <a:endParaRPr sz="1400" b="0" i="0" dirty="0">
              <a:solidFill>
                <a:srgbClr val="212529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920240" y="4727447"/>
            <a:ext cx="1325880" cy="34747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65960" y="4727447"/>
            <a:ext cx="1325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Lokal Çalıştırma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599431"/>
            <a:ext cx="4723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12529"/>
                </a:solidFill>
              </a:rPr>
              <a:t>python -m </a:t>
            </a:r>
            <a:r>
              <a:rPr sz="1400" b="0" i="0" dirty="0" err="1">
                <a:solidFill>
                  <a:srgbClr val="212529"/>
                </a:solidFill>
              </a:rPr>
              <a:t>streamlit</a:t>
            </a:r>
            <a:r>
              <a:rPr sz="1400" b="0" i="0" dirty="0">
                <a:solidFill>
                  <a:srgbClr val="212529"/>
                </a:solidFill>
              </a:rPr>
              <a:t> run app.py  →  http://localhost:8501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5202935"/>
            <a:ext cx="1325880" cy="347472"/>
          </a:xfrm>
          <a:prstGeom prst="rect">
            <a:avLst/>
          </a:prstGeom>
          <a:solidFill>
            <a:srgbClr val="33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65960" y="5239511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Colab Erişim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5848" y="5239511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212529"/>
                </a:solidFill>
              </a:rPr>
              <a:t>ngrok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ile</a:t>
            </a:r>
            <a:r>
              <a:rPr sz="1400" b="0" i="0" dirty="0">
                <a:solidFill>
                  <a:srgbClr val="212529"/>
                </a:solidFill>
              </a:rPr>
              <a:t> public URL — campus </a:t>
            </a:r>
            <a:r>
              <a:rPr sz="1400" b="0" i="0" dirty="0" err="1">
                <a:solidFill>
                  <a:srgbClr val="212529"/>
                </a:solidFill>
              </a:rPr>
              <a:t>dışından</a:t>
            </a:r>
            <a:r>
              <a:rPr sz="1400" b="0" i="0" dirty="0">
                <a:solidFill>
                  <a:srgbClr val="212529"/>
                </a:solidFill>
              </a:rPr>
              <a:t> </a:t>
            </a:r>
            <a:r>
              <a:rPr sz="1400" b="0" i="0" dirty="0" err="1">
                <a:solidFill>
                  <a:srgbClr val="212529"/>
                </a:solidFill>
              </a:rPr>
              <a:t>erişim</a:t>
            </a:r>
            <a:endParaRPr sz="1400" b="0" i="0" dirty="0">
              <a:solidFill>
                <a:srgbClr val="21252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3770770-0139-E343-719F-3491FF5DC3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80"/>
          <a:stretch>
            <a:fillRect/>
          </a:stretch>
        </p:blipFill>
        <p:spPr>
          <a:xfrm>
            <a:off x="879792" y="1187102"/>
            <a:ext cx="4278947" cy="5587084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98200DF5-C874-C448-F0C5-4C03ADB7E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49" y="1187102"/>
            <a:ext cx="4382484" cy="554255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8F48BE6-4F6E-CF59-9E2B-8A09A59F9282}"/>
              </a:ext>
            </a:extLst>
          </p:cNvPr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594FE22-0E80-E0D7-B19A-0933284375B7}"/>
              </a:ext>
            </a:extLst>
          </p:cNvPr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B423E3E-EEBF-FCEB-B600-E0B0A38104EE}"/>
              </a:ext>
            </a:extLst>
          </p:cNvPr>
          <p:cNvSpPr txBox="1"/>
          <p:nvPr/>
        </p:nvSpPr>
        <p:spPr>
          <a:xfrm>
            <a:off x="256032" y="73152"/>
            <a:ext cx="11704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</a:rPr>
              <a:t>Streamlit</a:t>
            </a:r>
            <a:r>
              <a:rPr sz="3000" b="1" i="0" dirty="0">
                <a:solidFill>
                  <a:srgbClr val="FFFFFF"/>
                </a:solidFill>
              </a:rPr>
              <a:t> </a:t>
            </a:r>
            <a:r>
              <a:rPr sz="3000" b="1" i="0" dirty="0" err="1">
                <a:solidFill>
                  <a:srgbClr val="FFFFFF"/>
                </a:solidFill>
              </a:rPr>
              <a:t>Uygulaması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2D66371A-C4E3-3C17-0C37-C05228805CF9}"/>
              </a:ext>
            </a:extLst>
          </p:cNvPr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app.py  |  best_model.pkl + scaler.pkl + selected_features.pkl</a:t>
            </a:r>
          </a:p>
        </p:txBody>
      </p:sp>
      <p:cxnSp>
        <p:nvCxnSpPr>
          <p:cNvPr id="13" name="Düz Bağlayıcı 12">
            <a:extLst>
              <a:ext uri="{FF2B5EF4-FFF2-40B4-BE49-F238E27FC236}">
                <a16:creationId xmlns:a16="http://schemas.microsoft.com/office/drawing/2014/main" id="{78C39447-C6E8-B53C-E5F4-7214DD1F5829}"/>
              </a:ext>
            </a:extLst>
          </p:cNvPr>
          <p:cNvCxnSpPr>
            <a:cxnSpLocks/>
          </p:cNvCxnSpPr>
          <p:nvPr/>
        </p:nvCxnSpPr>
        <p:spPr>
          <a:xfrm>
            <a:off x="5948516" y="1353312"/>
            <a:ext cx="0" cy="529329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717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Sonuç &amp; Değerlendirme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F3DC"/>
                </a:solidFill>
              </a:rPr>
              <a:t>En İyi Model · Önemli Çıkarımlar · Gelecek Çalışmalar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2761488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761488" cy="548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408176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95057"/>
                </a:solidFill>
              </a:rPr>
              <a:t>Test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0916C"/>
                </a:solidFill>
              </a:rPr>
              <a:t>0.9742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1256" y="1298448"/>
            <a:ext cx="2761488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91256" y="1298448"/>
            <a:ext cx="2761488" cy="548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82696" y="1408176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95057"/>
                </a:solidFill>
              </a:rPr>
              <a:t>Test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2696" y="173736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37AB4"/>
                </a:solidFill>
              </a:rPr>
              <a:t>0.9851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2472" y="1298448"/>
            <a:ext cx="2761488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62472" y="1298448"/>
            <a:ext cx="2761488" cy="548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2" y="1408176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95057"/>
                </a:solidFill>
              </a:rPr>
              <a:t>Test 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173736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A623"/>
                </a:solidFill>
              </a:rPr>
              <a:t>0.9736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3688" y="1298448"/>
            <a:ext cx="2761488" cy="109728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33688" y="1298448"/>
            <a:ext cx="2761488" cy="548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25128" y="1408176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95057"/>
                </a:solidFill>
              </a:rPr>
              <a:t>ROC AUC (Val)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73736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4332"/>
                </a:solidFill>
              </a:rPr>
              <a:t>0.9970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42032"/>
            <a:ext cx="5577840" cy="40965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2542032"/>
            <a:ext cx="73152" cy="40965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2633472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Proje Özeti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9125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307238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136K kayıt, 2 güneş enerjisi tesisi, 4 CSV dosyası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4845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52958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rgbClr val="212529"/>
                </a:solidFill>
              </a:rPr>
              <a:t>Gece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filtresi</a:t>
            </a:r>
            <a:r>
              <a:rPr sz="1700" b="0" i="0" dirty="0">
                <a:solidFill>
                  <a:srgbClr val="212529"/>
                </a:solidFill>
              </a:rPr>
              <a:t> + IQR </a:t>
            </a:r>
            <a:r>
              <a:rPr sz="1700" b="0" i="0" dirty="0" err="1">
                <a:solidFill>
                  <a:srgbClr val="212529"/>
                </a:solidFill>
              </a:rPr>
              <a:t>aykırı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değer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temizliği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uygulandı</a:t>
            </a:r>
            <a:endParaRPr sz="1700" b="0" i="0" dirty="0">
              <a:solidFill>
                <a:srgbClr val="212529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" y="410565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398678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4 özellik seçimi yöntemi → 3 optimal özellik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6285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44398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5 algoritma karşılaştırıldı — en iyi: XGBoost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2005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490118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ROC AUC = 0.9970, Recall = 0.9851, F1 = 0.9736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7725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535838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SHAP ile kara kutu açıklandı — IRRADIATION baskın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93445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5815584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Streamlit ile model canlıya alındı (pkl servisi)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2472" y="2542032"/>
            <a:ext cx="5833872" cy="40965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35040" y="2542032"/>
            <a:ext cx="73152" cy="40965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9632" y="26334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332"/>
                </a:solidFill>
              </a:rPr>
              <a:t>Gelecek Çalışmalar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1850" y="3241799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45352" y="3102278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12529"/>
                </a:solidFill>
              </a:rPr>
              <a:t>LSTM / GRU: </a:t>
            </a:r>
            <a:r>
              <a:rPr sz="1700" b="0" i="0" dirty="0" err="1">
                <a:solidFill>
                  <a:srgbClr val="212529"/>
                </a:solidFill>
              </a:rPr>
              <a:t>sekansiyel</a:t>
            </a:r>
            <a:r>
              <a:rPr sz="1700" b="0" i="0" dirty="0">
                <a:solidFill>
                  <a:srgbClr val="212529"/>
                </a:solidFill>
              </a:rPr>
              <a:t> zaman </a:t>
            </a:r>
            <a:r>
              <a:rPr sz="1700" b="0" i="0" dirty="0" err="1">
                <a:solidFill>
                  <a:srgbClr val="212529"/>
                </a:solidFill>
              </a:rPr>
              <a:t>serisi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modeli</a:t>
            </a:r>
            <a:endParaRPr sz="1700" b="0" i="0" dirty="0">
              <a:solidFill>
                <a:srgbClr val="212529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144768" y="3686539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99632" y="3558976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12529"/>
                </a:solidFill>
              </a:rPr>
              <a:t>Hava </a:t>
            </a:r>
            <a:r>
              <a:rPr sz="1700" b="0" i="0" dirty="0" err="1">
                <a:solidFill>
                  <a:srgbClr val="212529"/>
                </a:solidFill>
              </a:rPr>
              <a:t>tahmini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entegrasyonu</a:t>
            </a:r>
            <a:r>
              <a:rPr sz="1700" b="0" i="0" dirty="0">
                <a:solidFill>
                  <a:srgbClr val="212529"/>
                </a:solidFill>
              </a:rPr>
              <a:t> → </a:t>
            </a:r>
            <a:r>
              <a:rPr sz="1700" b="0" i="0" dirty="0" err="1">
                <a:solidFill>
                  <a:srgbClr val="212529"/>
                </a:solidFill>
              </a:rPr>
              <a:t>proaktif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enerji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planlaması</a:t>
            </a:r>
            <a:endParaRPr sz="1700" b="0" i="0" dirty="0">
              <a:solidFill>
                <a:srgbClr val="212529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174410" y="4133088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3991356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rgbClr val="212529"/>
                </a:solidFill>
              </a:rPr>
              <a:t>Çok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sınıflı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etiketleme</a:t>
            </a:r>
            <a:r>
              <a:rPr sz="1700" b="0" i="0" dirty="0">
                <a:solidFill>
                  <a:srgbClr val="212529"/>
                </a:solidFill>
              </a:rPr>
              <a:t> (Low / Medium / High) </a:t>
            </a:r>
            <a:r>
              <a:rPr sz="1700" b="0" i="0" dirty="0" err="1">
                <a:solidFill>
                  <a:srgbClr val="212529"/>
                </a:solidFill>
              </a:rPr>
              <a:t>karşılaştırması</a:t>
            </a:r>
            <a:endParaRPr sz="1700" b="0" i="0" dirty="0">
              <a:solidFill>
                <a:srgbClr val="212529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172200" y="451713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45352" y="4420471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12529"/>
                </a:solidFill>
              </a:rPr>
              <a:t>Daha </a:t>
            </a:r>
            <a:r>
              <a:rPr sz="1700" b="0" i="0" dirty="0" err="1">
                <a:solidFill>
                  <a:srgbClr val="212529"/>
                </a:solidFill>
              </a:rPr>
              <a:t>fazla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tesis</a:t>
            </a:r>
            <a:r>
              <a:rPr sz="1700" b="0" i="0" dirty="0">
                <a:solidFill>
                  <a:srgbClr val="212529"/>
                </a:solidFill>
              </a:rPr>
              <a:t> </a:t>
            </a:r>
            <a:r>
              <a:rPr sz="1700" b="0" i="0" dirty="0" err="1">
                <a:solidFill>
                  <a:srgbClr val="212529"/>
                </a:solidFill>
              </a:rPr>
              <a:t>verisiyle</a:t>
            </a:r>
            <a:r>
              <a:rPr sz="1700" b="0" i="0" dirty="0">
                <a:solidFill>
                  <a:srgbClr val="212529"/>
                </a:solidFill>
              </a:rPr>
              <a:t> model </a:t>
            </a:r>
            <a:r>
              <a:rPr sz="1700" b="0" i="0" dirty="0" err="1">
                <a:solidFill>
                  <a:srgbClr val="212529"/>
                </a:solidFill>
              </a:rPr>
              <a:t>genelleştirme</a:t>
            </a:r>
            <a:endParaRPr sz="1700" b="0" i="0" dirty="0">
              <a:solidFill>
                <a:srgbClr val="212529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172200" y="498247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45352" y="4852449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2529"/>
                </a:solidFill>
              </a:rPr>
              <a:t>IoT sensör entegrasyonu — gerçek zamanlı akış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2952" y="5400286"/>
            <a:ext cx="109728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45352" y="5259308"/>
            <a:ext cx="11109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212529"/>
                </a:solidFill>
              </a:rPr>
              <a:t>Hyperparameter tuning (</a:t>
            </a:r>
            <a:r>
              <a:rPr sz="1700" b="0" i="0" dirty="0" err="1">
                <a:solidFill>
                  <a:srgbClr val="212529"/>
                </a:solidFill>
              </a:rPr>
              <a:t>GridSearchCV</a:t>
            </a:r>
            <a:r>
              <a:rPr sz="1700" b="0" i="0" dirty="0">
                <a:solidFill>
                  <a:srgbClr val="212529"/>
                </a:solidFill>
              </a:rPr>
              <a:t> / </a:t>
            </a:r>
            <a:r>
              <a:rPr sz="1700" b="0" i="0" dirty="0" err="1">
                <a:solidFill>
                  <a:srgbClr val="212529"/>
                </a:solidFill>
              </a:rPr>
              <a:t>Optuna</a:t>
            </a:r>
            <a:r>
              <a:rPr sz="1700" b="0" i="0" dirty="0">
                <a:solidFill>
                  <a:srgbClr val="212529"/>
                </a:solidFill>
              </a:rPr>
              <a:t>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6565392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Büşra Demir  · </a:t>
            </a:r>
            <a:r>
              <a:rPr lang="tr-TR" sz="1400" b="1" i="0" dirty="0">
                <a:solidFill>
                  <a:srgbClr val="FFFFFF"/>
                </a:solidFill>
              </a:rPr>
              <a:t>Nazenin Tatar</a:t>
            </a:r>
            <a:r>
              <a:rPr sz="1400" b="1" i="0" dirty="0">
                <a:solidFill>
                  <a:srgbClr val="FFFFFF"/>
                </a:solidFill>
              </a:rPr>
              <a:t>·  BIM 322 — </a:t>
            </a:r>
            <a:r>
              <a:rPr sz="1400" b="1" i="0" dirty="0" err="1">
                <a:solidFill>
                  <a:srgbClr val="FFFFFF"/>
                </a:solidFill>
              </a:rPr>
              <a:t>Makine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Öğrenmesi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ve</a:t>
            </a:r>
            <a:r>
              <a:rPr sz="1400" b="1" i="0" dirty="0">
                <a:solidFill>
                  <a:srgbClr val="FFFFFF"/>
                </a:solidFill>
              </a:rPr>
              <a:t> </a:t>
            </a:r>
            <a:r>
              <a:rPr sz="1400" b="1" i="0" dirty="0" err="1">
                <a:solidFill>
                  <a:srgbClr val="FFFFFF"/>
                </a:solidFill>
              </a:rPr>
              <a:t>Uygulamaları</a:t>
            </a:r>
            <a:r>
              <a:rPr sz="1400" b="1" i="0" dirty="0">
                <a:solidFill>
                  <a:srgbClr val="FFFFFF"/>
                </a:solidFill>
              </a:rPr>
              <a:t>  ·  </a:t>
            </a:r>
            <a:r>
              <a:rPr sz="1400" b="1" i="0" dirty="0" err="1">
                <a:solidFill>
                  <a:srgbClr val="FFFFFF"/>
                </a:solidFill>
              </a:rPr>
              <a:t>Mayıs</a:t>
            </a:r>
            <a:r>
              <a:rPr sz="1400" b="1" i="0" dirty="0">
                <a:solidFill>
                  <a:srgbClr val="FFFFFF"/>
                </a:solidFill>
              </a:rPr>
              <a:t>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E4225D-4F2D-48C9-84AE-57E93008300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40d5f5b-965f-4c18-aa6b-d041d460afe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2287</Words>
  <Application>Microsoft Office PowerPoint</Application>
  <PresentationFormat>Özel</PresentationFormat>
  <Paragraphs>531</Paragraphs>
  <Slides>19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Büşra DEMİR</cp:lastModifiedBy>
  <cp:revision>6</cp:revision>
  <dcterms:created xsi:type="dcterms:W3CDTF">2013-01-27T09:14:16Z</dcterms:created>
  <dcterms:modified xsi:type="dcterms:W3CDTF">2026-05-09T16:45:52Z</dcterms:modified>
  <cp:category/>
</cp:coreProperties>
</file>