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93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AUC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493-435A-9FDA-288EFB20659D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93-435A-9FDA-288EFB20659D}"/>
              </c:ext>
            </c:extLst>
          </c:dPt>
          <c:dPt>
            <c:idx val="2"/>
            <c:invertIfNegative val="0"/>
            <c:bubble3D val="0"/>
            <c:spPr>
              <a:solidFill>
                <a:srgbClr val="6D9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493-435A-9FDA-288EFB20659D}"/>
              </c:ext>
            </c:extLst>
          </c:dPt>
          <c:dPt>
            <c:idx val="3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493-435A-9FDA-288EFB20659D}"/>
              </c:ext>
            </c:extLst>
          </c:dPt>
          <c:dPt>
            <c:idx val="4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493-435A-9FDA-288EFB20659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Naive Bayes</c:v>
                </c:pt>
                <c:pt idx="1">
                  <c:v>Logistic Reg.</c:v>
                </c:pt>
                <c:pt idx="2">
                  <c:v>KNN</c:v>
                </c:pt>
                <c:pt idx="3">
                  <c:v>Random Forest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0.95499999999999996</c:v>
                </c:pt>
                <c:pt idx="1">
                  <c:v>0.98199999999999998</c:v>
                </c:pt>
                <c:pt idx="2">
                  <c:v>0.996</c:v>
                </c:pt>
                <c:pt idx="3">
                  <c:v>0.997</c:v>
                </c:pt>
                <c:pt idx="4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493-435A-9FDA-288EFB2065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3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001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im322-solar-power-prediction.streamlit.app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11480" y="500000"/>
            <a:ext cx="4572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Power</a:t>
            </a:r>
            <a:endParaRPr lang="en-US" sz="12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2200000"/>
            <a:ext cx="41148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2320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6A4F"/>
                </a:solidFill>
              </a:rPr>
              <a:t>Makine Öğrenmesi ile İkili Üretim Seviyesi Sınıflandırması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000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Büşra Demir  —  030123075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Nazenin Tatar  —  030123053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Mayıs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005840"/>
            <a:ext cx="1691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212080" y="1005840"/>
            <a:ext cx="50292" cy="1417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303520" y="1143000"/>
            <a:ext cx="1508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136K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856232"/>
            <a:ext cx="15087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Ham Kayıt Sayısı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1005840"/>
            <a:ext cx="1691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040880" y="1005840"/>
            <a:ext cx="50292" cy="1417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132320" y="1143000"/>
            <a:ext cx="1508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97.4%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1856232"/>
            <a:ext cx="15087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XGBoost Accuracy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2651760"/>
            <a:ext cx="1691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212080" y="2651760"/>
            <a:ext cx="50292" cy="1417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303520" y="2788920"/>
            <a:ext cx="1508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0.997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3502152"/>
            <a:ext cx="15087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AUC Skoru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2651760"/>
            <a:ext cx="1691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7040880" y="2651760"/>
            <a:ext cx="50292" cy="1417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132320" y="2788920"/>
            <a:ext cx="1508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3502152"/>
            <a:ext cx="15087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ML Algoritması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İçindekiler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37744" y="59436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37744" y="594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55778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5943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Veri Seti &amp; Problem Tanımı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" y="109728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37744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06070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0080" y="10972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Veri Ön İşleme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" y="160020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37744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156362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0080" y="160020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Özellik Seçimi — Korelasyon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" y="210312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37744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206654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0080" y="210312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Özellik Seçimi — Sonuç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" y="260604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37744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256946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40080" y="26060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Confusion Matrisleri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7744" y="310896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237744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07238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40080" y="31089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ROC Analizi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7744" y="361188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237744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357530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40080" y="36118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Özellik Önemi &amp; SHAP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7744" y="411480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237744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07822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40080" y="411480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Sonuç &amp; Değerlendirme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26864" y="59436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626864" y="594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56048" y="55778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5029200" y="5943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Keşifsel Veri Analizi (EDA)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26864" y="109728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4626864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56048" y="106070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029200" y="10972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Data Leakage &amp; Normalizasyon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6864" y="160020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4626864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956048" y="156362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5029200" y="160020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Özellik Seçimi — SelectKBest &amp; RFE &amp; MI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26864" y="210312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4626864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956048" y="206654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5029200" y="210312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Modelleme — 5 Algoritma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26864" y="260604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4626864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956048" y="256946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5029200" y="26060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Model Değerlendirme — Metrik Tablosu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26864" y="310896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4626864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956048" y="307238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5029200" y="31089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Precision-Recall Analizi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626864" y="3611880"/>
            <a:ext cx="292608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4626864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14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956048" y="3575304"/>
            <a:ext cx="4023360" cy="384048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5029200" y="36118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Streamlit Uygulaması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63"/>
          <p:cNvSpPr/>
          <p:nvPr/>
        </p:nvSpPr>
        <p:spPr>
          <a:xfrm>
            <a:off x="411480" y="4956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02950DAA-5BF7-1497-1D30-C29372063FBF}"/>
              </a:ext>
            </a:extLst>
          </p:cNvPr>
          <p:cNvSpPr/>
          <p:nvPr/>
        </p:nvSpPr>
        <p:spPr>
          <a:xfrm>
            <a:off x="113174" y="1698845"/>
            <a:ext cx="4009739" cy="24566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5CBFE5C3-EB4C-7B00-262F-21A3B46B45CA}"/>
              </a:ext>
            </a:extLst>
          </p:cNvPr>
          <p:cNvSpPr/>
          <p:nvPr/>
        </p:nvSpPr>
        <p:spPr>
          <a:xfrm>
            <a:off x="4346648" y="1098466"/>
            <a:ext cx="3957742" cy="153248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96A62E34-70E1-FF12-1AF1-8742881946BD}"/>
              </a:ext>
            </a:extLst>
          </p:cNvPr>
          <p:cNvSpPr/>
          <p:nvPr/>
        </p:nvSpPr>
        <p:spPr>
          <a:xfrm>
            <a:off x="4346647" y="3414236"/>
            <a:ext cx="3999832" cy="105596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6AF1C51F-4778-9900-145E-B1F9A6EA29C2}"/>
              </a:ext>
            </a:extLst>
          </p:cNvPr>
          <p:cNvSpPr/>
          <p:nvPr/>
        </p:nvSpPr>
        <p:spPr>
          <a:xfrm>
            <a:off x="4338244" y="2692400"/>
            <a:ext cx="4008235" cy="6150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01 — VERI SETI &amp; PROBLEM TANIMI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Power Generation Data — Kaggle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8925" y="1447323"/>
            <a:ext cx="825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Hindistan, 2 Tesis, 34 Gün — 15 dakikada bir sensör ölçümü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74292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1B4332"/>
                </a:solidFill>
              </a:rPr>
              <a:t>Veri Seti Genel Bilgileri</a:t>
            </a:r>
          </a:p>
        </p:txBody>
      </p:sp>
      <p:sp>
        <p:nvSpPr>
          <p:cNvPr id="10" name="Text 8"/>
          <p:cNvSpPr/>
          <p:nvPr/>
        </p:nvSpPr>
        <p:spPr>
          <a:xfrm>
            <a:off x="411480" y="2379092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 CSV dosyası: 2× Generation, 2× Weather Sensor Data</a:t>
            </a:r>
          </a:p>
        </p:txBody>
      </p:sp>
      <p:sp>
        <p:nvSpPr>
          <p:cNvPr id="12" name="Text 10"/>
          <p:cNvSpPr/>
          <p:nvPr/>
        </p:nvSpPr>
        <p:spPr>
          <a:xfrm>
            <a:off x="411480" y="2633092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Plant 1 Generation Data: 68.774 satır</a:t>
            </a:r>
          </a:p>
        </p:txBody>
      </p:sp>
      <p:sp>
        <p:nvSpPr>
          <p:cNvPr id="14" name="Text 12"/>
          <p:cNvSpPr/>
          <p:nvPr/>
        </p:nvSpPr>
        <p:spPr>
          <a:xfrm>
            <a:off x="411480" y="2887092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Plant 2 Generation Data: 67.698 satır</a:t>
            </a:r>
          </a:p>
        </p:txBody>
      </p:sp>
      <p:sp>
        <p:nvSpPr>
          <p:cNvPr id="16" name="Text 14"/>
          <p:cNvSpPr/>
          <p:nvPr/>
        </p:nvSpPr>
        <p:spPr>
          <a:xfrm>
            <a:off x="411480" y="3141092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Ham toplam: 136.472 kayıt  |  Süre: 34 gün</a:t>
            </a:r>
          </a:p>
        </p:txBody>
      </p:sp>
      <p:sp>
        <p:nvSpPr>
          <p:cNvPr id="18" name="Text 16"/>
          <p:cNvSpPr/>
          <p:nvPr/>
        </p:nvSpPr>
        <p:spPr>
          <a:xfrm>
            <a:off x="411480" y="3395092"/>
            <a:ext cx="393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Örnekleme sıklığı: Her 15 dakikada bir</a:t>
            </a:r>
          </a:p>
        </p:txBody>
      </p:sp>
      <p:sp>
        <p:nvSpPr>
          <p:cNvPr id="28" name="Text 26"/>
          <p:cNvSpPr/>
          <p:nvPr/>
        </p:nvSpPr>
        <p:spPr>
          <a:xfrm>
            <a:off x="4470401" y="1183302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1B4332"/>
                </a:solidFill>
              </a:rPr>
              <a:t>Problem Tanımı</a:t>
            </a:r>
          </a:p>
        </p:txBody>
      </p:sp>
      <p:sp>
        <p:nvSpPr>
          <p:cNvPr id="29" name="Text 27"/>
          <p:cNvSpPr/>
          <p:nvPr/>
        </p:nvSpPr>
        <p:spPr>
          <a:xfrm>
            <a:off x="4470401" y="1488102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2D6A4F"/>
                </a:solidFill>
              </a:rPr>
              <a:t>Hedef değişken → AC_POWER</a:t>
            </a:r>
          </a:p>
        </p:txBody>
      </p:sp>
      <p:sp>
        <p:nvSpPr>
          <p:cNvPr id="30" name="Text 28"/>
          <p:cNvSpPr/>
          <p:nvPr/>
        </p:nvSpPr>
        <p:spPr>
          <a:xfrm>
            <a:off x="4470401" y="1742102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rgbClr val="374151"/>
                </a:solidFill>
              </a:rPr>
              <a:t>Binary sınıflandırma: Düşük (0) / Yüksek (1)</a:t>
            </a:r>
          </a:p>
        </p:txBody>
      </p:sp>
      <p:sp>
        <p:nvSpPr>
          <p:cNvPr id="31" name="Text 29"/>
          <p:cNvSpPr/>
          <p:nvPr/>
        </p:nvSpPr>
        <p:spPr>
          <a:xfrm>
            <a:off x="4470401" y="1996102"/>
            <a:ext cx="38760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Threshold = train setinin AC_POWER ortalaması = 544.71 W</a:t>
            </a:r>
          </a:p>
        </p:txBody>
      </p:sp>
      <p:sp>
        <p:nvSpPr>
          <p:cNvPr id="34" name="Text 32"/>
          <p:cNvSpPr/>
          <p:nvPr/>
        </p:nvSpPr>
        <p:spPr>
          <a:xfrm>
            <a:off x="4470400" y="2730574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rgbClr val="DC2626"/>
                </a:solidFill>
              </a:rPr>
              <a:t>Sınıf 0 — DÜŞÜK  (&lt;544.71 W)  →  ~%51</a:t>
            </a:r>
          </a:p>
        </p:txBody>
      </p:sp>
      <p:sp>
        <p:nvSpPr>
          <p:cNvPr id="35" name="Text 33"/>
          <p:cNvSpPr/>
          <p:nvPr/>
        </p:nvSpPr>
        <p:spPr>
          <a:xfrm>
            <a:off x="7620001" y="2402502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tr-TR" dirty="0"/>
          </a:p>
        </p:txBody>
      </p:sp>
      <p:sp>
        <p:nvSpPr>
          <p:cNvPr id="38" name="Text 36"/>
          <p:cNvSpPr/>
          <p:nvPr/>
        </p:nvSpPr>
        <p:spPr>
          <a:xfrm>
            <a:off x="4470400" y="2984574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rgbClr val="1B4332"/>
                </a:solidFill>
              </a:rPr>
              <a:t>Sınıf 1 — YÜKSEK  (≥544.71 W)  →  ~%49</a:t>
            </a:r>
          </a:p>
        </p:txBody>
      </p:sp>
      <p:sp>
        <p:nvSpPr>
          <p:cNvPr id="39" name="Text 37"/>
          <p:cNvSpPr/>
          <p:nvPr/>
        </p:nvSpPr>
        <p:spPr>
          <a:xfrm>
            <a:off x="5994401" y="1570938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tr-TR" dirty="0"/>
          </a:p>
        </p:txBody>
      </p:sp>
      <p:sp>
        <p:nvSpPr>
          <p:cNvPr id="42" name="Text 40"/>
          <p:cNvSpPr/>
          <p:nvPr/>
        </p:nvSpPr>
        <p:spPr>
          <a:xfrm>
            <a:off x="4470400" y="3456971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1B4332"/>
                </a:solidFill>
              </a:rPr>
              <a:t>Neden Bu </a:t>
            </a:r>
            <a:r>
              <a:rPr lang="tr-T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Veri</a:t>
            </a:r>
            <a:r>
              <a:rPr lang="tr-TR" sz="1200" b="1" dirty="0">
                <a:solidFill>
                  <a:srgbClr val="1B4332"/>
                </a:solidFill>
              </a:rPr>
              <a:t> Seti?</a:t>
            </a:r>
          </a:p>
        </p:txBody>
      </p:sp>
      <p:sp>
        <p:nvSpPr>
          <p:cNvPr id="43" name="Text 41"/>
          <p:cNvSpPr/>
          <p:nvPr/>
        </p:nvSpPr>
        <p:spPr>
          <a:xfrm>
            <a:off x="4470400" y="3710971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Gerçek dünya verisi — 2 farklı tesis, simülasyon değil</a:t>
            </a:r>
          </a:p>
        </p:txBody>
      </p:sp>
      <p:sp>
        <p:nvSpPr>
          <p:cNvPr id="44" name="Text 42"/>
          <p:cNvSpPr/>
          <p:nvPr/>
        </p:nvSpPr>
        <p:spPr>
          <a:xfrm>
            <a:off x="4470400" y="3926871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Tüm ödev metrikleri anlamlı biçimde hesaplanabilir</a:t>
            </a:r>
          </a:p>
        </p:txBody>
      </p:sp>
      <p:sp>
        <p:nvSpPr>
          <p:cNvPr id="45" name="Text 43"/>
          <p:cNvSpPr/>
          <p:nvPr/>
        </p:nvSpPr>
        <p:spPr>
          <a:xfrm>
            <a:off x="4470400" y="4142771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/>
              <a:buChar char="•"/>
            </a:pPr>
            <a:r>
              <a:rPr lang="tr-T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Makul boyut: overfitting/underfitting dengesi için ideal</a:t>
            </a:r>
          </a:p>
        </p:txBody>
      </p:sp>
      <p:sp>
        <p:nvSpPr>
          <p:cNvPr id="46" name="Shape 44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11480" y="48646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6A4F"/>
                </a:solidFill>
              </a:rPr>
              <a:t>01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0840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02 —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Keşifsel Veri Analizi — Temel İstatistikler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9753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Histogram, zaman serisi ve scatter plot grafikleri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8313" y="1097280"/>
            <a:ext cx="850392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18313" y="1097280"/>
            <a:ext cx="50292" cy="58521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73761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DC Power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04313" y="1188720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Güneş panelleri tarafından güneş ışığından doğrudan üretilen ve henüz dönüştürülmemiş ham elektrik gücüdür.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8313" y="1773936"/>
            <a:ext cx="850392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18313" y="1773936"/>
            <a:ext cx="50292" cy="58521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73761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AC Power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04313" y="1865376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Üretilen DC gücün, inverter cihazı sayesinde şebekeye veya ev kullanımına uygun hale getirilmiş şeklidir. Hedef değişkenimiz.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8313" y="2450592"/>
            <a:ext cx="850392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18313" y="2450592"/>
            <a:ext cx="50292" cy="58521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73761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</a:rPr>
              <a:t>Irradiation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04313" y="2542032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Panellerin bulunduğu birim alana düşen güneş enerjisi miktarıdır. (W/m²)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8313" y="3127248"/>
            <a:ext cx="850392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218313" y="3127248"/>
            <a:ext cx="50292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73761" y="3218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Module Temperature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04313" y="3218688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Güneş panelinin kendi yüzey çalışma sıcaklığıdır. (°C)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8313" y="3803904"/>
            <a:ext cx="850392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218313" y="3803904"/>
            <a:ext cx="50292" cy="58521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73761" y="3895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Ambient Temperature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04313" y="3895344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Güneş enerjisi santralinin bulunduğu çevrenin (havanın) genel sıcaklığıdır. (°C)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8313" y="4407408"/>
            <a:ext cx="8503920" cy="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218313" y="4407408"/>
            <a:ext cx="8503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/>
          </a:lstStyle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9461" y="486460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259461" y="49011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51901" y="48828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6A4F"/>
                </a:solidFill>
              </a:rPr>
              <a:t>02</a:t>
            </a:r>
            <a:endParaRPr lang="en-US" sz="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02 — EDA — DAĞILIMLAR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11480" y="497963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6A4F"/>
                </a:solidFill>
              </a:rPr>
              <a:t>02</a:t>
            </a:r>
            <a:endParaRPr lang="en-US" sz="800" dirty="0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297D2EB2-E811-D403-5948-7411EBB25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96" y="905612"/>
            <a:ext cx="3945414" cy="3130158"/>
          </a:xfrm>
          <a:prstGeom prst="rect">
            <a:avLst/>
          </a:prstGeom>
        </p:spPr>
      </p:pic>
      <p:sp>
        <p:nvSpPr>
          <p:cNvPr id="26" name="Dikdörtgen 25">
            <a:extLst>
              <a:ext uri="{FF2B5EF4-FFF2-40B4-BE49-F238E27FC236}">
                <a16:creationId xmlns:a16="http://schemas.microsoft.com/office/drawing/2014/main" id="{635BA6EA-F963-70A6-CA1B-B596851AC714}"/>
              </a:ext>
            </a:extLst>
          </p:cNvPr>
          <p:cNvSpPr>
            <a:spLocks noGrp="1"/>
          </p:cNvSpPr>
          <p:nvPr/>
        </p:nvSpPr>
        <p:spPr>
          <a:xfrm>
            <a:off x="4832350" y="975612"/>
            <a:ext cx="57150" cy="57150"/>
          </a:xfrm>
          <a:prstGeom prst="rect">
            <a:avLst/>
          </a:prstGeom>
          <a:solidFill>
            <a:srgbClr val="1C7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427B51C2-C0CB-7577-A1EB-A6FA71CB083E}"/>
              </a:ext>
            </a:extLst>
          </p:cNvPr>
          <p:cNvSpPr>
            <a:spLocks noGrp="1"/>
          </p:cNvSpPr>
          <p:nvPr/>
        </p:nvSpPr>
        <p:spPr>
          <a:xfrm>
            <a:off x="5003800" y="905612"/>
            <a:ext cx="2633472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Sıfıra</a:t>
            </a:r>
            <a:r>
              <a:rPr sz="120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10212B"/>
                </a:solidFill>
                <a:latin typeface="Aptos"/>
                <a:ea typeface="Aptos"/>
                <a:cs typeface="Aptos"/>
              </a:rPr>
              <a:t>yığılma</a:t>
            </a:r>
            <a:endParaRPr sz="1200" b="1" dirty="0">
              <a:solidFill>
                <a:srgbClr val="10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9C99309-E9EB-A057-CFCE-8B224A612CAF}"/>
              </a:ext>
            </a:extLst>
          </p:cNvPr>
          <p:cNvSpPr>
            <a:spLocks noGrp="1"/>
          </p:cNvSpPr>
          <p:nvPr/>
        </p:nvSpPr>
        <p:spPr>
          <a:xfrm>
            <a:off x="4998720" y="108287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AC_POWER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ve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IRRADIATION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dağılımlarındaki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sıfır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yoğunluğu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gece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kayıtlarını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işaret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ediyor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6902C65D-EBD6-2D07-CAEC-F67FC6983DE9}"/>
              </a:ext>
            </a:extLst>
          </p:cNvPr>
          <p:cNvSpPr>
            <a:spLocks noGrp="1"/>
          </p:cNvSpPr>
          <p:nvPr/>
        </p:nvSpPr>
        <p:spPr>
          <a:xfrm>
            <a:off x="4855751" y="1715742"/>
            <a:ext cx="57150" cy="57150"/>
          </a:xfrm>
          <a:prstGeom prst="rect">
            <a:avLst/>
          </a:prstGeom>
          <a:solidFill>
            <a:srgbClr val="D28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599F35E5-E793-A750-AEE2-16B8B4E3ADFC}"/>
              </a:ext>
            </a:extLst>
          </p:cNvPr>
          <p:cNvSpPr>
            <a:spLocks noGrp="1"/>
          </p:cNvSpPr>
          <p:nvPr/>
        </p:nvSpPr>
        <p:spPr>
          <a:xfrm>
            <a:off x="5027201" y="1649067"/>
            <a:ext cx="4095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Sıcaklık dağılımı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7661B8C4-9B3B-6C9D-B75E-EE8F6E7F5B42}"/>
              </a:ext>
            </a:extLst>
          </p:cNvPr>
          <p:cNvSpPr>
            <a:spLocks noGrp="1"/>
          </p:cNvSpPr>
          <p:nvPr/>
        </p:nvSpPr>
        <p:spPr>
          <a:xfrm>
            <a:off x="5027201" y="1849092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57E"/>
                </a:solidFill>
                <a:latin typeface="Aptos"/>
                <a:ea typeface="Aptos"/>
                <a:cs typeface="Aptos"/>
              </a:rPr>
              <a:t>Module temperature daha geniş yayılıyor; panel yüzeyi ortamdan daha fazla ısınıyor.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57F56B0-E1DC-A249-D619-A0FF1D5ABD8A}"/>
              </a:ext>
            </a:extLst>
          </p:cNvPr>
          <p:cNvSpPr>
            <a:spLocks noGrp="1"/>
          </p:cNvSpPr>
          <p:nvPr/>
        </p:nvSpPr>
        <p:spPr>
          <a:xfrm>
            <a:off x="4855751" y="2393559"/>
            <a:ext cx="57150" cy="57150"/>
          </a:xfrm>
          <a:prstGeom prst="rect">
            <a:avLst/>
          </a:prstGeom>
          <a:solidFill>
            <a:srgbClr val="1C7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EC12B19F-C853-AE87-E8AB-5B5B0533FA19}"/>
              </a:ext>
            </a:extLst>
          </p:cNvPr>
          <p:cNvSpPr>
            <a:spLocks noGrp="1"/>
          </p:cNvSpPr>
          <p:nvPr/>
        </p:nvSpPr>
        <p:spPr>
          <a:xfrm>
            <a:off x="5027201" y="2326884"/>
            <a:ext cx="40957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Model etkisi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3B9635B8-1412-512E-EE38-215E0D2B1314}"/>
              </a:ext>
            </a:extLst>
          </p:cNvPr>
          <p:cNvSpPr>
            <a:spLocks noGrp="1"/>
          </p:cNvSpPr>
          <p:nvPr/>
        </p:nvSpPr>
        <p:spPr>
          <a:xfrm>
            <a:off x="5027201" y="2526909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57E"/>
                </a:solidFill>
                <a:latin typeface="Aptos"/>
                <a:ea typeface="Aptos"/>
                <a:cs typeface="Aptos"/>
              </a:rPr>
              <a:t>Gece kayıtları bırakılırsa model gündüz üretim ilişkisini öğrenmek yerine sıfır örüntüsüne yaslanabilir.</a:t>
            </a:r>
          </a:p>
        </p:txBody>
      </p:sp>
      <p:pic>
        <p:nvPicPr>
          <p:cNvPr id="35" name="Resim 34"/>
          <p:cNvPicPr>
            <a:picLocks noChangeAspect="1"/>
          </p:cNvPicPr>
          <p:nvPr/>
        </p:nvPicPr>
        <p:blipFill>
          <a:blip r:embed="rId4"/>
          <a:srcRect t="24736" b="24736"/>
          <a:stretch>
            <a:fillRect/>
          </a:stretch>
        </p:blipFill>
        <p:spPr>
          <a:xfrm>
            <a:off x="4715978" y="3311984"/>
            <a:ext cx="3505200" cy="1009650"/>
          </a:xfrm>
          <a:prstGeom prst="rect">
            <a:avLst/>
          </a:prstGeom>
        </p:spPr>
      </p:pic>
      <p:sp>
        <p:nvSpPr>
          <p:cNvPr id="100" name="Title_New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600" b="1" dirty="0">
                <a:solidFill>
                  <a:srgbClr val="111827"/>
                </a:solidFill>
                <a:latin typeface="Georgia" pitchFamily="34" charset="0"/>
              </a:rPr>
              <a:t>Sayısal Değişkenlerin Dağılımları</a:t>
            </a:r>
            <a:endParaRPr lang="tr-TR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02 — EDA — GRAFIK YORUMU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120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</a:rPr>
              <a:t>[ AC_POWER Zaman Serisi (İlk 5000 Kayıt) 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6A4F"/>
                </a:solidFill>
              </a:rPr>
              <a:t>02</a:t>
            </a:r>
            <a:endParaRPr lang="en-US" sz="800" dirty="0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3CF7829A-559A-202B-48E6-8ECE5F669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52" y="1180460"/>
            <a:ext cx="5384160" cy="1500334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04E8B0B7-8626-E344-D644-EAD6021B6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869" y="3257734"/>
            <a:ext cx="2697482" cy="1661739"/>
          </a:xfrm>
          <a:prstGeom prst="rect">
            <a:avLst/>
          </a:prstGeom>
        </p:spPr>
      </p:pic>
      <p:pic>
        <p:nvPicPr>
          <p:cNvPr id="28" name="Resim 27">
            <a:extLst>
              <a:ext uri="{FF2B5EF4-FFF2-40B4-BE49-F238E27FC236}">
                <a16:creationId xmlns:a16="http://schemas.microsoft.com/office/drawing/2014/main" id="{F9F27BA7-0CBD-8A4E-4394-CF1725ECE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81" y="657301"/>
            <a:ext cx="5760720" cy="497840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3A9B40F4-0965-6527-C76D-7BAC2D5BAB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4577"/>
          <a:stretch>
            <a:fillRect/>
          </a:stretch>
        </p:blipFill>
        <p:spPr>
          <a:xfrm>
            <a:off x="320040" y="2798418"/>
            <a:ext cx="5760720" cy="428529"/>
          </a:xfrm>
          <a:prstGeom prst="rect">
            <a:avLst/>
          </a:prstGeom>
        </p:spPr>
      </p:pic>
      <p:sp>
        <p:nvSpPr>
          <p:cNvPr id="30" name="Dikdörtgen 29">
            <a:extLst>
              <a:ext uri="{FF2B5EF4-FFF2-40B4-BE49-F238E27FC236}">
                <a16:creationId xmlns:a16="http://schemas.microsoft.com/office/drawing/2014/main" id="{B0C10103-CFD2-897E-82D2-1230C92AA9AA}"/>
              </a:ext>
            </a:extLst>
          </p:cNvPr>
          <p:cNvSpPr>
            <a:spLocks noGrp="1"/>
          </p:cNvSpPr>
          <p:nvPr/>
        </p:nvSpPr>
        <p:spPr>
          <a:xfrm>
            <a:off x="6081263" y="1610810"/>
            <a:ext cx="45719" cy="57150"/>
          </a:xfrm>
          <a:prstGeom prst="rect">
            <a:avLst/>
          </a:prstGeom>
          <a:solidFill>
            <a:srgbClr val="1C7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F2871A3A-D322-ACB4-EB4B-57968E65769F}"/>
              </a:ext>
            </a:extLst>
          </p:cNvPr>
          <p:cNvSpPr>
            <a:spLocks noGrp="1"/>
          </p:cNvSpPr>
          <p:nvPr/>
        </p:nvSpPr>
        <p:spPr>
          <a:xfrm>
            <a:off x="6252713" y="1544135"/>
            <a:ext cx="1902353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Zaman </a:t>
            </a:r>
            <a:r>
              <a:rPr sz="1200" b="1" dirty="0" err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serisi</a:t>
            </a:r>
            <a:endParaRPr sz="1200" b="1" dirty="0">
              <a:solidFill>
                <a:srgbClr val="10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C890FC9F-1C04-27E8-89CE-7BE2B05C0B0D}"/>
              </a:ext>
            </a:extLst>
          </p:cNvPr>
          <p:cNvSpPr>
            <a:spLocks noGrp="1"/>
          </p:cNvSpPr>
          <p:nvPr/>
        </p:nvSpPr>
        <p:spPr>
          <a:xfrm>
            <a:off x="6252714" y="1744160"/>
            <a:ext cx="2431678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Sabah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artış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öğlen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tepe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akşam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düşüş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beklenen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güneş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üretim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döngüsüyle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uyumlu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FB239E19-5B35-20EC-C250-628BA0E2D79C}"/>
              </a:ext>
            </a:extLst>
          </p:cNvPr>
          <p:cNvSpPr>
            <a:spLocks noGrp="1"/>
          </p:cNvSpPr>
          <p:nvPr/>
        </p:nvSpPr>
        <p:spPr>
          <a:xfrm>
            <a:off x="6126982" y="3433612"/>
            <a:ext cx="45719" cy="57150"/>
          </a:xfrm>
          <a:prstGeom prst="rect">
            <a:avLst/>
          </a:prstGeom>
          <a:solidFill>
            <a:srgbClr val="D28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EF3DEA83-2F2E-2528-B8B2-9C5F29614779}"/>
              </a:ext>
            </a:extLst>
          </p:cNvPr>
          <p:cNvSpPr>
            <a:spLocks noGrp="1"/>
          </p:cNvSpPr>
          <p:nvPr/>
        </p:nvSpPr>
        <p:spPr>
          <a:xfrm>
            <a:off x="6298433" y="3366937"/>
            <a:ext cx="2633472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Scatter plot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E3394840-A6BF-0083-ADE2-4B4A4CC74DE7}"/>
              </a:ext>
            </a:extLst>
          </p:cNvPr>
          <p:cNvSpPr>
            <a:spLocks noGrp="1"/>
          </p:cNvSpPr>
          <p:nvPr/>
        </p:nvSpPr>
        <p:spPr>
          <a:xfrm>
            <a:off x="6298433" y="3566962"/>
            <a:ext cx="2633472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57E"/>
                </a:solidFill>
                <a:latin typeface="Aptos"/>
                <a:ea typeface="Aptos"/>
                <a:cs typeface="Aptos"/>
              </a:rPr>
              <a:t>IRRADIATION arttıkça AC_POWER güçlü şekilde yükseliyor; bu yüzden ışınım ana özellik.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7F8DBC67-064E-D4F4-868C-E7898BC8C340}"/>
              </a:ext>
            </a:extLst>
          </p:cNvPr>
          <p:cNvSpPr>
            <a:spLocks noGrp="1"/>
          </p:cNvSpPr>
          <p:nvPr/>
        </p:nvSpPr>
        <p:spPr>
          <a:xfrm>
            <a:off x="6130591" y="4224628"/>
            <a:ext cx="45719" cy="57150"/>
          </a:xfrm>
          <a:prstGeom prst="rect">
            <a:avLst/>
          </a:prstGeom>
          <a:solidFill>
            <a:srgbClr val="1C7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9492D3FD-CB13-769F-3662-E540C69B1C8D}"/>
              </a:ext>
            </a:extLst>
          </p:cNvPr>
          <p:cNvSpPr>
            <a:spLocks noGrp="1"/>
          </p:cNvSpPr>
          <p:nvPr/>
        </p:nvSpPr>
        <p:spPr>
          <a:xfrm>
            <a:off x="6298433" y="4135956"/>
            <a:ext cx="2633472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Alt çizgi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85C5EB61-558A-1AAE-BD1B-5122580C3E7A}"/>
              </a:ext>
            </a:extLst>
          </p:cNvPr>
          <p:cNvSpPr>
            <a:spLocks noGrp="1"/>
          </p:cNvSpPr>
          <p:nvPr/>
        </p:nvSpPr>
        <p:spPr>
          <a:xfrm>
            <a:off x="6302042" y="4357978"/>
            <a:ext cx="2633472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57E"/>
                </a:solidFill>
                <a:latin typeface="Aptos"/>
                <a:ea typeface="Aptos"/>
                <a:cs typeface="Aptos"/>
              </a:rPr>
              <a:t>Sıfır üretim bandı temizlik kararını grafik üzerinden savunuyor.</a:t>
            </a:r>
          </a:p>
        </p:txBody>
      </p:sp>
      <p:sp>
        <p:nvSpPr>
          <p:cNvPr id="100" name="Title_New"/>
          <p:cNvSpPr/>
          <p:nvPr/>
        </p:nvSpPr>
        <p:spPr>
          <a:xfrm>
            <a:off x="219202" y="54864"/>
            <a:ext cx="83210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600" b="1" dirty="0">
                <a:solidFill>
                  <a:srgbClr val="111827"/>
                </a:solidFill>
                <a:latin typeface="Georgia" pitchFamily="34" charset="0"/>
              </a:rPr>
              <a:t>Zaman Serisi ve Scatter Plot Analizi</a:t>
            </a:r>
            <a:endParaRPr lang="tr-TR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03 — VERI ÖN İŞLEME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1700000"/>
            <a:ext cx="164592" cy="16459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66928" y="1680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Birleştirme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960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Generation ve weather tabloları DATE_TIME üzerinden eşleştirildi.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413612"/>
            <a:ext cx="164592" cy="16459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21208" y="23678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Gece Filtresi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6422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AC_POWER = 0 / IRRADIATION = 0 kayıtları model probleminden ayrıldı.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230036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92555" y="31843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</a:rPr>
              <a:t>IQR Kontrolü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2555" y="34586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Aykırı değer yaklaşımı sade ve tekrar üretilebilir tutuldu.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3117" y="4227447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92555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Ayrım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484005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Train/validation/test ayrımı ile model seçimi ve final test ayrıldı.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6A4F"/>
                </a:solidFill>
              </a:rPr>
              <a:t>03</a:t>
            </a:r>
            <a:endParaRPr lang="en-US" sz="800" dirty="0"/>
          </a:p>
        </p:txBody>
      </p:sp>
      <p:pic>
        <p:nvPicPr>
          <p:cNvPr id="28" name="Resim 27" descr="User attachment">
            <a:extLst>
              <a:ext uri="{FF2B5EF4-FFF2-40B4-BE49-F238E27FC236}">
                <a16:creationId xmlns:a16="http://schemas.microsoft.com/office/drawing/2014/main" id="{AA2FC02C-015D-511E-1768-585546751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01"/>
          <a:stretch>
            <a:fillRect/>
          </a:stretch>
        </p:blipFill>
        <p:spPr bwMode="auto">
          <a:xfrm>
            <a:off x="4495239" y="1500000"/>
            <a:ext cx="4152900" cy="8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5F29A1D5-6E1E-8E3F-09A6-2E7C032060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404" r="1375"/>
          <a:stretch>
            <a:fillRect/>
          </a:stretch>
        </p:blipFill>
        <p:spPr>
          <a:xfrm>
            <a:off x="4495239" y="2463592"/>
            <a:ext cx="3680219" cy="477302"/>
          </a:xfrm>
          <a:prstGeom prst="rect">
            <a:avLst/>
          </a:prstGeom>
        </p:spPr>
      </p:pic>
      <p:pic>
        <p:nvPicPr>
          <p:cNvPr id="30" name="Resim 29">
            <a:extLst>
              <a:ext uri="{FF2B5EF4-FFF2-40B4-BE49-F238E27FC236}">
                <a16:creationId xmlns:a16="http://schemas.microsoft.com/office/drawing/2014/main" id="{A446F6BE-747F-C025-B9DC-3EEC2D3AFE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915" b="23465"/>
          <a:stretch>
            <a:fillRect/>
          </a:stretch>
        </p:blipFill>
        <p:spPr>
          <a:xfrm>
            <a:off x="4495239" y="3100000"/>
            <a:ext cx="3289193" cy="984138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D53FA80A-CF91-0308-0EB1-47320F505D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239" y="4100000"/>
            <a:ext cx="2999231" cy="843368"/>
          </a:xfrm>
          <a:prstGeom prst="rect">
            <a:avLst/>
          </a:prstGeom>
        </p:spPr>
      </p:pic>
      <p:sp>
        <p:nvSpPr>
          <p:cNvPr id="48" name="Dikdörtgen 47">
            <a:extLst>
              <a:ext uri="{FF2B5EF4-FFF2-40B4-BE49-F238E27FC236}">
                <a16:creationId xmlns:a16="http://schemas.microsoft.com/office/drawing/2014/main" id="{6BF4A010-9EC3-B625-0377-4A6A79FD2C97}"/>
              </a:ext>
            </a:extLst>
          </p:cNvPr>
          <p:cNvSpPr>
            <a:spLocks noGrp="1"/>
          </p:cNvSpPr>
          <p:nvPr/>
        </p:nvSpPr>
        <p:spPr>
          <a:xfrm>
            <a:off x="429633" y="613162"/>
            <a:ext cx="45719" cy="380000"/>
          </a:xfrm>
          <a:prstGeom prst="rect">
            <a:avLst/>
          </a:prstGeom>
          <a:solidFill>
            <a:srgbClr val="1C7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31FD6612-B2A8-7509-6218-1A33F8E44027}"/>
              </a:ext>
            </a:extLst>
          </p:cNvPr>
          <p:cNvSpPr>
            <a:spLocks noGrp="1"/>
          </p:cNvSpPr>
          <p:nvPr/>
        </p:nvSpPr>
        <p:spPr>
          <a:xfrm>
            <a:off x="484633" y="633162"/>
            <a:ext cx="900000" cy="2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1200" b="1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136.472</a:t>
            </a:r>
          </a:p>
        </p:txBody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7084B17D-0439-ED22-9BB4-8A8A44B41ACB}"/>
              </a:ext>
            </a:extLst>
          </p:cNvPr>
          <p:cNvSpPr>
            <a:spLocks noGrp="1"/>
          </p:cNvSpPr>
          <p:nvPr/>
        </p:nvSpPr>
        <p:spPr>
          <a:xfrm>
            <a:off x="484633" y="881302"/>
            <a:ext cx="1612342" cy="1418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Ham </a:t>
            </a:r>
            <a:r>
              <a:rPr sz="1200" b="1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kayıt</a:t>
            </a:r>
            <a:endParaRPr sz="1200" b="1" dirty="0">
              <a:solidFill>
                <a:srgbClr val="6675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AB9A9FAF-4B89-9521-048D-30A8A2B156AB}"/>
              </a:ext>
            </a:extLst>
          </p:cNvPr>
          <p:cNvSpPr>
            <a:spLocks noGrp="1"/>
          </p:cNvSpPr>
          <p:nvPr/>
        </p:nvSpPr>
        <p:spPr>
          <a:xfrm>
            <a:off x="484632" y="1063182"/>
            <a:ext cx="2095063" cy="1499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İki plant generation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toplamı</a:t>
            </a:r>
            <a:endParaRPr sz="1200" b="0" dirty="0">
              <a:solidFill>
                <a:srgbClr val="6675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C2DBC8BA-B5D4-3C8E-EC97-7357FD795747}"/>
              </a:ext>
            </a:extLst>
          </p:cNvPr>
          <p:cNvSpPr>
            <a:spLocks noGrp="1"/>
          </p:cNvSpPr>
          <p:nvPr/>
        </p:nvSpPr>
        <p:spPr>
          <a:xfrm>
            <a:off x="2937490" y="675000"/>
            <a:ext cx="45719" cy="380000"/>
          </a:xfrm>
          <a:prstGeom prst="rect">
            <a:avLst/>
          </a:prstGeom>
          <a:solidFill>
            <a:srgbClr val="D28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4A951A33-83B9-8514-4BB5-1CF40BF241DB}"/>
              </a:ext>
            </a:extLst>
          </p:cNvPr>
          <p:cNvSpPr>
            <a:spLocks noGrp="1"/>
          </p:cNvSpPr>
          <p:nvPr/>
        </p:nvSpPr>
        <p:spPr>
          <a:xfrm>
            <a:off x="2992490" y="695000"/>
            <a:ext cx="900000" cy="2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68.859</a:t>
            </a:r>
          </a:p>
        </p:txBody>
      </p:sp>
      <p:sp>
        <p:nvSpPr>
          <p:cNvPr id="54" name="Dikdörtgen 53">
            <a:extLst>
              <a:ext uri="{FF2B5EF4-FFF2-40B4-BE49-F238E27FC236}">
                <a16:creationId xmlns:a16="http://schemas.microsoft.com/office/drawing/2014/main" id="{B0539E9D-BDB0-37EB-79EF-275E342B2AD8}"/>
              </a:ext>
            </a:extLst>
          </p:cNvPr>
          <p:cNvSpPr>
            <a:spLocks noGrp="1"/>
          </p:cNvSpPr>
          <p:nvPr/>
        </p:nvSpPr>
        <p:spPr>
          <a:xfrm>
            <a:off x="2992490" y="968968"/>
            <a:ext cx="1467556" cy="1160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Gündüz </a:t>
            </a:r>
            <a:r>
              <a:rPr sz="1200" b="1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kayıt</a:t>
            </a:r>
            <a:endParaRPr sz="1200" b="1" dirty="0">
              <a:solidFill>
                <a:srgbClr val="6675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Dikdörtgen 54">
            <a:extLst>
              <a:ext uri="{FF2B5EF4-FFF2-40B4-BE49-F238E27FC236}">
                <a16:creationId xmlns:a16="http://schemas.microsoft.com/office/drawing/2014/main" id="{C92BC917-96BC-9DCD-0CF8-75D0DB214DE2}"/>
              </a:ext>
            </a:extLst>
          </p:cNvPr>
          <p:cNvSpPr>
            <a:spLocks noGrp="1"/>
          </p:cNvSpPr>
          <p:nvPr/>
        </p:nvSpPr>
        <p:spPr>
          <a:xfrm>
            <a:off x="2920097" y="1108036"/>
            <a:ext cx="1612342" cy="18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Gece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filtresi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sonrası</a:t>
            </a:r>
            <a:endParaRPr sz="1200" b="0" dirty="0">
              <a:solidFill>
                <a:srgbClr val="6675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Dikdörtgen 55">
            <a:extLst>
              <a:ext uri="{FF2B5EF4-FFF2-40B4-BE49-F238E27FC236}">
                <a16:creationId xmlns:a16="http://schemas.microsoft.com/office/drawing/2014/main" id="{EF493BE6-7467-08DD-CAFC-4DD43A8BA7C5}"/>
              </a:ext>
            </a:extLst>
          </p:cNvPr>
          <p:cNvSpPr>
            <a:spLocks noGrp="1"/>
          </p:cNvSpPr>
          <p:nvPr/>
        </p:nvSpPr>
        <p:spPr>
          <a:xfrm>
            <a:off x="4638101" y="679865"/>
            <a:ext cx="45720" cy="380000"/>
          </a:xfrm>
          <a:prstGeom prst="rect">
            <a:avLst/>
          </a:prstGeom>
          <a:solidFill>
            <a:srgbClr val="B64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Dikdörtgen 56">
            <a:extLst>
              <a:ext uri="{FF2B5EF4-FFF2-40B4-BE49-F238E27FC236}">
                <a16:creationId xmlns:a16="http://schemas.microsoft.com/office/drawing/2014/main" id="{A7AA9469-7346-72DF-3B7A-59144F3B13C8}"/>
              </a:ext>
            </a:extLst>
          </p:cNvPr>
          <p:cNvSpPr>
            <a:spLocks noGrp="1"/>
          </p:cNvSpPr>
          <p:nvPr/>
        </p:nvSpPr>
        <p:spPr>
          <a:xfrm>
            <a:off x="4693100" y="699865"/>
            <a:ext cx="1665026" cy="2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%49.5</a:t>
            </a:r>
          </a:p>
        </p:txBody>
      </p:sp>
      <p:sp>
        <p:nvSpPr>
          <p:cNvPr id="58" name="Dikdörtgen 57">
            <a:extLst>
              <a:ext uri="{FF2B5EF4-FFF2-40B4-BE49-F238E27FC236}">
                <a16:creationId xmlns:a16="http://schemas.microsoft.com/office/drawing/2014/main" id="{DA4B6657-49DD-3435-5231-7912232B6DF9}"/>
              </a:ext>
            </a:extLst>
          </p:cNvPr>
          <p:cNvSpPr>
            <a:spLocks noGrp="1"/>
          </p:cNvSpPr>
          <p:nvPr/>
        </p:nvSpPr>
        <p:spPr>
          <a:xfrm>
            <a:off x="4693100" y="959865"/>
            <a:ext cx="1665026" cy="1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57E"/>
                </a:solidFill>
                <a:latin typeface="Aptos"/>
                <a:ea typeface="Aptos"/>
                <a:cs typeface="Aptos"/>
              </a:rPr>
              <a:t>Elenen kayıt</a:t>
            </a:r>
          </a:p>
        </p:txBody>
      </p:sp>
      <p:sp>
        <p:nvSpPr>
          <p:cNvPr id="59" name="Dikdörtgen 58">
            <a:extLst>
              <a:ext uri="{FF2B5EF4-FFF2-40B4-BE49-F238E27FC236}">
                <a16:creationId xmlns:a16="http://schemas.microsoft.com/office/drawing/2014/main" id="{DB96900E-2245-D6A3-F4E9-0AEBA09F6810}"/>
              </a:ext>
            </a:extLst>
          </p:cNvPr>
          <p:cNvSpPr>
            <a:spLocks noGrp="1"/>
          </p:cNvSpPr>
          <p:nvPr/>
        </p:nvSpPr>
        <p:spPr>
          <a:xfrm>
            <a:off x="4693100" y="1108971"/>
            <a:ext cx="2146290" cy="17089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Üretim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taşımayan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gece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satırları</a:t>
            </a:r>
            <a:endParaRPr sz="1200" b="0" dirty="0">
              <a:solidFill>
                <a:srgbClr val="6675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B545ACB-3D51-C16A-4216-1DD8F0E2CFB6}"/>
              </a:ext>
            </a:extLst>
          </p:cNvPr>
          <p:cNvSpPr>
            <a:spLocks noGrp="1"/>
          </p:cNvSpPr>
          <p:nvPr/>
        </p:nvSpPr>
        <p:spPr>
          <a:xfrm>
            <a:off x="7085692" y="728347"/>
            <a:ext cx="1114791" cy="1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IQR </a:t>
            </a:r>
            <a:r>
              <a:rPr sz="1200" b="1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sonrası</a:t>
            </a:r>
            <a:endParaRPr sz="1200" b="1" dirty="0">
              <a:solidFill>
                <a:srgbClr val="6675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709EE39A-2450-02E9-5DC8-F97EF34FD6B7}"/>
              </a:ext>
            </a:extLst>
          </p:cNvPr>
          <p:cNvSpPr>
            <a:spLocks noGrp="1"/>
          </p:cNvSpPr>
          <p:nvPr/>
        </p:nvSpPr>
        <p:spPr>
          <a:xfrm>
            <a:off x="7085693" y="914466"/>
            <a:ext cx="1921146" cy="321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Gece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filtresi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sonrası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ek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aykırı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kayıt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çıkmadı</a:t>
            </a:r>
            <a:endParaRPr sz="1200" b="0" dirty="0">
              <a:solidFill>
                <a:srgbClr val="66757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0B5AF145-2230-5EF8-0B06-1E7CA70161A2}"/>
              </a:ext>
            </a:extLst>
          </p:cNvPr>
          <p:cNvSpPr>
            <a:spLocks noGrp="1"/>
          </p:cNvSpPr>
          <p:nvPr/>
        </p:nvSpPr>
        <p:spPr>
          <a:xfrm>
            <a:off x="7039972" y="538347"/>
            <a:ext cx="45720" cy="380000"/>
          </a:xfrm>
          <a:prstGeom prst="rect">
            <a:avLst/>
          </a:prstGeom>
          <a:solidFill>
            <a:schemeClr val="accent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DC12B36E-2F00-82E0-A0CB-B8AC90A9CBC0}"/>
              </a:ext>
            </a:extLst>
          </p:cNvPr>
          <p:cNvSpPr>
            <a:spLocks noGrp="1"/>
          </p:cNvSpPr>
          <p:nvPr/>
        </p:nvSpPr>
        <p:spPr>
          <a:xfrm>
            <a:off x="7131412" y="544396"/>
            <a:ext cx="241637" cy="2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lang="tr-TR" sz="1200" b="1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0</a:t>
            </a:r>
            <a:endParaRPr sz="1200" b="1" dirty="0">
              <a:solidFill>
                <a:srgbClr val="10212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3A89F403-7438-8D4A-84FA-AD55CABA14DC}"/>
              </a:ext>
            </a:extLst>
          </p:cNvPr>
          <p:cNvSpPr>
            <a:spLocks noGrp="1"/>
          </p:cNvSpPr>
          <p:nvPr/>
        </p:nvSpPr>
        <p:spPr>
          <a:xfrm>
            <a:off x="6660280" y="499098"/>
            <a:ext cx="1665026" cy="1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1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endParaRPr sz="1200" b="1" dirty="0">
              <a:solidFill>
                <a:srgbClr val="66757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04 — DATA LEAKAGE &amp; NORMALIZASYON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Leakage Önlemi &amp; Normalizasyon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Hücre 6 &amp; 7 — Scaler sadece train verisine fit edildi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23360" cy="32918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" cy="3291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Data Leakage Nedir &amp; Nasıl Önlendi?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01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Leakage: Test/val verisinin eğitime sızması → sahte yüksek başarım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212848"/>
            <a:ext cx="1143000" cy="2468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5488" y="221284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Çıkarılan özellik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1762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DC_POWER — hedef AC_POWER ile r=0.99, doğrudan ilişkili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2670048"/>
            <a:ext cx="1143000" cy="2468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5488" y="267004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Çıkarılan türetme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26334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DC_AC_RATIO — DC_POWER / AC_POWER → target leakage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" y="3127248"/>
            <a:ext cx="1143000" cy="2468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75488" y="312724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Scaler fit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30906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MinMaxScaler SADECE train'e fit edildi, val/test'e transform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" y="3584448"/>
            <a:ext cx="1143000" cy="2468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75488" y="358444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Threshold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35478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Binary eşik değeri SADECE train ortalamasından hesaplandı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" y="4041648"/>
            <a:ext cx="1143000" cy="2468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5488" y="404164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Sıralama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91640" y="40050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Split ÖNCE yapıldı, feature engineering SONRA uygulandı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1417320"/>
            <a:ext cx="4297680" cy="32918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526280" y="1417320"/>
            <a:ext cx="50292" cy="3291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681728" y="1490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MinMaxScaler — Normalizasyon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81728" y="1801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</a:rPr>
              <a:t>Formül:  X_scaled = (X – X_min) / (X_max – X_min)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81728" y="2084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Sonuç: Tüm özellikler [0, 1] aralığına ölçeklendi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1728" y="2459736"/>
            <a:ext cx="2377440" cy="274320"/>
          </a:xfrm>
          <a:prstGeom prst="rect">
            <a:avLst/>
          </a:prstGeom>
          <a:solidFill>
            <a:srgbClr val="D8F3DC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36592" y="2478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Train fit + transform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2478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44.069 satır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1728" y="2843784"/>
            <a:ext cx="2377440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736592" y="28620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Val → sadece transform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28620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11.018 satır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81728" y="3227832"/>
            <a:ext cx="2377440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736592" y="3246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Test → sadece transform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3246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13.772 satır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6A4F"/>
                </a:solidFill>
              </a:rPr>
              <a:t>04</a:t>
            </a:r>
            <a:endParaRPr lang="en-US" sz="800" dirty="0"/>
          </a:p>
        </p:txBody>
      </p:sp>
      <p:pic>
        <p:nvPicPr>
          <p:cNvPr id="45" name="Resim 44">
            <a:extLst>
              <a:ext uri="{FF2B5EF4-FFF2-40B4-BE49-F238E27FC236}">
                <a16:creationId xmlns:a16="http://schemas.microsoft.com/office/drawing/2014/main" id="{B22D4547-B241-3ED5-108A-5CCC020EE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95" y="3611190"/>
            <a:ext cx="4006096" cy="9591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05 — ÖZELLIK SEÇIMI — KORELASYON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Yöntem 1: Korelasyon Matrisi (25 Puan)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Filter yöntemi — Özellikler arası Pearson korelasyonu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977640" cy="33375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" cy="33375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1490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Yöntem Açıklaması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Pearson korelasyon katsayısı, özellik ile hedef arasındaki doğrusal ilişkinin gücünü ölçer.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|r| &gt; 0.5 → güçlü ilişki, özellik seçimi için uygun.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395728"/>
            <a:ext cx="192024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21208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Özellik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2395728"/>
            <a:ext cx="100584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468880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Korelasyon (r)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82296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502152" y="2395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Durum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" y="2697480"/>
            <a:ext cx="192024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423160" y="2697480"/>
            <a:ext cx="100584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456432" y="2697480"/>
            <a:ext cx="82296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21208" y="2752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IRRADIATION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752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0.8236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02152" y="27523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✓ Seçildi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" y="3099816"/>
            <a:ext cx="192024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2423160" y="3099816"/>
            <a:ext cx="100584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3456432" y="3099816"/>
            <a:ext cx="82296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21208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MODULE_TEMPERATURE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0.7687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02152" y="3154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✓ Seçildi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" y="3502152"/>
            <a:ext cx="192024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2423160" y="3502152"/>
            <a:ext cx="100584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456432" y="3502152"/>
            <a:ext cx="82296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21208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AMBIENT_TEMPERATURE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35570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0.3946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02152" y="3557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✓ Seçildi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" y="3904488"/>
            <a:ext cx="1920240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2423160" y="3904488"/>
            <a:ext cx="1005840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3456432" y="3904488"/>
            <a:ext cx="822960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21208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DAILY_YIELD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468880" y="3959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0.0522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02152" y="39593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✗ Elendi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" y="4306824"/>
            <a:ext cx="1920240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2423160" y="4306824"/>
            <a:ext cx="1005840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3456432" y="4306824"/>
            <a:ext cx="822960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21208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TOTAL_YIELD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468880" y="4361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0.0494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02152" y="43616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✗ Elendi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D6A4F"/>
                </a:solidFill>
              </a:rPr>
              <a:t>05</a:t>
            </a:r>
            <a:endParaRPr lang="en-US" sz="800" dirty="0"/>
          </a:p>
        </p:txBody>
      </p:sp>
      <p:pic>
        <p:nvPicPr>
          <p:cNvPr id="47" name="Resim 46">
            <a:extLst>
              <a:ext uri="{FF2B5EF4-FFF2-40B4-BE49-F238E27FC236}">
                <a16:creationId xmlns:a16="http://schemas.microsoft.com/office/drawing/2014/main" id="{FF94A877-3DD9-74EE-C9C4-6F1575B8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90" y="1377055"/>
            <a:ext cx="3218775" cy="264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06 — ÖZELLIK SEÇIMI — SELECTKBEST &amp; RFE &amp; MI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İstatistiksel Yöntem Karşılaştırması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1658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Filter, Wrapper ve Information-based yaklaşımlar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0455" y="1488210"/>
            <a:ext cx="2902133" cy="8899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08848" cy="7589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28888" y="1427194"/>
            <a:ext cx="822960" cy="2377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28888" y="142719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3288" y="1380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SelectKBest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3407" y="16588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Chi2 / F-classif istatistiğine göre en yüksek skorlu k özelliği seçer. Hesaplama açısından hızlı.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A4F"/>
                </a:solidFill>
              </a:rPr>
              <a:t>06</a:t>
            </a:r>
            <a:endParaRPr lang="en-US" sz="1200" dirty="0"/>
          </a:p>
        </p:txBody>
      </p:sp>
      <p:pic>
        <p:nvPicPr>
          <p:cNvPr id="34" name="Resim 33">
            <a:extLst>
              <a:ext uri="{FF2B5EF4-FFF2-40B4-BE49-F238E27FC236}">
                <a16:creationId xmlns:a16="http://schemas.microsoft.com/office/drawing/2014/main" id="{AC93D652-A2F4-0A1A-E326-8FB109E584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813"/>
          <a:stretch>
            <a:fillRect/>
          </a:stretch>
        </p:blipFill>
        <p:spPr>
          <a:xfrm>
            <a:off x="3812168" y="1602051"/>
            <a:ext cx="4248990" cy="554249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C8D5A76C-F6DE-0020-2B16-87AD44D056E2}"/>
              </a:ext>
            </a:extLst>
          </p:cNvPr>
          <p:cNvSpPr/>
          <p:nvPr/>
        </p:nvSpPr>
        <p:spPr>
          <a:xfrm>
            <a:off x="320040" y="2618910"/>
            <a:ext cx="2902132" cy="95183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A06043EC-5E5F-2C2E-152B-C457B9CC3648}"/>
              </a:ext>
            </a:extLst>
          </p:cNvPr>
          <p:cNvSpPr/>
          <p:nvPr/>
        </p:nvSpPr>
        <p:spPr>
          <a:xfrm>
            <a:off x="320040" y="2618910"/>
            <a:ext cx="108848" cy="7589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623E2454-0B6F-CA88-A25D-55ACACF417BA}"/>
              </a:ext>
            </a:extLst>
          </p:cNvPr>
          <p:cNvSpPr/>
          <p:nvPr/>
        </p:nvSpPr>
        <p:spPr>
          <a:xfrm>
            <a:off x="428888" y="2628784"/>
            <a:ext cx="822960" cy="2377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C8675896-BE47-EDBC-2827-51DE068C4B00}"/>
              </a:ext>
            </a:extLst>
          </p:cNvPr>
          <p:cNvSpPr/>
          <p:nvPr/>
        </p:nvSpPr>
        <p:spPr>
          <a:xfrm>
            <a:off x="428888" y="2628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Wrapper</a:t>
            </a:r>
            <a:endParaRPr lang="en-US" sz="12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B85251BA-2FD2-2732-ED28-FB1B48E8131F}"/>
              </a:ext>
            </a:extLst>
          </p:cNvPr>
          <p:cNvSpPr/>
          <p:nvPr/>
        </p:nvSpPr>
        <p:spPr>
          <a:xfrm>
            <a:off x="534484" y="2848851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374151"/>
                </a:solidFill>
              </a:rPr>
              <a:t>LogisticRegression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ile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özyinelemeli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özellik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eleme</a:t>
            </a:r>
            <a:r>
              <a:rPr lang="en-US" sz="1200" dirty="0">
                <a:solidFill>
                  <a:srgbClr val="374151"/>
                </a:solidFill>
              </a:rPr>
              <a:t>. Her </a:t>
            </a:r>
            <a:r>
              <a:rPr lang="en-US" sz="1200" dirty="0" err="1">
                <a:solidFill>
                  <a:srgbClr val="374151"/>
                </a:solidFill>
              </a:rPr>
              <a:t>adımda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en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az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önemli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özelliği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atar</a:t>
            </a:r>
            <a:r>
              <a:rPr lang="en-US" sz="1200" dirty="0">
                <a:solidFill>
                  <a:srgbClr val="374151"/>
                </a:solidFill>
              </a:rPr>
              <a:t>.</a:t>
            </a:r>
            <a:endParaRPr lang="en-US" sz="120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8C63975C-FA75-D72E-05FC-87628A5A6939}"/>
              </a:ext>
            </a:extLst>
          </p:cNvPr>
          <p:cNvSpPr/>
          <p:nvPr/>
        </p:nvSpPr>
        <p:spPr>
          <a:xfrm>
            <a:off x="316031" y="3700000"/>
            <a:ext cx="2848273" cy="9862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6FA28671-B6F8-DA97-0E23-0A8ECF16C897}"/>
              </a:ext>
            </a:extLst>
          </p:cNvPr>
          <p:cNvSpPr/>
          <p:nvPr/>
        </p:nvSpPr>
        <p:spPr>
          <a:xfrm>
            <a:off x="316032" y="3700000"/>
            <a:ext cx="108848" cy="7589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D27DCDE1-778A-AF4B-F7C4-FA9FAA915BBF}"/>
              </a:ext>
            </a:extLst>
          </p:cNvPr>
          <p:cNvSpPr/>
          <p:nvPr/>
        </p:nvSpPr>
        <p:spPr>
          <a:xfrm>
            <a:off x="424880" y="3710000"/>
            <a:ext cx="822960" cy="2377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3D427087-F63F-1EB1-8CE3-21A55F7795E5}"/>
              </a:ext>
            </a:extLst>
          </p:cNvPr>
          <p:cNvSpPr/>
          <p:nvPr/>
        </p:nvSpPr>
        <p:spPr>
          <a:xfrm>
            <a:off x="424880" y="37100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Filter</a:t>
            </a:r>
            <a:endParaRPr lang="en-US" sz="12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9E854B6C-19FE-F223-C426-423AA0C2C031}"/>
              </a:ext>
            </a:extLst>
          </p:cNvPr>
          <p:cNvSpPr/>
          <p:nvPr/>
        </p:nvSpPr>
        <p:spPr>
          <a:xfrm>
            <a:off x="480624" y="3789999"/>
            <a:ext cx="2522740" cy="896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374151"/>
                </a:solidFill>
              </a:rPr>
              <a:t>Özellik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ile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hedef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arasındaki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bilgi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kazancını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ölçer</a:t>
            </a:r>
            <a:r>
              <a:rPr lang="en-US" sz="1200" dirty="0">
                <a:solidFill>
                  <a:srgbClr val="374151"/>
                </a:solidFill>
              </a:rPr>
              <a:t>. </a:t>
            </a:r>
            <a:r>
              <a:rPr lang="en-US" sz="1200" dirty="0" err="1">
                <a:solidFill>
                  <a:srgbClr val="374151"/>
                </a:solidFill>
              </a:rPr>
              <a:t>Doğrusal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olmayan</a:t>
            </a:r>
            <a:r>
              <a:rPr lang="en-US" sz="1200" dirty="0">
                <a:solidFill>
                  <a:srgbClr val="374151"/>
                </a:solidFill>
              </a:rPr>
              <a:t> </a:t>
            </a:r>
            <a:r>
              <a:rPr lang="en-US" sz="1200" dirty="0" err="1">
                <a:solidFill>
                  <a:srgbClr val="374151"/>
                </a:solidFill>
              </a:rPr>
              <a:t>ilişkileri</a:t>
            </a:r>
            <a:r>
              <a:rPr lang="en-US" sz="1200" dirty="0">
                <a:solidFill>
                  <a:srgbClr val="374151"/>
                </a:solidFill>
              </a:rPr>
              <a:t> de </a:t>
            </a:r>
            <a:r>
              <a:rPr lang="en-US" sz="1200" dirty="0" err="1">
                <a:solidFill>
                  <a:srgbClr val="374151"/>
                </a:solidFill>
              </a:rPr>
              <a:t>yakalar</a:t>
            </a:r>
            <a:r>
              <a:rPr lang="en-US" sz="1200" dirty="0">
                <a:solidFill>
                  <a:srgbClr val="374151"/>
                </a:solidFill>
              </a:rPr>
              <a:t>.</a:t>
            </a:r>
            <a:endParaRPr lang="en-US" sz="1200" dirty="0"/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5B345789-6BC7-E374-AEDD-E8FC5EEF23FB}"/>
              </a:ext>
            </a:extLst>
          </p:cNvPr>
          <p:cNvSpPr txBox="1"/>
          <p:nvPr/>
        </p:nvSpPr>
        <p:spPr>
          <a:xfrm>
            <a:off x="1251848" y="2635314"/>
            <a:ext cx="152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2D6A4F"/>
                </a:solidFill>
              </a:rPr>
              <a:t>RFE</a:t>
            </a:r>
            <a:endParaRPr lang="tr-TR" sz="1200" dirty="0"/>
          </a:p>
        </p:txBody>
      </p:sp>
      <p:sp>
        <p:nvSpPr>
          <p:cNvPr id="26" name="Text 24"/>
          <p:cNvSpPr/>
          <p:nvPr/>
        </p:nvSpPr>
        <p:spPr>
          <a:xfrm>
            <a:off x="1343288" y="3650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Mutual Information (MI)</a:t>
            </a:r>
          </a:p>
        </p:txBody>
      </p:sp>
      <p:pic>
        <p:nvPicPr>
          <p:cNvPr id="48" name="Resim 47">
            <a:extLst>
              <a:ext uri="{FF2B5EF4-FFF2-40B4-BE49-F238E27FC236}">
                <a16:creationId xmlns:a16="http://schemas.microsoft.com/office/drawing/2014/main" id="{326A2EBB-B991-1056-ABC4-65DD2C41D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217" y="2586160"/>
            <a:ext cx="4015495" cy="824452"/>
          </a:xfrm>
          <a:prstGeom prst="rect">
            <a:avLst/>
          </a:prstGeom>
        </p:spPr>
      </p:pic>
      <p:pic>
        <p:nvPicPr>
          <p:cNvPr id="50" name="Resim 49">
            <a:extLst>
              <a:ext uri="{FF2B5EF4-FFF2-40B4-BE49-F238E27FC236}">
                <a16:creationId xmlns:a16="http://schemas.microsoft.com/office/drawing/2014/main" id="{65A42150-66C8-CF33-5F87-849F87CEB1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25"/>
          <a:stretch>
            <a:fillRect/>
          </a:stretch>
        </p:blipFill>
        <p:spPr>
          <a:xfrm>
            <a:off x="3785217" y="3717608"/>
            <a:ext cx="4292521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07 — ÖZELLIK SEÇIMI — SONUÇ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Dört yöntem aynı üç sensörde birleştiği için final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giriş seti sade ve savunulabilir.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745269" cy="23195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745269" cy="23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Özellik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59152" y="1417320"/>
            <a:ext cx="872635" cy="23195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404872" y="1417320"/>
            <a:ext cx="872635" cy="23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Korelasyon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2424" y="1417320"/>
            <a:ext cx="991630" cy="23195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438144" y="1417320"/>
            <a:ext cx="991630" cy="23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SelectKBest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53712" y="1417320"/>
            <a:ext cx="674309" cy="23195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99432" y="1417320"/>
            <a:ext cx="674309" cy="23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58384" y="1417320"/>
            <a:ext cx="674309" cy="23195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04104" y="1417320"/>
            <a:ext cx="674309" cy="23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1417320"/>
            <a:ext cx="1031295" cy="23195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208776" y="1417320"/>
            <a:ext cx="1031295" cy="23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Karar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1773936"/>
            <a:ext cx="1745269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2359152" y="1773936"/>
            <a:ext cx="872635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392424" y="1773936"/>
            <a:ext cx="991630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553712" y="1773936"/>
            <a:ext cx="674309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358384" y="1773936"/>
            <a:ext cx="674309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6163056" y="1773936"/>
            <a:ext cx="1031295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65760" y="1837944"/>
            <a:ext cx="16659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IRRADIATION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50592" y="1837944"/>
            <a:ext cx="7536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83864" y="1837944"/>
            <a:ext cx="87263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45152" y="1837944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9824" y="1837944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08776" y="1837944"/>
            <a:ext cx="95196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Seçildi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058953"/>
            <a:ext cx="1745269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2359152" y="2058953"/>
            <a:ext cx="872635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3392424" y="2058953"/>
            <a:ext cx="991630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4553712" y="2058953"/>
            <a:ext cx="674309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5358384" y="2058953"/>
            <a:ext cx="674309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6163056" y="2058953"/>
            <a:ext cx="1031295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65760" y="2122961"/>
            <a:ext cx="16659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MODULE_TEMPERATURE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50592" y="2122961"/>
            <a:ext cx="7536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83864" y="2122961"/>
            <a:ext cx="87263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45152" y="2122961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9824" y="2122961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08776" y="2122961"/>
            <a:ext cx="95196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Seçildi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2349090"/>
            <a:ext cx="1745269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2359152" y="2349090"/>
            <a:ext cx="872635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3392424" y="2349090"/>
            <a:ext cx="991630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4553712" y="2349090"/>
            <a:ext cx="674309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5358384" y="2349090"/>
            <a:ext cx="674309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6163056" y="2349090"/>
            <a:ext cx="1031295" cy="257727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365760" y="2413098"/>
            <a:ext cx="16659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AMBIENT_TEMPERATURE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450592" y="2413098"/>
            <a:ext cx="7536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6A4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83864" y="2413098"/>
            <a:ext cx="87263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645152" y="2413098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49824" y="2413098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08776" y="2413098"/>
            <a:ext cx="95196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Seçildi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20040" y="2645970"/>
            <a:ext cx="1745269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2359152" y="2645970"/>
            <a:ext cx="872635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3392424" y="2645970"/>
            <a:ext cx="991630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4553712" y="2645970"/>
            <a:ext cx="674309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5358384" y="2645970"/>
            <a:ext cx="674309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6163056" y="2645970"/>
            <a:ext cx="1031295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365760" y="2709978"/>
            <a:ext cx="16659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DAILY_YIELD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450592" y="2709978"/>
            <a:ext cx="7536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✗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483864" y="2709978"/>
            <a:ext cx="87263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✗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645152" y="2709978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✗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449824" y="2709978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✗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208776" y="2709978"/>
            <a:ext cx="95196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Elendi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20040" y="2962043"/>
            <a:ext cx="1745269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2359152" y="2962043"/>
            <a:ext cx="872635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Shape 65"/>
          <p:cNvSpPr/>
          <p:nvPr/>
        </p:nvSpPr>
        <p:spPr>
          <a:xfrm>
            <a:off x="3392424" y="2962043"/>
            <a:ext cx="991630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Shape 66"/>
          <p:cNvSpPr/>
          <p:nvPr/>
        </p:nvSpPr>
        <p:spPr>
          <a:xfrm>
            <a:off x="4553712" y="2962043"/>
            <a:ext cx="674309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Shape 67"/>
          <p:cNvSpPr/>
          <p:nvPr/>
        </p:nvSpPr>
        <p:spPr>
          <a:xfrm>
            <a:off x="5358384" y="2962043"/>
            <a:ext cx="674309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Shape 68"/>
          <p:cNvSpPr/>
          <p:nvPr/>
        </p:nvSpPr>
        <p:spPr>
          <a:xfrm>
            <a:off x="6163056" y="2962043"/>
            <a:ext cx="1031295" cy="257727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365760" y="3026051"/>
            <a:ext cx="16659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TOTAL_YIELD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2450592" y="3026051"/>
            <a:ext cx="753639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✗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483864" y="3026051"/>
            <a:ext cx="87263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✗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645152" y="3026051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✗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449824" y="3026051"/>
            <a:ext cx="555313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✗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208776" y="3026051"/>
            <a:ext cx="951965" cy="1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Elendi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7406640" y="18288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6A4F"/>
                </a:solidFill>
              </a:rPr>
              <a:t>Dört yöntemin aynı üç fiziksel değişkende birleşmesi, final modelin hem sade hem de açıklanabilir olmasını sağladı.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Text 81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A4F"/>
                </a:solidFill>
              </a:rPr>
              <a:t>07</a:t>
            </a:r>
            <a:endParaRPr lang="en-US" sz="1200" dirty="0"/>
          </a:p>
        </p:txBody>
      </p:sp>
      <p:pic>
        <p:nvPicPr>
          <p:cNvPr id="85" name="Resim 84">
            <a:extLst>
              <a:ext uri="{FF2B5EF4-FFF2-40B4-BE49-F238E27FC236}">
                <a16:creationId xmlns:a16="http://schemas.microsoft.com/office/drawing/2014/main" id="{9B1B874F-C4DC-D061-D09F-25D69978B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964" y="3311204"/>
            <a:ext cx="2662387" cy="15769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08 — MODELLEME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Beş farklı öğrenme mantığı aynı veri ayrımı üzerinde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karşılaştırıldı.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69164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74904" y="1417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39112" y="1417320"/>
            <a:ext cx="146304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093976" y="1417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Mantık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9584" y="1417320"/>
            <a:ext cx="82296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584448" y="14173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 Acc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877824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425696" y="1417320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773936"/>
            <a:ext cx="1691640" cy="402336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2039112" y="1773936"/>
            <a:ext cx="1463040" cy="402336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529584" y="1773936"/>
            <a:ext cx="822960" cy="402336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370832" y="1773936"/>
            <a:ext cx="877824" cy="402336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74904" y="1847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XGBoost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93976" y="1847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Gradient boosting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84448" y="1847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0.9740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5696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Final model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231136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039112" y="2231136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529584" y="2231136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370832" y="2231136"/>
            <a:ext cx="877824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7490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93976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Bagging ensemble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84448" y="2304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0.9734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25696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Güçlü baseline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688336"/>
            <a:ext cx="16916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2039112" y="2688336"/>
            <a:ext cx="14630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3529584" y="2688336"/>
            <a:ext cx="82296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4370832" y="2688336"/>
            <a:ext cx="877824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74904" y="2761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KNN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093976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Komşuluk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84448" y="2761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0.9719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25696" y="2761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Basit ama yüksek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3145536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2039112" y="3145536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3529584" y="3145536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4370832" y="3145536"/>
            <a:ext cx="877824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374904" y="32186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Logistic Reg.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093976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Lineer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584448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0.9499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425696" y="3218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Yorumlanabilir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3602736"/>
            <a:ext cx="16916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2039112" y="3602736"/>
            <a:ext cx="146304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3529584" y="3602736"/>
            <a:ext cx="822960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4370832" y="3602736"/>
            <a:ext cx="877824" cy="40233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374904" y="3675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Naive Bayes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093976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Olasılıksal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584448" y="3675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0.9122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425696" y="36758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Alt sınır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pic>
        <p:nvPicPr>
          <p:cNvPr id="67" name="Resim 66">
            <a:extLst>
              <a:ext uri="{FF2B5EF4-FFF2-40B4-BE49-F238E27FC236}">
                <a16:creationId xmlns:a16="http://schemas.microsoft.com/office/drawing/2014/main" id="{B1050B6D-29F6-13F9-2BE6-50A040A8F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940" y="1421139"/>
            <a:ext cx="3345020" cy="1793008"/>
          </a:xfrm>
          <a:prstGeom prst="rect">
            <a:avLst/>
          </a:prstGeom>
        </p:spPr>
      </p:pic>
      <p:sp>
        <p:nvSpPr>
          <p:cNvPr id="68" name="Dikdörtgen 67">
            <a:extLst>
              <a:ext uri="{FF2B5EF4-FFF2-40B4-BE49-F238E27FC236}">
                <a16:creationId xmlns:a16="http://schemas.microsoft.com/office/drawing/2014/main" id="{5B8200E9-F81C-71D8-DC8D-0218D362FEC6}"/>
              </a:ext>
            </a:extLst>
          </p:cNvPr>
          <p:cNvSpPr>
            <a:spLocks noGrp="1"/>
          </p:cNvSpPr>
          <p:nvPr/>
        </p:nvSpPr>
        <p:spPr>
          <a:xfrm>
            <a:off x="5641850" y="3717067"/>
            <a:ext cx="57150" cy="57150"/>
          </a:xfrm>
          <a:prstGeom prst="rect">
            <a:avLst/>
          </a:prstGeom>
          <a:solidFill>
            <a:srgbClr val="1C7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Dikdörtgen 68">
            <a:extLst>
              <a:ext uri="{FF2B5EF4-FFF2-40B4-BE49-F238E27FC236}">
                <a16:creationId xmlns:a16="http://schemas.microsoft.com/office/drawing/2014/main" id="{39AE01A2-4A51-76B4-8252-337FECF601BA}"/>
              </a:ext>
            </a:extLst>
          </p:cNvPr>
          <p:cNvSpPr>
            <a:spLocks noGrp="1"/>
          </p:cNvSpPr>
          <p:nvPr/>
        </p:nvSpPr>
        <p:spPr>
          <a:xfrm>
            <a:off x="5813300" y="3650392"/>
            <a:ext cx="304800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Adil karşılaştırma</a:t>
            </a:r>
          </a:p>
        </p:txBody>
      </p:sp>
      <p:sp>
        <p:nvSpPr>
          <p:cNvPr id="70" name="Dikdörtgen 69">
            <a:extLst>
              <a:ext uri="{FF2B5EF4-FFF2-40B4-BE49-F238E27FC236}">
                <a16:creationId xmlns:a16="http://schemas.microsoft.com/office/drawing/2014/main" id="{593217B4-5FAD-EF8B-1C67-11E6FBCE5C72}"/>
              </a:ext>
            </a:extLst>
          </p:cNvPr>
          <p:cNvSpPr>
            <a:spLocks noGrp="1"/>
          </p:cNvSpPr>
          <p:nvPr/>
        </p:nvSpPr>
        <p:spPr>
          <a:xfrm>
            <a:off x="5813300" y="3850417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57E"/>
                </a:solidFill>
                <a:latin typeface="Aptos"/>
                <a:ea typeface="Aptos"/>
                <a:cs typeface="Aptos"/>
              </a:rPr>
              <a:t>Tüm modeller aynı train/validation/test ayrımıyla eğitildi.</a:t>
            </a:r>
          </a:p>
        </p:txBody>
      </p:sp>
      <p:sp>
        <p:nvSpPr>
          <p:cNvPr id="71" name="Dikdörtgen 70">
            <a:extLst>
              <a:ext uri="{FF2B5EF4-FFF2-40B4-BE49-F238E27FC236}">
                <a16:creationId xmlns:a16="http://schemas.microsoft.com/office/drawing/2014/main" id="{1CA1CE86-FC18-C9EA-86EE-8E323CE02788}"/>
              </a:ext>
            </a:extLst>
          </p:cNvPr>
          <p:cNvSpPr>
            <a:spLocks noGrp="1"/>
          </p:cNvSpPr>
          <p:nvPr/>
        </p:nvSpPr>
        <p:spPr>
          <a:xfrm>
            <a:off x="5641850" y="4269517"/>
            <a:ext cx="57150" cy="57150"/>
          </a:xfrm>
          <a:prstGeom prst="rect">
            <a:avLst/>
          </a:prstGeom>
          <a:solidFill>
            <a:srgbClr val="D28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Dikdörtgen 71">
            <a:extLst>
              <a:ext uri="{FF2B5EF4-FFF2-40B4-BE49-F238E27FC236}">
                <a16:creationId xmlns:a16="http://schemas.microsoft.com/office/drawing/2014/main" id="{1067AFF9-5BB8-33B6-BD58-3C34C324295D}"/>
              </a:ext>
            </a:extLst>
          </p:cNvPr>
          <p:cNvSpPr>
            <a:spLocks noGrp="1"/>
          </p:cNvSpPr>
          <p:nvPr/>
        </p:nvSpPr>
        <p:spPr>
          <a:xfrm>
            <a:off x="5813300" y="4202842"/>
            <a:ext cx="304800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Final seçim</a:t>
            </a:r>
          </a:p>
        </p:txBody>
      </p:sp>
      <p:sp>
        <p:nvSpPr>
          <p:cNvPr id="73" name="Dikdörtgen 72">
            <a:extLst>
              <a:ext uri="{FF2B5EF4-FFF2-40B4-BE49-F238E27FC236}">
                <a16:creationId xmlns:a16="http://schemas.microsoft.com/office/drawing/2014/main" id="{79065DB8-7CA0-1924-165B-7E6AB124C0A1}"/>
              </a:ext>
            </a:extLst>
          </p:cNvPr>
          <p:cNvSpPr>
            <a:spLocks noGrp="1"/>
          </p:cNvSpPr>
          <p:nvPr/>
        </p:nvSpPr>
        <p:spPr>
          <a:xfrm>
            <a:off x="5813300" y="4402867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57E"/>
                </a:solidFill>
                <a:latin typeface="Aptos"/>
                <a:ea typeface="Aptos"/>
                <a:cs typeface="Aptos"/>
              </a:rPr>
              <a:t>XGBoost validation ve test tarafında en dengeli sonucu verdi.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09 — CONFUSION MATRISLERI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Karışıklık Matrisleri — Test Seti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8183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Binary: Düşük (0) vs Yüksek (1)  |  5 model  |  13.772 test kaydı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435" y="3520811"/>
            <a:ext cx="150876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97011" y="3520811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96627" y="3520811"/>
            <a:ext cx="64008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833203" y="3520811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4995" y="3520811"/>
            <a:ext cx="64008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491571" y="3520811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13363" y="3520811"/>
            <a:ext cx="64008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149939" y="3520811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71731" y="3520811"/>
            <a:ext cx="64008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808307" y="3520811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0099" y="3520811"/>
            <a:ext cx="137160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466675" y="3520811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Yanlış Sınıf.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29131" y="3520811"/>
            <a:ext cx="82296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925312" y="3931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0435" y="3831707"/>
            <a:ext cx="1508760" cy="169164"/>
          </a:xfrm>
          <a:prstGeom prst="rect">
            <a:avLst/>
          </a:prstGeom>
          <a:solidFill>
            <a:srgbClr val="D8F3D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297011" y="3849995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XGBoost 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96627" y="3831707"/>
            <a:ext cx="640080" cy="169164"/>
          </a:xfrm>
          <a:prstGeom prst="rect">
            <a:avLst/>
          </a:prstGeom>
          <a:solidFill>
            <a:srgbClr val="D8F3D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1833203" y="3849995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7019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54995" y="3831707"/>
            <a:ext cx="640080" cy="169164"/>
          </a:xfrm>
          <a:prstGeom prst="rect">
            <a:avLst/>
          </a:prstGeom>
          <a:solidFill>
            <a:srgbClr val="D8F3D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2491571" y="3849995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180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13363" y="3831707"/>
            <a:ext cx="640080" cy="169164"/>
          </a:xfrm>
          <a:prstGeom prst="rect">
            <a:avLst/>
          </a:prstGeom>
          <a:solidFill>
            <a:srgbClr val="D8F3D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149939" y="3849995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156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71731" y="3831707"/>
            <a:ext cx="640080" cy="169164"/>
          </a:xfrm>
          <a:prstGeom prst="rect">
            <a:avLst/>
          </a:prstGeom>
          <a:solidFill>
            <a:srgbClr val="D8F3D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808307" y="3849995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6417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30099" y="3831707"/>
            <a:ext cx="1371600" cy="169164"/>
          </a:xfrm>
          <a:prstGeom prst="rect">
            <a:avLst/>
          </a:prstGeom>
          <a:solidFill>
            <a:srgbClr val="D8F3D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466675" y="3849995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336 / 13.772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29131" y="3831707"/>
            <a:ext cx="822960" cy="169164"/>
          </a:xfrm>
          <a:prstGeom prst="rect">
            <a:avLst/>
          </a:prstGeom>
          <a:solidFill>
            <a:srgbClr val="D8F3D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5865707" y="3849995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0.9742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0435" y="4010015"/>
            <a:ext cx="150876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297011" y="4028303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796627" y="4010015"/>
            <a:ext cx="64008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1833203" y="4028303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7032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454995" y="4010015"/>
            <a:ext cx="64008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2491571" y="4028303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167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13363" y="4010015"/>
            <a:ext cx="64008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3149939" y="4028303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189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771731" y="4010015"/>
            <a:ext cx="64008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3808307" y="4028303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6384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430099" y="4010015"/>
            <a:ext cx="137160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466675" y="4028303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356 / 13.772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829131" y="4010015"/>
            <a:ext cx="82296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5865707" y="4028303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0.9737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60435" y="4188323"/>
            <a:ext cx="150876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297011" y="4206611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KNN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796627" y="4188323"/>
            <a:ext cx="64008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1833203" y="4206611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6984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454995" y="4188323"/>
            <a:ext cx="64008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2491571" y="4206611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215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113363" y="4188323"/>
            <a:ext cx="64008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3149939" y="4206611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167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771731" y="4188323"/>
            <a:ext cx="64008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3808307" y="4206611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6406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430099" y="4188323"/>
            <a:ext cx="137160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4466675" y="4206611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382 / 13.772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829131" y="4188323"/>
            <a:ext cx="82296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5865707" y="4206611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0.9719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60435" y="4366631"/>
            <a:ext cx="150876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63"/>
          <p:cNvSpPr/>
          <p:nvPr/>
        </p:nvSpPr>
        <p:spPr>
          <a:xfrm>
            <a:off x="297011" y="4384919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Logistic Reg.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796627" y="4366631"/>
            <a:ext cx="64008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1833203" y="4384919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6765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454995" y="4366631"/>
            <a:ext cx="64008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2491571" y="4384919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434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113363" y="4366631"/>
            <a:ext cx="64008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3149939" y="4384919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276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3771731" y="4366631"/>
            <a:ext cx="64008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 71"/>
          <p:cNvSpPr/>
          <p:nvPr/>
        </p:nvSpPr>
        <p:spPr>
          <a:xfrm>
            <a:off x="3808307" y="4384919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6297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430099" y="4366631"/>
            <a:ext cx="137160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Text 73"/>
          <p:cNvSpPr/>
          <p:nvPr/>
        </p:nvSpPr>
        <p:spPr>
          <a:xfrm>
            <a:off x="4466675" y="4384919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710 / 13.772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829131" y="4366631"/>
            <a:ext cx="822960" cy="16916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Text 75"/>
          <p:cNvSpPr/>
          <p:nvPr/>
        </p:nvSpPr>
        <p:spPr>
          <a:xfrm>
            <a:off x="5865707" y="4384919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0.9483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60435" y="4544939"/>
            <a:ext cx="150876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Text 77"/>
          <p:cNvSpPr/>
          <p:nvPr/>
        </p:nvSpPr>
        <p:spPr>
          <a:xfrm>
            <a:off x="297011" y="4563227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Naive Bayes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796627" y="4544939"/>
            <a:ext cx="64008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1" name="Text 79"/>
          <p:cNvSpPr/>
          <p:nvPr/>
        </p:nvSpPr>
        <p:spPr>
          <a:xfrm>
            <a:off x="1833203" y="4563227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6512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2454995" y="4544939"/>
            <a:ext cx="64008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Text 81"/>
          <p:cNvSpPr/>
          <p:nvPr/>
        </p:nvSpPr>
        <p:spPr>
          <a:xfrm>
            <a:off x="2491571" y="4563227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687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3113363" y="4544939"/>
            <a:ext cx="64008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Text 83"/>
          <p:cNvSpPr/>
          <p:nvPr/>
        </p:nvSpPr>
        <p:spPr>
          <a:xfrm>
            <a:off x="3149939" y="4563227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447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3771731" y="4544939"/>
            <a:ext cx="64008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7" name="Text 85"/>
          <p:cNvSpPr/>
          <p:nvPr/>
        </p:nvSpPr>
        <p:spPr>
          <a:xfrm>
            <a:off x="3808307" y="4563227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6126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4430099" y="4544939"/>
            <a:ext cx="137160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9" name="Text 87"/>
          <p:cNvSpPr/>
          <p:nvPr/>
        </p:nvSpPr>
        <p:spPr>
          <a:xfrm>
            <a:off x="4466675" y="4563227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1134 / 13.772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5829131" y="4544939"/>
            <a:ext cx="822960" cy="169164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1" name="Text 89"/>
          <p:cNvSpPr/>
          <p:nvPr/>
        </p:nvSpPr>
        <p:spPr>
          <a:xfrm>
            <a:off x="5865707" y="4563227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0.9169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3" name="Text 91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A4F"/>
                </a:solidFill>
              </a:rPr>
              <a:t>09</a:t>
            </a:r>
            <a:endParaRPr lang="en-US" sz="1200" dirty="0"/>
          </a:p>
        </p:txBody>
      </p:sp>
      <p:pic>
        <p:nvPicPr>
          <p:cNvPr id="95" name="Resim 94">
            <a:extLst>
              <a:ext uri="{FF2B5EF4-FFF2-40B4-BE49-F238E27FC236}">
                <a16:creationId xmlns:a16="http://schemas.microsoft.com/office/drawing/2014/main" id="{B745D8B0-6EE3-0828-DAEB-E24F422996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719" r="66701"/>
          <a:stretch>
            <a:fillRect/>
          </a:stretch>
        </p:blipFill>
        <p:spPr>
          <a:xfrm>
            <a:off x="6839465" y="1161288"/>
            <a:ext cx="1940011" cy="1793316"/>
          </a:xfrm>
          <a:prstGeom prst="rect">
            <a:avLst/>
          </a:prstGeom>
        </p:spPr>
      </p:pic>
      <p:pic>
        <p:nvPicPr>
          <p:cNvPr id="96" name="Resim 95">
            <a:extLst>
              <a:ext uri="{FF2B5EF4-FFF2-40B4-BE49-F238E27FC236}">
                <a16:creationId xmlns:a16="http://schemas.microsoft.com/office/drawing/2014/main" id="{0D63D365-1843-44FF-BCF3-5ED0266D7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439"/>
          <a:stretch>
            <a:fillRect/>
          </a:stretch>
        </p:blipFill>
        <p:spPr>
          <a:xfrm>
            <a:off x="407076" y="1092708"/>
            <a:ext cx="6245015" cy="2052869"/>
          </a:xfrm>
          <a:prstGeom prst="rect">
            <a:avLst/>
          </a:prstGeom>
        </p:spPr>
      </p:pic>
      <p:pic>
        <p:nvPicPr>
          <p:cNvPr id="97" name="Resim 96">
            <a:extLst>
              <a:ext uri="{FF2B5EF4-FFF2-40B4-BE49-F238E27FC236}">
                <a16:creationId xmlns:a16="http://schemas.microsoft.com/office/drawing/2014/main" id="{A36CBA25-700F-77C3-E32B-096637AC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32" t="50892" r="32328"/>
          <a:stretch>
            <a:fillRect/>
          </a:stretch>
        </p:blipFill>
        <p:spPr>
          <a:xfrm>
            <a:off x="6790285" y="3005174"/>
            <a:ext cx="2088292" cy="19551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10 — MODEL DEĞERLENDIRME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her metrikte lider — dengeli ve güvenilir.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60020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56616" y="14173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47672" y="1417320"/>
            <a:ext cx="96012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984248" y="1417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35224" y="1417320"/>
            <a:ext cx="96012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971800" y="14173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13632" y="1417320"/>
            <a:ext cx="91440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950208" y="1417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86868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882896" y="1417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417320"/>
            <a:ext cx="86868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779008" y="14173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1417320"/>
            <a:ext cx="150876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665976" y="1417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Yanlış Sınıf.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1773936"/>
            <a:ext cx="160020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65760" y="1865376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XGBoost 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47672" y="1773936"/>
            <a:ext cx="96012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993392" y="186537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0.9742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35224" y="1773936"/>
            <a:ext cx="96012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2980944" y="186537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0.974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13632" y="1773936"/>
            <a:ext cx="91440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959352" y="18653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0.977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773936"/>
            <a:ext cx="86868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892040" y="1865376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0.975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42432" y="1773936"/>
            <a:ext cx="86868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788152" y="1865376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0.997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1773936"/>
            <a:ext cx="1508760" cy="457200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675120" y="186537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336 / 13.772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2286000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65760" y="237744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947672" y="2286000"/>
            <a:ext cx="960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993392" y="23774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0.9737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35224" y="2286000"/>
            <a:ext cx="960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2980944" y="23774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913632" y="228600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3959352" y="237744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2286000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892040" y="23774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42432" y="2286000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788152" y="23774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0.997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29400" y="228600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6675120" y="237744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356 / 13.772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0040" y="2798064"/>
            <a:ext cx="16002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365760" y="288950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KNN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947672" y="2798064"/>
            <a:ext cx="9601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1993392" y="28895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0.9719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935224" y="2798064"/>
            <a:ext cx="9601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2980944" y="28895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913632" y="2798064"/>
            <a:ext cx="9144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3959352" y="288950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0.976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846320" y="2798064"/>
            <a:ext cx="86868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4892040" y="288950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0.973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42432" y="2798064"/>
            <a:ext cx="86868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5788152" y="288950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0.996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29400" y="2798064"/>
            <a:ext cx="150876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6675120" y="288950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382 / 13.772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20040" y="3310128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365760" y="340156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Logistic Reg.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1947672" y="3310128"/>
            <a:ext cx="960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1993392" y="340156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0.9483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935224" y="3310128"/>
            <a:ext cx="960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2980944" y="340156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0.947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913632" y="3310128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3959352" y="34015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0.958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846320" y="3310128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8"/>
          <p:cNvSpPr/>
          <p:nvPr/>
        </p:nvSpPr>
        <p:spPr>
          <a:xfrm>
            <a:off x="4892040" y="340156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0.952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42432" y="3310128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Text 70"/>
          <p:cNvSpPr/>
          <p:nvPr/>
        </p:nvSpPr>
        <p:spPr>
          <a:xfrm>
            <a:off x="5788152" y="340156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0.982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29400" y="3310128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Text 72"/>
          <p:cNvSpPr/>
          <p:nvPr/>
        </p:nvSpPr>
        <p:spPr>
          <a:xfrm>
            <a:off x="6675120" y="34015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710 / 13.772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20040" y="3822192"/>
            <a:ext cx="16002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Text 74"/>
          <p:cNvSpPr/>
          <p:nvPr/>
        </p:nvSpPr>
        <p:spPr>
          <a:xfrm>
            <a:off x="365760" y="3913632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Naive Bayes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1947672" y="3822192"/>
            <a:ext cx="9601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8" name="Text 76"/>
          <p:cNvSpPr/>
          <p:nvPr/>
        </p:nvSpPr>
        <p:spPr>
          <a:xfrm>
            <a:off x="1993392" y="391363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0.9169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935224" y="3822192"/>
            <a:ext cx="9601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Text 78"/>
          <p:cNvSpPr/>
          <p:nvPr/>
        </p:nvSpPr>
        <p:spPr>
          <a:xfrm>
            <a:off x="2980944" y="391363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0.917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913632" y="3822192"/>
            <a:ext cx="9144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Text 80"/>
          <p:cNvSpPr/>
          <p:nvPr/>
        </p:nvSpPr>
        <p:spPr>
          <a:xfrm>
            <a:off x="3959352" y="39136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0.932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846320" y="3822192"/>
            <a:ext cx="86868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Text 82"/>
          <p:cNvSpPr/>
          <p:nvPr/>
        </p:nvSpPr>
        <p:spPr>
          <a:xfrm>
            <a:off x="4892040" y="3913632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0.924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742432" y="3822192"/>
            <a:ext cx="86868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6" name="Text 84"/>
          <p:cNvSpPr/>
          <p:nvPr/>
        </p:nvSpPr>
        <p:spPr>
          <a:xfrm>
            <a:off x="5788152" y="3913632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0.955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6629400" y="3822192"/>
            <a:ext cx="150876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8" name="Text 86"/>
          <p:cNvSpPr/>
          <p:nvPr/>
        </p:nvSpPr>
        <p:spPr>
          <a:xfrm>
            <a:off x="6675120" y="391363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1134 / 13.772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320040" y="440740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6A4F"/>
                </a:solidFill>
              </a:rPr>
              <a:t>★  XGBoost validation ve test tarafında en dengeli sonucu verdi → Final model.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1" name="Text 89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A4F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11 — ROC ANALIZI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AUC değerleri modellerin sınıfları güçlü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ayırdığını gösteriyor.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577840" y="1417320"/>
          <a:ext cx="3246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577840" y="40690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</a:rPr>
              <a:t>Eğrilerin sol üst köşeye yakın olması, düşük ve yüksek üretim sınıflarının çok iyi ayrıldığını gösterir.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A4F"/>
                </a:solidFill>
              </a:rPr>
              <a:t>11</a:t>
            </a:r>
            <a:endParaRPr lang="en-US" sz="1200" dirty="0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1F761137-A445-1AD1-F2A6-FA19747E5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0040" y="1612653"/>
            <a:ext cx="4860237" cy="30109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12 — PRECISION-RECALL ANALIZI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yüksek kaldığı için model yüksek üretim anlarını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kaçırmama tarafında güçlü.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141732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614416" y="1417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1417320"/>
            <a:ext cx="68580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077456" y="14173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 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1417320"/>
            <a:ext cx="105156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808976" y="14173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Yorum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1737360"/>
            <a:ext cx="141732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040880" y="1737360"/>
            <a:ext cx="68580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772400" y="1737360"/>
            <a:ext cx="1051560" cy="347472"/>
          </a:xfrm>
          <a:prstGeom prst="rect">
            <a:avLst/>
          </a:prstGeom>
          <a:solidFill>
            <a:srgbClr val="D8F3D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614416" y="179222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XGBoost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77456" y="179222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0.9968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08976" y="1792224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En güçlü PR alanı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2139696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040880" y="2139696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7772400" y="2139696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614416" y="219456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77456" y="2194560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0.9962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08976" y="219456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Çok yakın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2542032"/>
            <a:ext cx="141732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7040880" y="2542032"/>
            <a:ext cx="6858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7772400" y="2542032"/>
            <a:ext cx="105156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614416" y="2596896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KNN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77456" y="2596896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0.9946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08976" y="259689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Yüksek recall korunuyor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77840" y="2944368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7040880" y="2944368"/>
            <a:ext cx="685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7772400" y="294436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614416" y="299923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Logistic Reg.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77456" y="2999232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0.9781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08976" y="2999232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İyi baseline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3346704"/>
            <a:ext cx="141732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7040880" y="3346704"/>
            <a:ext cx="6858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7772400" y="3346704"/>
            <a:ext cx="105156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614416" y="340156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Naive Bayes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77456" y="3401568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0.9302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808976" y="3401568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En düşük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77840" y="38404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</a:rPr>
              <a:t>PR grafiği özellikle pozitif sınıfı, yani yüksek üretim anlarını yakalama kalitesini okumak için kullanıldı.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A4F"/>
                </a:solidFill>
              </a:rPr>
              <a:t>12</a:t>
            </a:r>
            <a:endParaRPr lang="en-US" sz="1200" dirty="0"/>
          </a:p>
        </p:txBody>
      </p:sp>
      <p:pic>
        <p:nvPicPr>
          <p:cNvPr id="47" name="Resim 46">
            <a:extLst>
              <a:ext uri="{FF2B5EF4-FFF2-40B4-BE49-F238E27FC236}">
                <a16:creationId xmlns:a16="http://schemas.microsoft.com/office/drawing/2014/main" id="{5F5EBFA3-4EFD-CEB8-7C7D-45501166F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3464" y="1481749"/>
            <a:ext cx="4899082" cy="30349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5"/>
          <p:cNvSpPr/>
          <p:nvPr/>
        </p:nvSpPr>
        <p:spPr>
          <a:xfrm>
            <a:off x="298864" y="1515618"/>
            <a:ext cx="5182000" cy="15956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13 — ÖZELLIK ÖNEMI &amp; SHAP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ve SHAP aynı sonuca işaret ediyor: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IRRADIATION kararın ana ekseni.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0" y="1417320"/>
            <a:ext cx="3200400" cy="9875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623560" y="1417320"/>
            <a:ext cx="50292" cy="9875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788152" y="15087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IRRADIATION baskın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88152" y="178308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Hem Random Forest hem XGBoost önem grafiğinde en yüksek katkı ışınımdan geliyor.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2560320"/>
            <a:ext cx="3200400" cy="9875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623560" y="2560320"/>
            <a:ext cx="5029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788152" y="26517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Sıcaklıklar tamamlayıcı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88152" y="292608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Modül ve ortam sıcaklığı karar sınırını rafine eden yardımcı sinyaller.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23560" y="3703320"/>
            <a:ext cx="3200400" cy="9875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623560" y="3703320"/>
            <a:ext cx="50292" cy="9875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788152" y="37947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Kara kutu güveni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88152" y="406908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Ağaç tabanlı model yüksek skor verdiği için SHAP ile karar mantığı ayrıca açıklandı.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A4F"/>
                </a:solidFill>
              </a:rPr>
              <a:t>13</a:t>
            </a:r>
            <a:endParaRPr lang="en-US" sz="1200" dirty="0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E683DC00-9BF6-3E24-0B06-3F11D20ED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211" y="1565391"/>
            <a:ext cx="3579889" cy="1486938"/>
          </a:xfrm>
          <a:prstGeom prst="rect">
            <a:avLst/>
          </a:prstGeom>
        </p:spPr>
      </p:pic>
      <p:sp>
        <p:nvSpPr>
          <p:cNvPr id="27" name="Shape 5">
            <a:extLst>
              <a:ext uri="{FF2B5EF4-FFF2-40B4-BE49-F238E27FC236}">
                <a16:creationId xmlns:a16="http://schemas.microsoft.com/office/drawing/2014/main" id="{8C47269D-DBCF-4800-3FFB-66AB4F17EA1F}"/>
              </a:ext>
            </a:extLst>
          </p:cNvPr>
          <p:cNvSpPr/>
          <p:nvPr/>
        </p:nvSpPr>
        <p:spPr>
          <a:xfrm>
            <a:off x="298864" y="3317505"/>
            <a:ext cx="512064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9" name="Resim 28">
            <a:extLst>
              <a:ext uri="{FF2B5EF4-FFF2-40B4-BE49-F238E27FC236}">
                <a16:creationId xmlns:a16="http://schemas.microsoft.com/office/drawing/2014/main" id="{8D814AAE-D8D5-854E-EA4B-F74D60296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211" y="3379470"/>
            <a:ext cx="3579889" cy="12199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13 — SHAP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 kutu model tek tahmin seviyesinde de açıklanabilir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hale getirildi.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120640" cy="1691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</a:rPr>
              <a:t>[ SHAP Summary Plot — XGBoost (Test Seti) 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200400"/>
            <a:ext cx="512064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</a:rPr>
              <a:t>[ SHAP Waterfall — Test[0] için Açıklama 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A4F"/>
                </a:solidFill>
              </a:rPr>
              <a:t>13</a:t>
            </a:r>
            <a:endParaRPr lang="en-US" sz="1200" dirty="0"/>
          </a:p>
        </p:txBody>
      </p:sp>
      <p:pic>
        <p:nvPicPr>
          <p:cNvPr id="24" name="Resim 23">
            <a:extLst>
              <a:ext uri="{FF2B5EF4-FFF2-40B4-BE49-F238E27FC236}">
                <a16:creationId xmlns:a16="http://schemas.microsoft.com/office/drawing/2014/main" id="{5A0C2152-3D28-3C73-9E78-59893920B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92" y="1614465"/>
            <a:ext cx="3754493" cy="1229319"/>
          </a:xfrm>
          <a:prstGeom prst="rect">
            <a:avLst/>
          </a:prstGeom>
        </p:spPr>
      </p:pic>
      <p:pic>
        <p:nvPicPr>
          <p:cNvPr id="26" name="Resim 25">
            <a:extLst>
              <a:ext uri="{FF2B5EF4-FFF2-40B4-BE49-F238E27FC236}">
                <a16:creationId xmlns:a16="http://schemas.microsoft.com/office/drawing/2014/main" id="{E136C2A1-18FA-81D3-771B-389091CCF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92" y="3246120"/>
            <a:ext cx="3823413" cy="1345511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D5B82D2A-8A20-CC7A-7039-166B7F3E7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088898"/>
            <a:ext cx="2880360" cy="2038350"/>
          </a:xfrm>
          <a:prstGeom prst="rect">
            <a:avLst/>
          </a:prstGeom>
        </p:spPr>
      </p:pic>
      <p:sp>
        <p:nvSpPr>
          <p:cNvPr id="28" name="Dikdörtgen 27">
            <a:extLst>
              <a:ext uri="{FF2B5EF4-FFF2-40B4-BE49-F238E27FC236}">
                <a16:creationId xmlns:a16="http://schemas.microsoft.com/office/drawing/2014/main" id="{59F7CEB0-7041-906F-E39A-D68FDB6F3849}"/>
              </a:ext>
            </a:extLst>
          </p:cNvPr>
          <p:cNvSpPr>
            <a:spLocks noGrp="1"/>
          </p:cNvSpPr>
          <p:nvPr/>
        </p:nvSpPr>
        <p:spPr>
          <a:xfrm>
            <a:off x="5703570" y="3405759"/>
            <a:ext cx="57150" cy="57150"/>
          </a:xfrm>
          <a:prstGeom prst="rect">
            <a:avLst/>
          </a:prstGeom>
          <a:solidFill>
            <a:srgbClr val="1C7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ED8926B2-8B72-3EED-E4F6-A2A0465BCBA7}"/>
              </a:ext>
            </a:extLst>
          </p:cNvPr>
          <p:cNvSpPr>
            <a:spLocks noGrp="1"/>
          </p:cNvSpPr>
          <p:nvPr/>
        </p:nvSpPr>
        <p:spPr>
          <a:xfrm>
            <a:off x="5875020" y="3339084"/>
            <a:ext cx="300000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Summary plot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29807D45-751D-DD4E-7025-B7259CE5FDE9}"/>
              </a:ext>
            </a:extLst>
          </p:cNvPr>
          <p:cNvSpPr>
            <a:spLocks noGrp="1"/>
          </p:cNvSpPr>
          <p:nvPr/>
        </p:nvSpPr>
        <p:spPr>
          <a:xfrm>
            <a:off x="5875020" y="3539109"/>
            <a:ext cx="3000000" cy="3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Özelliklerin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model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çıktısını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hangi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yönde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ittiğini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toplu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halde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66757E"/>
                </a:solidFill>
                <a:latin typeface="Aptos"/>
                <a:ea typeface="Aptos"/>
                <a:cs typeface="Aptos"/>
              </a:rPr>
              <a:t>gösterir</a:t>
            </a:r>
            <a:r>
              <a:rPr sz="1200" b="0" dirty="0">
                <a:solidFill>
                  <a:srgbClr val="66757E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D325AA50-AA18-2115-DC15-DD2483289871}"/>
              </a:ext>
            </a:extLst>
          </p:cNvPr>
          <p:cNvSpPr>
            <a:spLocks noGrp="1"/>
          </p:cNvSpPr>
          <p:nvPr/>
        </p:nvSpPr>
        <p:spPr>
          <a:xfrm>
            <a:off x="5703570" y="3958209"/>
            <a:ext cx="57150" cy="57150"/>
          </a:xfrm>
          <a:prstGeom prst="rect">
            <a:avLst/>
          </a:prstGeom>
          <a:solidFill>
            <a:srgbClr val="D28A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BE9CCF44-C8E2-8904-45CD-C0749E6E0229}"/>
              </a:ext>
            </a:extLst>
          </p:cNvPr>
          <p:cNvSpPr>
            <a:spLocks noGrp="1"/>
          </p:cNvSpPr>
          <p:nvPr/>
        </p:nvSpPr>
        <p:spPr>
          <a:xfrm>
            <a:off x="5875020" y="3891534"/>
            <a:ext cx="300000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Waterfall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D1D493B-349D-4686-493A-07C64B862EB8}"/>
              </a:ext>
            </a:extLst>
          </p:cNvPr>
          <p:cNvSpPr>
            <a:spLocks noGrp="1"/>
          </p:cNvSpPr>
          <p:nvPr/>
        </p:nvSpPr>
        <p:spPr>
          <a:xfrm>
            <a:off x="5875020" y="4091559"/>
            <a:ext cx="3000000" cy="3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57E"/>
                </a:solidFill>
                <a:latin typeface="Aptos"/>
                <a:ea typeface="Aptos"/>
                <a:cs typeface="Aptos"/>
              </a:rPr>
              <a:t>Tek bir tahminde hangi sensörün kararı ne kadar artırıp azalttığını gösterir.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D11BC16D-5341-C45E-8DD3-3E12E000AB06}"/>
              </a:ext>
            </a:extLst>
          </p:cNvPr>
          <p:cNvSpPr>
            <a:spLocks noGrp="1"/>
          </p:cNvSpPr>
          <p:nvPr/>
        </p:nvSpPr>
        <p:spPr>
          <a:xfrm>
            <a:off x="5703570" y="4510659"/>
            <a:ext cx="57150" cy="57150"/>
          </a:xfrm>
          <a:prstGeom prst="rect">
            <a:avLst/>
          </a:prstGeom>
          <a:solidFill>
            <a:srgbClr val="1C7C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6C3C0B5A-4390-642F-1624-062E10A9B346}"/>
              </a:ext>
            </a:extLst>
          </p:cNvPr>
          <p:cNvSpPr>
            <a:spLocks noGrp="1"/>
          </p:cNvSpPr>
          <p:nvPr/>
        </p:nvSpPr>
        <p:spPr>
          <a:xfrm>
            <a:off x="5875020" y="4443984"/>
            <a:ext cx="300000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8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SHAP Yorumu</a:t>
            </a:r>
          </a:p>
        </p:txBody>
      </p:sp>
      <p:sp>
        <p:nvSpPr>
          <p:cNvPr id="200" name="SHAP_Desc"/>
          <p:cNvSpPr>
            <a:spLocks noGrp="1"/>
          </p:cNvSpPr>
          <p:nvPr/>
        </p:nvSpPr>
        <p:spPr>
          <a:xfrm>
            <a:off x="5875020" y="4644984"/>
            <a:ext cx="300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57E"/>
                </a:solidFill>
                <a:latin typeface="Aptos"/>
              </a:defRPr>
            </a:pPr>
            <a:r>
              <a:rPr sz="1000" b="0">
                <a:solidFill>
                  <a:srgbClr val="66757E"/>
                </a:solidFill>
                <a:latin typeface="Aptos"/>
              </a:rPr>
              <a:t>Model kararları tek tahmin bazında açıklandı.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925" y="-32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2B788"/>
                </a:solidFill>
              </a:rPr>
              <a:t>14 — STREAMLIT UYGULAMASI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Uygulaması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0332" y="998621"/>
            <a:ext cx="8362188" cy="446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Eğitilmiş XGBoost modeli gerçek zamanlı tahmin arayüzüne entegre </a:t>
            </a:r>
            <a:r>
              <a:rPr lang="en-US" sz="1200" i="1" dirty="0" err="1">
                <a:solidFill>
                  <a:srgbClr val="6B7280"/>
                </a:solidFill>
              </a:rPr>
              <a:t>edildi</a:t>
            </a:r>
            <a:r>
              <a:rPr lang="en-US" sz="1200" i="1" dirty="0">
                <a:solidFill>
                  <a:srgbClr val="6B7280"/>
                </a:solidFill>
              </a:rPr>
              <a:t>.</a:t>
            </a:r>
            <a:endParaRPr lang="tr-TR" sz="1200" i="1" dirty="0">
              <a:solidFill>
                <a:srgbClr val="6B7280"/>
              </a:solidFill>
            </a:endParaRPr>
          </a:p>
          <a:p>
            <a:r>
              <a:rPr lang="tr-TR" sz="1200" b="1" i="1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Link: https://bim322-solar-power-prediction.streamlit.app/</a:t>
            </a:r>
            <a:endParaRPr lang="en-US" sz="12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417319"/>
            <a:ext cx="2862072" cy="100703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84632" y="1508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🎛️  Kullanıcı Girdisi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2069" y="16276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Irradiation, Module Temperature ve Ambient Temperature değerleri slider ile ayarlanır.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9549" y="1417319"/>
            <a:ext cx="2788920" cy="100703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410712" y="1508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⚡  Anlık Tahmin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1291" y="1655783"/>
            <a:ext cx="246888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Model girdi değerlerini alır, normalize eder ve Düşük / Yüksek üretim tahmini döndürür.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788920" cy="100703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336792" y="1508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📊  Görsel Çıktı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49225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Tahmin sonucu renk kodlu gösterim ve sınıf olasılıkları ile ekranda gösterilir.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956048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11480" y="49926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BIM 322 — Makine Öğrenmesi ve Uygulamaları  |  Solar Power Generation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A4F"/>
                </a:solidFill>
              </a:rPr>
              <a:t>14</a:t>
            </a:r>
            <a:endParaRPr lang="en-US" sz="1200" dirty="0"/>
          </a:p>
        </p:txBody>
      </p:sp>
      <p:pic>
        <p:nvPicPr>
          <p:cNvPr id="24" name="Resim 23">
            <a:extLst>
              <a:ext uri="{FF2B5EF4-FFF2-40B4-BE49-F238E27FC236}">
                <a16:creationId xmlns:a16="http://schemas.microsoft.com/office/drawing/2014/main" id="{5C1933FB-9803-C489-B391-E6A05593D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660241"/>
            <a:ext cx="2060047" cy="1744762"/>
          </a:xfrm>
          <a:prstGeom prst="rect">
            <a:avLst/>
          </a:prstGeom>
        </p:spPr>
      </p:pic>
      <p:pic>
        <p:nvPicPr>
          <p:cNvPr id="26" name="Resim 25">
            <a:extLst>
              <a:ext uri="{FF2B5EF4-FFF2-40B4-BE49-F238E27FC236}">
                <a16:creationId xmlns:a16="http://schemas.microsoft.com/office/drawing/2014/main" id="{18D6B11A-6DE3-2FF9-ED84-31B432D36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208" y="2662285"/>
            <a:ext cx="2899457" cy="1742718"/>
          </a:xfrm>
          <a:prstGeom prst="rect">
            <a:avLst/>
          </a:prstGeom>
        </p:spPr>
      </p:pic>
      <p:pic>
        <p:nvPicPr>
          <p:cNvPr id="28" name="Resim 27">
            <a:extLst>
              <a:ext uri="{FF2B5EF4-FFF2-40B4-BE49-F238E27FC236}">
                <a16:creationId xmlns:a16="http://schemas.microsoft.com/office/drawing/2014/main" id="{6C301143-83E4-3BA9-C131-2D0154DD3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3786" y="2662285"/>
            <a:ext cx="1939449" cy="19055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0"/>
            <a:ext cx="36576" cy="1645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219202" y="5486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 &amp; Değerlendirme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11480" y="1060704"/>
            <a:ext cx="54864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XGBoost en yüksek accuracy (97.42%) ve AUC (0.997) değerleriyle final model seçildi.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</a:rPr>
              <a:t>Tüm modeller %91+ → veri seti temiz, özellikler güçlü.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20824"/>
            <a:ext cx="54864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4 farklı özellik seçim yöntemi IRRADIATION, MODULE_TEMPERATURE, AMBIENT_TEMPERATURE üçlüsünde birleşti.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</a:rPr>
              <a:t>Özellik seçimi sade ve fiziksel olarak savunulabilir.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80944"/>
            <a:ext cx="54864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Data leakage önlendi: Scaler ve threshold sadece train verisinden türetildi.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291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</a:rPr>
              <a:t>Yüksek skor güvenilirliği, test bilgisinin eğitime karışmamasına bağlı.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941064"/>
            <a:ext cx="54864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SHAP ile model kara kutu olmaktan çıkarıldı; tek tahmin seviyesinde açıklanabilirlik sağlandı.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</a:rPr>
              <a:t>IRRADIATION her tahminde baskın değişken olarak öne çıkıyor.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A4F"/>
                </a:solidFill>
              </a:rPr>
              <a:t>Büşra Demir — 030123075  ·  Nazenin Tatar — 030123053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EBF8454-2034-47D1-80FB-BB834EC5281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af4188b-5421-421a-b5d1-792b6d22b70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1876</Words>
  <Application>Microsoft Office PowerPoint</Application>
  <PresentationFormat>Ekran Gösterisi (16:9)</PresentationFormat>
  <Paragraphs>456</Paragraphs>
  <Slides>20</Slides>
  <Notes>20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Aptos</vt:lpstr>
      <vt:lpstr>Arial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Büşra DEMİR</cp:lastModifiedBy>
  <cp:revision>4</cp:revision>
  <dcterms:created xsi:type="dcterms:W3CDTF">2026-05-17T03:14:24Z</dcterms:created>
  <dcterms:modified xsi:type="dcterms:W3CDTF">2026-05-17T05:07:38Z</dcterms:modified>
</cp:coreProperties>
</file>