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77" r:id="rId4"/>
    <p:sldId id="259" r:id="rId5"/>
    <p:sldId id="260" r:id="rId6"/>
    <p:sldId id="261" r:id="rId7"/>
    <p:sldId id="262" r:id="rId8"/>
    <p:sldId id="263" r:id="rId9"/>
    <p:sldId id="280" r:id="rId10"/>
    <p:sldId id="264" r:id="rId11"/>
    <p:sldId id="265" r:id="rId12"/>
    <p:sldId id="266" r:id="rId13"/>
    <p:sldId id="278" r:id="rId14"/>
    <p:sldId id="281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ED96AC-5900-87C6-0C7B-0924D6E7B177}" v="1252" dt="2026-05-17T17:09:51.233"/>
    <p1510:client id="{BBFEEB2C-33F8-4959-90DC-E7FBF176EF7A}" v="1410" dt="2026-05-17T17:22:32.5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493" autoAdjust="0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91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AUC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493-435A-9FDA-288EFB20659D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493-435A-9FDA-288EFB20659D}"/>
              </c:ext>
            </c:extLst>
          </c:dPt>
          <c:dPt>
            <c:idx val="2"/>
            <c:invertIfNegative val="0"/>
            <c:bubble3D val="0"/>
            <c:spPr>
              <a:solidFill>
                <a:srgbClr val="6D9A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493-435A-9FDA-288EFB20659D}"/>
              </c:ext>
            </c:extLst>
          </c:dPt>
          <c:dPt>
            <c:idx val="3"/>
            <c:invertIfNegative val="0"/>
            <c:bubble3D val="0"/>
            <c:spPr>
              <a:solidFill>
                <a:srgbClr val="2D6A4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493-435A-9FDA-288EFB20659D}"/>
              </c:ext>
            </c:extLst>
          </c:dPt>
          <c:dPt>
            <c:idx val="4"/>
            <c:invertIfNegative val="0"/>
            <c:bubble3D val="0"/>
            <c:spPr>
              <a:solidFill>
                <a:srgbClr val="1B43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493-435A-9FDA-288EFB20659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11827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Naive Bayes</c:v>
                </c:pt>
                <c:pt idx="1">
                  <c:v>Logistic Reg.</c:v>
                </c:pt>
                <c:pt idx="2">
                  <c:v>KNN</c:v>
                </c:pt>
                <c:pt idx="3">
                  <c:v>Random Forest</c:v>
                </c:pt>
                <c:pt idx="4">
                  <c:v>XGBoost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0.95499999999999996</c:v>
                </c:pt>
                <c:pt idx="1">
                  <c:v>0.98199999999999998</c:v>
                </c:pt>
                <c:pt idx="2">
                  <c:v>0.996</c:v>
                </c:pt>
                <c:pt idx="3">
                  <c:v>0.997</c:v>
                </c:pt>
                <c:pt idx="4">
                  <c:v>0.997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493-435A-9FDA-288EFB2065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3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6001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usraddmr/BIM322-Solar-Power-Predicti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bim322-solar-power-prediction.streamlit.app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411480" y="500000"/>
            <a:ext cx="457200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Power</a:t>
            </a:r>
            <a:endParaRPr lang="en-US" sz="12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2200000"/>
            <a:ext cx="4114800" cy="0"/>
          </a:xfrm>
          <a:prstGeom prst="line">
            <a:avLst/>
          </a:prstGeom>
          <a:noFill/>
          <a:ln w="190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411480" y="2320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6A4F"/>
                </a:solidFill>
              </a:rPr>
              <a:t>Makine Öğrenmesi ile İkili Üretim Seviyesi Sınıflandırması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0000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Büşra Demir  —  030123075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Nazenin Tatar  —  030123053</a:t>
            </a:r>
            <a:endParaRPr lang="en-US" sz="1200" b="1">
              <a:solidFill>
                <a:srgbClr val="111827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260518" y="452973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</a:t>
            </a:r>
            <a:r>
              <a:rPr lang="en-US" sz="1200" err="1">
                <a:solidFill>
                  <a:srgbClr val="6B7280"/>
                </a:solidFill>
              </a:rPr>
              <a:t>Makine</a:t>
            </a:r>
            <a:r>
              <a:rPr lang="en-US" sz="1200" dirty="0">
                <a:solidFill>
                  <a:srgbClr val="6B7280"/>
                </a:solidFill>
              </a:rPr>
              <a:t> </a:t>
            </a:r>
            <a:r>
              <a:rPr lang="en-US" sz="1200" err="1">
                <a:solidFill>
                  <a:srgbClr val="6B7280"/>
                </a:solidFill>
              </a:rPr>
              <a:t>Öğrenmesi</a:t>
            </a:r>
            <a:r>
              <a:rPr lang="en-US" sz="1200" dirty="0">
                <a:solidFill>
                  <a:srgbClr val="6B7280"/>
                </a:solidFill>
              </a:rPr>
              <a:t> </a:t>
            </a:r>
            <a:r>
              <a:rPr lang="en-US" sz="1200" err="1">
                <a:solidFill>
                  <a:srgbClr val="6B7280"/>
                </a:solidFill>
              </a:rPr>
              <a:t>ve</a:t>
            </a:r>
            <a:r>
              <a:rPr lang="en-US" sz="1200" dirty="0">
                <a:solidFill>
                  <a:srgbClr val="6B7280"/>
                </a:solidFill>
              </a:rPr>
              <a:t> </a:t>
            </a:r>
            <a:r>
              <a:rPr lang="en-US" sz="1200" err="1">
                <a:solidFill>
                  <a:srgbClr val="6B7280"/>
                </a:solidFill>
              </a:rPr>
              <a:t>Uygulamaları</a:t>
            </a:r>
            <a:r>
              <a:rPr lang="en-US" sz="1200" dirty="0">
                <a:solidFill>
                  <a:srgbClr val="6B7280"/>
                </a:solidFill>
              </a:rPr>
              <a:t>  |  </a:t>
            </a:r>
            <a:r>
              <a:rPr lang="en-US" sz="1200" err="1">
                <a:solidFill>
                  <a:srgbClr val="6B7280"/>
                </a:solidFill>
              </a:rPr>
              <a:t>Mayıs</a:t>
            </a:r>
            <a:r>
              <a:rPr lang="en-US" sz="1200" dirty="0">
                <a:solidFill>
                  <a:srgbClr val="6B7280"/>
                </a:solidFill>
              </a:rPr>
              <a:t>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12080" y="100584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5212080" y="100584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5303520" y="114300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136K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185623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Ham Kayıt Sayısı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40880" y="100584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7040880" y="100584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7132320" y="114300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97.4%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185623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XGBoost Accuracy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0" y="265176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5212080" y="265176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5303520" y="278892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350215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AUC Skoru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40880" y="2651760"/>
            <a:ext cx="16916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7040880" y="2651760"/>
            <a:ext cx="50292" cy="141732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7132320" y="2788920"/>
            <a:ext cx="150876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4332"/>
                </a:solidFill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3502152"/>
            <a:ext cx="1508760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ML Algoritması</a:t>
            </a:r>
            <a:endParaRPr lang="en-US" sz="1200" dirty="0"/>
          </a:p>
        </p:txBody>
      </p:sp>
      <p:sp>
        <p:nvSpPr>
          <p:cNvPr id="4" name="Text 28">
            <a:extLst>
              <a:ext uri="{FF2B5EF4-FFF2-40B4-BE49-F238E27FC236}">
                <a16:creationId xmlns:a16="http://schemas.microsoft.com/office/drawing/2014/main" id="{4CBFDED9-1A4E-EB8B-06C4-F277B887B69A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1</a:t>
            </a:r>
            <a:endParaRPr lang="en-US" sz="800" b="1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E163FEE9-DAF3-4000-E76F-AD47F65CE679}"/>
              </a:ext>
            </a:extLst>
          </p:cNvPr>
          <p:cNvSpPr/>
          <p:nvPr/>
        </p:nvSpPr>
        <p:spPr>
          <a:xfrm>
            <a:off x="260518" y="417389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ea typeface="+mn-lt"/>
                <a:cs typeface="+mn-lt"/>
              </a:rPr>
              <a:t>Github</a:t>
            </a:r>
            <a:r>
              <a:rPr lang="en-US" sz="1200" b="1" dirty="0">
                <a:ea typeface="+mn-lt"/>
                <a:cs typeface="+mn-lt"/>
              </a:rPr>
              <a:t> link : </a:t>
            </a:r>
            <a:r>
              <a:rPr lang="en-US" sz="1200" b="1" dirty="0">
                <a:ea typeface="+mn-lt"/>
                <a:cs typeface="+mn-lt"/>
                <a:hlinkClick r:id="rId3"/>
              </a:rPr>
              <a:t>https://github.com/busraddmr/BIM322-Solar-Power-Prediction</a:t>
            </a:r>
            <a:endParaRPr lang="tr-TR" b="1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37744" y="5943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237744" y="594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5577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640080" y="5943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Veri Seti &amp; Problem Tanımı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7744" y="10972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237744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0607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640080" y="10972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Veri Ön İşleme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7744" y="160020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23774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156362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640080" y="16002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Seçimi — Korelasyon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7744" y="210312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237744" y="2103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206654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640080" y="210312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Seçimi — Sonuç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7744" y="260604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237744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256946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640080" y="260604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Confusion Matrisleri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37744" y="31089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237744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30723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640080" y="31089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ROC Analizi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37744" y="36118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Text 27"/>
          <p:cNvSpPr/>
          <p:nvPr/>
        </p:nvSpPr>
        <p:spPr>
          <a:xfrm>
            <a:off x="237744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5753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640080" y="36118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Önemi &amp; SHAP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37744" y="411480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Text 31"/>
          <p:cNvSpPr/>
          <p:nvPr/>
        </p:nvSpPr>
        <p:spPr>
          <a:xfrm>
            <a:off x="237744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15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07822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Text 33"/>
          <p:cNvSpPr/>
          <p:nvPr/>
        </p:nvSpPr>
        <p:spPr>
          <a:xfrm>
            <a:off x="640080" y="41148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Sonuç &amp; Değerlendirme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626864" y="5943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Text 35"/>
          <p:cNvSpPr/>
          <p:nvPr/>
        </p:nvSpPr>
        <p:spPr>
          <a:xfrm>
            <a:off x="4626864" y="594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956048" y="5577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Text 37"/>
          <p:cNvSpPr/>
          <p:nvPr/>
        </p:nvSpPr>
        <p:spPr>
          <a:xfrm>
            <a:off x="5029200" y="5943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Keşifsel Veri Analizi (EDA)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626864" y="10972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Text 39"/>
          <p:cNvSpPr/>
          <p:nvPr/>
        </p:nvSpPr>
        <p:spPr>
          <a:xfrm>
            <a:off x="4626864" y="1097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56048" y="10607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41"/>
          <p:cNvSpPr/>
          <p:nvPr/>
        </p:nvSpPr>
        <p:spPr>
          <a:xfrm>
            <a:off x="5029200" y="10972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Data Leakage &amp; Normalizasyon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626864" y="160020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Text 43"/>
          <p:cNvSpPr/>
          <p:nvPr/>
        </p:nvSpPr>
        <p:spPr>
          <a:xfrm>
            <a:off x="462686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956048" y="156362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Text 45"/>
          <p:cNvSpPr/>
          <p:nvPr/>
        </p:nvSpPr>
        <p:spPr>
          <a:xfrm>
            <a:off x="5029200" y="16002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Özellik Seçimi — SelectKBest &amp; RFE &amp; MI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626864" y="210312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4626864" y="2103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956048" y="206654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1" name="Text 49"/>
          <p:cNvSpPr/>
          <p:nvPr/>
        </p:nvSpPr>
        <p:spPr>
          <a:xfrm>
            <a:off x="5029200" y="210312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Modelleme — 5 Algoritma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626864" y="260604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3" name="Text 51"/>
          <p:cNvSpPr/>
          <p:nvPr/>
        </p:nvSpPr>
        <p:spPr>
          <a:xfrm>
            <a:off x="4626864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956048" y="256946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5" name="Text 53"/>
          <p:cNvSpPr/>
          <p:nvPr/>
        </p:nvSpPr>
        <p:spPr>
          <a:xfrm>
            <a:off x="5029200" y="260604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Model Değerlendirme — Metrik Tablosu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626864" y="310896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Text 55"/>
          <p:cNvSpPr/>
          <p:nvPr/>
        </p:nvSpPr>
        <p:spPr>
          <a:xfrm>
            <a:off x="4626864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956048" y="307238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9" name="Text 57"/>
          <p:cNvSpPr/>
          <p:nvPr/>
        </p:nvSpPr>
        <p:spPr>
          <a:xfrm>
            <a:off x="5029200" y="310896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Precision-Recall Analizi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626864" y="3611880"/>
            <a:ext cx="292608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1" name="Text 59"/>
          <p:cNvSpPr/>
          <p:nvPr/>
        </p:nvSpPr>
        <p:spPr>
          <a:xfrm>
            <a:off x="4626864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14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4956048" y="3575304"/>
            <a:ext cx="4023360" cy="384048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3" name="Text 61"/>
          <p:cNvSpPr/>
          <p:nvPr/>
        </p:nvSpPr>
        <p:spPr>
          <a:xfrm>
            <a:off x="5029200" y="361188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4332"/>
                </a:solidFill>
              </a:rPr>
              <a:t>Streamlit Uygulaması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411480" y="495604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66" name="Text 28">
            <a:extLst>
              <a:ext uri="{FF2B5EF4-FFF2-40B4-BE49-F238E27FC236}">
                <a16:creationId xmlns:a16="http://schemas.microsoft.com/office/drawing/2014/main" id="{74CB23FC-377E-303D-A3ED-1F8D8F113E3A}"/>
              </a:ext>
            </a:extLst>
          </p:cNvPr>
          <p:cNvSpPr/>
          <p:nvPr/>
        </p:nvSpPr>
        <p:spPr>
          <a:xfrm>
            <a:off x="8458200" y="4956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2</a:t>
            </a:r>
            <a:endParaRPr lang="en-US" sz="800" b="1" dirty="0"/>
          </a:p>
        </p:txBody>
      </p:sp>
      <p:sp>
        <p:nvSpPr>
          <p:cNvPr id="67" name="Shape 39">
            <a:extLst>
              <a:ext uri="{FF2B5EF4-FFF2-40B4-BE49-F238E27FC236}">
                <a16:creationId xmlns:a16="http://schemas.microsoft.com/office/drawing/2014/main" id="{5FFA8EDC-06A0-C3F6-BFA4-E8DAE4420737}"/>
              </a:ext>
            </a:extLst>
          </p:cNvPr>
          <p:cNvSpPr/>
          <p:nvPr/>
        </p:nvSpPr>
        <p:spPr>
          <a:xfrm>
            <a:off x="-153843" y="4930787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ikdörtgen: Köşeleri Yuvarlatılmış 10">
            <a:extLst>
              <a:ext uri="{FF2B5EF4-FFF2-40B4-BE49-F238E27FC236}">
                <a16:creationId xmlns:a16="http://schemas.microsoft.com/office/drawing/2014/main" id="{02950DAA-5BF7-1497-1D30-C29372063FBF}"/>
              </a:ext>
            </a:extLst>
          </p:cNvPr>
          <p:cNvSpPr/>
          <p:nvPr/>
        </p:nvSpPr>
        <p:spPr>
          <a:xfrm>
            <a:off x="113174" y="1698845"/>
            <a:ext cx="4009739" cy="245662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9" name="Dikdörtgen: Köşeleri Yuvarlatılmış 8">
            <a:extLst>
              <a:ext uri="{FF2B5EF4-FFF2-40B4-BE49-F238E27FC236}">
                <a16:creationId xmlns:a16="http://schemas.microsoft.com/office/drawing/2014/main" id="{5CBFE5C3-EB4C-7B00-262F-21A3B46B45CA}"/>
              </a:ext>
            </a:extLst>
          </p:cNvPr>
          <p:cNvSpPr/>
          <p:nvPr/>
        </p:nvSpPr>
        <p:spPr>
          <a:xfrm>
            <a:off x="4346648" y="1098466"/>
            <a:ext cx="3957742" cy="153248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7" name="Dikdörtgen: Köşeleri Yuvarlatılmış 6">
            <a:extLst>
              <a:ext uri="{FF2B5EF4-FFF2-40B4-BE49-F238E27FC236}">
                <a16:creationId xmlns:a16="http://schemas.microsoft.com/office/drawing/2014/main" id="{96A62E34-70E1-FF12-1AF1-8742881946BD}"/>
              </a:ext>
            </a:extLst>
          </p:cNvPr>
          <p:cNvSpPr/>
          <p:nvPr/>
        </p:nvSpPr>
        <p:spPr>
          <a:xfrm>
            <a:off x="4346647" y="3414236"/>
            <a:ext cx="3999832" cy="105596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6" name="Dikdörtgen: Köşeleri Yuvarlatılmış 5">
            <a:extLst>
              <a:ext uri="{FF2B5EF4-FFF2-40B4-BE49-F238E27FC236}">
                <a16:creationId xmlns:a16="http://schemas.microsoft.com/office/drawing/2014/main" id="{6AF1C51F-4778-9900-145E-B1F9A6EA29C2}"/>
              </a:ext>
            </a:extLst>
          </p:cNvPr>
          <p:cNvSpPr/>
          <p:nvPr/>
        </p:nvSpPr>
        <p:spPr>
          <a:xfrm>
            <a:off x="4338244" y="2692400"/>
            <a:ext cx="4008235" cy="6150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01 — VERI SETI &amp; PROBLEM TANIMI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Power Generation Data — Kaggle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88925" y="1447323"/>
            <a:ext cx="825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Hindistan, 2 Tesis, 34 Gün — 15 dakikada bir sensör ölçümü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0742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1B4332"/>
                </a:solidFill>
              </a:rPr>
              <a:t>Veri Seti Genel Bilgileri</a:t>
            </a:r>
          </a:p>
        </p:txBody>
      </p:sp>
      <p:sp>
        <p:nvSpPr>
          <p:cNvPr id="10" name="Text 8"/>
          <p:cNvSpPr/>
          <p:nvPr/>
        </p:nvSpPr>
        <p:spPr>
          <a:xfrm>
            <a:off x="411480" y="2379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CSV dosyası: 2× Generation, 2× Weather Sensor Data</a:t>
            </a:r>
          </a:p>
        </p:txBody>
      </p:sp>
      <p:sp>
        <p:nvSpPr>
          <p:cNvPr id="12" name="Text 10"/>
          <p:cNvSpPr/>
          <p:nvPr/>
        </p:nvSpPr>
        <p:spPr>
          <a:xfrm>
            <a:off x="411480" y="2633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Plant 1 Generation Data: 68.774 satır</a:t>
            </a:r>
          </a:p>
        </p:txBody>
      </p:sp>
      <p:sp>
        <p:nvSpPr>
          <p:cNvPr id="14" name="Text 12"/>
          <p:cNvSpPr/>
          <p:nvPr/>
        </p:nvSpPr>
        <p:spPr>
          <a:xfrm>
            <a:off x="411480" y="2887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Plant 2 Generation Data: 67.698 satır</a:t>
            </a:r>
          </a:p>
        </p:txBody>
      </p:sp>
      <p:sp>
        <p:nvSpPr>
          <p:cNvPr id="16" name="Text 14"/>
          <p:cNvSpPr/>
          <p:nvPr/>
        </p:nvSpPr>
        <p:spPr>
          <a:xfrm>
            <a:off x="411480" y="3141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Ham toplam: 136.472 kayıt  |  Süre: 34 gün</a:t>
            </a:r>
          </a:p>
        </p:txBody>
      </p:sp>
      <p:sp>
        <p:nvSpPr>
          <p:cNvPr id="18" name="Text 16"/>
          <p:cNvSpPr/>
          <p:nvPr/>
        </p:nvSpPr>
        <p:spPr>
          <a:xfrm>
            <a:off x="411480" y="3395092"/>
            <a:ext cx="393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Örnekleme sıklığı: Her 15 dakikada bir</a:t>
            </a:r>
          </a:p>
        </p:txBody>
      </p:sp>
      <p:sp>
        <p:nvSpPr>
          <p:cNvPr id="28" name="Text 26"/>
          <p:cNvSpPr/>
          <p:nvPr/>
        </p:nvSpPr>
        <p:spPr>
          <a:xfrm>
            <a:off x="4470401" y="1183302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1B4332"/>
                </a:solidFill>
              </a:rPr>
              <a:t>Problem Tanımı</a:t>
            </a:r>
          </a:p>
        </p:txBody>
      </p:sp>
      <p:sp>
        <p:nvSpPr>
          <p:cNvPr id="29" name="Text 27"/>
          <p:cNvSpPr/>
          <p:nvPr/>
        </p:nvSpPr>
        <p:spPr>
          <a:xfrm>
            <a:off x="4470401" y="1488102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2D6A4F"/>
                </a:solidFill>
              </a:rPr>
              <a:t>Hedef değişken → AC_POWER</a:t>
            </a:r>
          </a:p>
        </p:txBody>
      </p:sp>
      <p:sp>
        <p:nvSpPr>
          <p:cNvPr id="30" name="Text 28"/>
          <p:cNvSpPr/>
          <p:nvPr/>
        </p:nvSpPr>
        <p:spPr>
          <a:xfrm>
            <a:off x="4470401" y="1742102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rgbClr val="374151"/>
                </a:solidFill>
              </a:rPr>
              <a:t>Binary sınıflandırma: Düşük (0) / Yüksek (1)</a:t>
            </a:r>
          </a:p>
        </p:txBody>
      </p:sp>
      <p:sp>
        <p:nvSpPr>
          <p:cNvPr id="31" name="Text 29"/>
          <p:cNvSpPr/>
          <p:nvPr/>
        </p:nvSpPr>
        <p:spPr>
          <a:xfrm>
            <a:off x="4470401" y="1996102"/>
            <a:ext cx="38760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Threshold = train setinin AC_POWER ortalaması = 544.71 W</a:t>
            </a:r>
          </a:p>
        </p:txBody>
      </p:sp>
      <p:sp>
        <p:nvSpPr>
          <p:cNvPr id="34" name="Text 32"/>
          <p:cNvSpPr/>
          <p:nvPr/>
        </p:nvSpPr>
        <p:spPr>
          <a:xfrm>
            <a:off x="4470400" y="2730574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rgbClr val="DC2626"/>
                </a:solidFill>
              </a:rPr>
              <a:t>Sınıf 0 — DÜŞÜK  (&lt;544.71 W)  →  ~%51</a:t>
            </a:r>
          </a:p>
        </p:txBody>
      </p:sp>
      <p:sp>
        <p:nvSpPr>
          <p:cNvPr id="35" name="Text 33"/>
          <p:cNvSpPr/>
          <p:nvPr/>
        </p:nvSpPr>
        <p:spPr>
          <a:xfrm>
            <a:off x="7620001" y="2402502"/>
            <a:ext cx="10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tr-TR" dirty="0"/>
          </a:p>
        </p:txBody>
      </p:sp>
      <p:sp>
        <p:nvSpPr>
          <p:cNvPr id="38" name="Text 36"/>
          <p:cNvSpPr/>
          <p:nvPr/>
        </p:nvSpPr>
        <p:spPr>
          <a:xfrm>
            <a:off x="4470400" y="2984574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rgbClr val="1B4332"/>
                </a:solidFill>
              </a:rPr>
              <a:t>Sınıf 1 — YÜKSEK  (≥544.71 W)  →  ~%49</a:t>
            </a:r>
          </a:p>
        </p:txBody>
      </p:sp>
      <p:sp>
        <p:nvSpPr>
          <p:cNvPr id="39" name="Text 37"/>
          <p:cNvSpPr/>
          <p:nvPr/>
        </p:nvSpPr>
        <p:spPr>
          <a:xfrm>
            <a:off x="5994401" y="1570938"/>
            <a:ext cx="10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tr-TR" dirty="0"/>
          </a:p>
        </p:txBody>
      </p:sp>
      <p:sp>
        <p:nvSpPr>
          <p:cNvPr id="42" name="Text 40"/>
          <p:cNvSpPr/>
          <p:nvPr/>
        </p:nvSpPr>
        <p:spPr>
          <a:xfrm>
            <a:off x="4470400" y="34569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1B4332"/>
                </a:solidFill>
              </a:rPr>
              <a:t>Neden Bu </a:t>
            </a:r>
            <a:r>
              <a:rPr lang="tr-T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Veri</a:t>
            </a:r>
            <a:r>
              <a:rPr lang="tr-TR" sz="1200" b="1" dirty="0">
                <a:solidFill>
                  <a:srgbClr val="1B4332"/>
                </a:solidFill>
              </a:rPr>
              <a:t> Seti?</a:t>
            </a:r>
          </a:p>
        </p:txBody>
      </p:sp>
      <p:sp>
        <p:nvSpPr>
          <p:cNvPr id="43" name="Text 41"/>
          <p:cNvSpPr/>
          <p:nvPr/>
        </p:nvSpPr>
        <p:spPr>
          <a:xfrm>
            <a:off x="4470400" y="37109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Gerçek dünya verisi — 2 farklı tesis, simülasyon değil</a:t>
            </a:r>
          </a:p>
        </p:txBody>
      </p:sp>
      <p:sp>
        <p:nvSpPr>
          <p:cNvPr id="44" name="Text 42"/>
          <p:cNvSpPr/>
          <p:nvPr/>
        </p:nvSpPr>
        <p:spPr>
          <a:xfrm>
            <a:off x="4470400" y="39268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Tüm ödev metrikleri anlamlı biçimde hesaplanabilir</a:t>
            </a:r>
          </a:p>
        </p:txBody>
      </p:sp>
      <p:sp>
        <p:nvSpPr>
          <p:cNvPr id="45" name="Text 43"/>
          <p:cNvSpPr/>
          <p:nvPr/>
        </p:nvSpPr>
        <p:spPr>
          <a:xfrm>
            <a:off x="4470400" y="4142771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buFont typeface="Arial"/>
              <a:buChar char="•"/>
            </a:pPr>
            <a:r>
              <a:rPr lang="tr-T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Makul boyut: overfitting/underfitting dengesi için ideal</a:t>
            </a:r>
          </a:p>
        </p:txBody>
      </p:sp>
      <p:sp>
        <p:nvSpPr>
          <p:cNvPr id="47" name="Text 45"/>
          <p:cNvSpPr/>
          <p:nvPr/>
        </p:nvSpPr>
        <p:spPr>
          <a:xfrm>
            <a:off x="411480" y="48646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13" name="Text 28">
            <a:extLst>
              <a:ext uri="{FF2B5EF4-FFF2-40B4-BE49-F238E27FC236}">
                <a16:creationId xmlns:a16="http://schemas.microsoft.com/office/drawing/2014/main" id="{75AE81A8-2A97-D45F-D59A-E8B243768582}"/>
              </a:ext>
            </a:extLst>
          </p:cNvPr>
          <p:cNvSpPr/>
          <p:nvPr/>
        </p:nvSpPr>
        <p:spPr>
          <a:xfrm>
            <a:off x="8458200" y="496034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3</a:t>
            </a:r>
          </a:p>
        </p:txBody>
      </p:sp>
      <p:sp>
        <p:nvSpPr>
          <p:cNvPr id="15" name="Shape 39">
            <a:extLst>
              <a:ext uri="{FF2B5EF4-FFF2-40B4-BE49-F238E27FC236}">
                <a16:creationId xmlns:a16="http://schemas.microsoft.com/office/drawing/2014/main" id="{A571B5E2-B95E-D41D-D442-ECAAFE8C7240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08407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02 — EDA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Keşifsel Veri Analizi — Temel İstatistikler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9753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Histogram, zaman serisi ve scatter plot grafikleri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8313" y="1097280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18313" y="1097280"/>
            <a:ext cx="50292" cy="585216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73761" y="1188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DC Power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04313" y="1188720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Güneş panelleri tarafından güneş ışığından doğrudan üretilen ve henüz dönüştürülmemiş ham elektrik gücüdür.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8313" y="1773936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Shape 9"/>
          <p:cNvSpPr/>
          <p:nvPr/>
        </p:nvSpPr>
        <p:spPr>
          <a:xfrm>
            <a:off x="218313" y="1773936"/>
            <a:ext cx="50292" cy="585216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373761" y="1865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AC Power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04313" y="1865376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Üretilen DC gücün, inverter cihazı sayesinde şebekeye veya ev kullanımına uygun hale getirilmiş şeklidir. Hedef değişkenimiz.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8313" y="2450592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218313" y="2450592"/>
            <a:ext cx="50292" cy="585216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373761" y="25420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</a:rPr>
              <a:t>Irradiation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04313" y="254203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Panellerin bulunduğu birim alana düşen güneş enerjisi miktarıdır. (W/m²)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8313" y="3127248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218313" y="3127248"/>
            <a:ext cx="50292" cy="5852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373761" y="32186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Module Temperature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04313" y="3218688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Güneş panelinin kendi yüzey çalışma sıcaklığıdır. (°C)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18313" y="3803904"/>
            <a:ext cx="8503920" cy="58521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18313" y="3803904"/>
            <a:ext cx="50292" cy="58521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373761" y="38953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4151"/>
                </a:solidFill>
              </a:rPr>
              <a:t>Ambient Temperature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04313" y="3895344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Güneş enerjisi santralinin bulunduğu çevrenin (havanın) genel sıcaklığıdır. (°C)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18313" y="4407408"/>
            <a:ext cx="8503920" cy="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218313" y="4407408"/>
            <a:ext cx="8503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algn="l"/>
          </a:lstStyle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9461" y="490118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7552A49C-BE81-0904-F32B-FD6F3E6E9E47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4</a:t>
            </a:r>
            <a:endParaRPr lang="en-US" sz="800" b="1" dirty="0"/>
          </a:p>
        </p:txBody>
      </p:sp>
      <p:sp>
        <p:nvSpPr>
          <p:cNvPr id="32" name="Shape 39">
            <a:extLst>
              <a:ext uri="{FF2B5EF4-FFF2-40B4-BE49-F238E27FC236}">
                <a16:creationId xmlns:a16="http://schemas.microsoft.com/office/drawing/2014/main" id="{9728D141-D786-70F8-06AC-E08ABEF376E6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52B788"/>
                </a:solidFill>
              </a:rPr>
              <a:t>02 — EDA — DAĞILIMLAR</a:t>
            </a:r>
            <a:endParaRPr lang="en-US" sz="800"/>
          </a:p>
        </p:txBody>
      </p:sp>
      <p:sp>
        <p:nvSpPr>
          <p:cNvPr id="22" name="Text 20"/>
          <p:cNvSpPr/>
          <p:nvPr/>
        </p:nvSpPr>
        <p:spPr>
          <a:xfrm>
            <a:off x="411480" y="497963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00" dirty="0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297D2EB2-E811-D403-5948-7411EBB25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1486358"/>
            <a:ext cx="4387517" cy="3399733"/>
          </a:xfrm>
          <a:prstGeom prst="rect">
            <a:avLst/>
          </a:prstGeom>
        </p:spPr>
      </p:pic>
      <p:sp>
        <p:nvSpPr>
          <p:cNvPr id="26" name="Dikdörtgen 25">
            <a:extLst>
              <a:ext uri="{FF2B5EF4-FFF2-40B4-BE49-F238E27FC236}">
                <a16:creationId xmlns:a16="http://schemas.microsoft.com/office/drawing/2014/main" id="{635BA6EA-F963-70A6-CA1B-B596851AC714}"/>
              </a:ext>
            </a:extLst>
          </p:cNvPr>
          <p:cNvSpPr>
            <a:spLocks noGrp="1"/>
          </p:cNvSpPr>
          <p:nvPr/>
        </p:nvSpPr>
        <p:spPr>
          <a:xfrm>
            <a:off x="309630" y="2115504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Dikdörtgen 26">
            <a:extLst>
              <a:ext uri="{FF2B5EF4-FFF2-40B4-BE49-F238E27FC236}">
                <a16:creationId xmlns:a16="http://schemas.microsoft.com/office/drawing/2014/main" id="{427B51C2-C0CB-7577-A1EB-A6FA71CB083E}"/>
              </a:ext>
            </a:extLst>
          </p:cNvPr>
          <p:cNvSpPr>
            <a:spLocks noGrp="1"/>
          </p:cNvSpPr>
          <p:nvPr/>
        </p:nvSpPr>
        <p:spPr>
          <a:xfrm>
            <a:off x="448731" y="2056287"/>
            <a:ext cx="2633472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Sıfıra</a:t>
            </a: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yığılma</a:t>
            </a:r>
            <a:endParaRPr sz="1200" b="1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Dikdörtgen 27">
            <a:extLst>
              <a:ext uri="{FF2B5EF4-FFF2-40B4-BE49-F238E27FC236}">
                <a16:creationId xmlns:a16="http://schemas.microsoft.com/office/drawing/2014/main" id="{49C99309-E9EB-A057-CFCE-8B224A612CAF}"/>
              </a:ext>
            </a:extLst>
          </p:cNvPr>
          <p:cNvSpPr>
            <a:spLocks noGrp="1"/>
          </p:cNvSpPr>
          <p:nvPr/>
        </p:nvSpPr>
        <p:spPr>
          <a:xfrm>
            <a:off x="443651" y="2362941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AC_POWER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ve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IRRADIATION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dağılımlarındaki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sıfır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yoğunluğu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kayıtlarını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işaret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ediyor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29" name="Dikdörtgen 28">
            <a:extLst>
              <a:ext uri="{FF2B5EF4-FFF2-40B4-BE49-F238E27FC236}">
                <a16:creationId xmlns:a16="http://schemas.microsoft.com/office/drawing/2014/main" id="{6902C65D-EBD6-2D07-CAEC-F67FC6983DE9}"/>
              </a:ext>
            </a:extLst>
          </p:cNvPr>
          <p:cNvSpPr>
            <a:spLocks noGrp="1"/>
          </p:cNvSpPr>
          <p:nvPr/>
        </p:nvSpPr>
        <p:spPr>
          <a:xfrm>
            <a:off x="268333" y="3071294"/>
            <a:ext cx="57150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Dikdörtgen 29">
            <a:extLst>
              <a:ext uri="{FF2B5EF4-FFF2-40B4-BE49-F238E27FC236}">
                <a16:creationId xmlns:a16="http://schemas.microsoft.com/office/drawing/2014/main" id="{599F35E5-E793-A750-AEE2-16B8B4E3ADFC}"/>
              </a:ext>
            </a:extLst>
          </p:cNvPr>
          <p:cNvSpPr>
            <a:spLocks noGrp="1"/>
          </p:cNvSpPr>
          <p:nvPr/>
        </p:nvSpPr>
        <p:spPr>
          <a:xfrm>
            <a:off x="439783" y="3004619"/>
            <a:ext cx="409575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Sıcaklık</a:t>
            </a: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1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dağılımı</a:t>
            </a:r>
          </a:p>
        </p:txBody>
      </p:sp>
      <p:sp>
        <p:nvSpPr>
          <p:cNvPr id="31" name="Dikdörtgen 30">
            <a:extLst>
              <a:ext uri="{FF2B5EF4-FFF2-40B4-BE49-F238E27FC236}">
                <a16:creationId xmlns:a16="http://schemas.microsoft.com/office/drawing/2014/main" id="{7661B8C4-9B3B-6C9D-B75E-EE8F6E7F5B42}"/>
              </a:ext>
            </a:extLst>
          </p:cNvPr>
          <p:cNvSpPr>
            <a:spLocks noGrp="1"/>
          </p:cNvSpPr>
          <p:nvPr/>
        </p:nvSpPr>
        <p:spPr>
          <a:xfrm>
            <a:off x="439783" y="3204644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Module temperature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daha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geniş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yayılıyor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; panel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yüzeyi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ortamdan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daha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fazla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ısınıyor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2" name="Dikdörtgen 31">
            <a:extLst>
              <a:ext uri="{FF2B5EF4-FFF2-40B4-BE49-F238E27FC236}">
                <a16:creationId xmlns:a16="http://schemas.microsoft.com/office/drawing/2014/main" id="{957F56B0-E1DC-A249-D619-A0FF1D5ABD8A}"/>
              </a:ext>
            </a:extLst>
          </p:cNvPr>
          <p:cNvSpPr>
            <a:spLocks noGrp="1"/>
          </p:cNvSpPr>
          <p:nvPr/>
        </p:nvSpPr>
        <p:spPr>
          <a:xfrm>
            <a:off x="268333" y="3749111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Dikdörtgen 32">
            <a:extLst>
              <a:ext uri="{FF2B5EF4-FFF2-40B4-BE49-F238E27FC236}">
                <a16:creationId xmlns:a16="http://schemas.microsoft.com/office/drawing/2014/main" id="{EC12B19F-C853-AE87-E8AB-5B5B0533FA19}"/>
              </a:ext>
            </a:extLst>
          </p:cNvPr>
          <p:cNvSpPr>
            <a:spLocks noGrp="1"/>
          </p:cNvSpPr>
          <p:nvPr/>
        </p:nvSpPr>
        <p:spPr>
          <a:xfrm>
            <a:off x="439783" y="3682436"/>
            <a:ext cx="409575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Model etkisi</a:t>
            </a:r>
          </a:p>
        </p:txBody>
      </p:sp>
      <p:sp>
        <p:nvSpPr>
          <p:cNvPr id="34" name="Dikdörtgen 33">
            <a:extLst>
              <a:ext uri="{FF2B5EF4-FFF2-40B4-BE49-F238E27FC236}">
                <a16:creationId xmlns:a16="http://schemas.microsoft.com/office/drawing/2014/main" id="{3B9635B8-1412-512E-EE38-215E0D2B1314}"/>
              </a:ext>
            </a:extLst>
          </p:cNvPr>
          <p:cNvSpPr>
            <a:spLocks noGrp="1"/>
          </p:cNvSpPr>
          <p:nvPr/>
        </p:nvSpPr>
        <p:spPr>
          <a:xfrm>
            <a:off x="439783" y="3882461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 kayıtları bırakılırsa model gündüz üretim ilişkisini öğrenmek yerine sıfır örüntüsüne yaslanabilir.</a:t>
            </a:r>
            <a:endParaRPr lang="tr-TR" sz="1200" b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5" name="Resim 34"/>
          <p:cNvPicPr>
            <a:picLocks noChangeAspect="1"/>
          </p:cNvPicPr>
          <p:nvPr/>
        </p:nvPicPr>
        <p:blipFill>
          <a:blip r:embed="rId4"/>
          <a:srcRect t="24736" b="24736"/>
          <a:stretch>
            <a:fillRect/>
          </a:stretch>
        </p:blipFill>
        <p:spPr>
          <a:xfrm>
            <a:off x="5038700" y="135439"/>
            <a:ext cx="3465220" cy="931385"/>
          </a:xfrm>
          <a:prstGeom prst="rect">
            <a:avLst/>
          </a:prstGeom>
        </p:spPr>
      </p:pic>
      <p:sp>
        <p:nvSpPr>
          <p:cNvPr id="100" name="Title_New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600" b="1">
                <a:solidFill>
                  <a:srgbClr val="111827"/>
                </a:solidFill>
                <a:latin typeface="Georgia" pitchFamily="34" charset="0"/>
              </a:rPr>
              <a:t>Sayısal Değişkenlerin Dağılımları</a:t>
            </a:r>
            <a:endParaRPr lang="tr-TR" sz="1400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778D0A1A-64C1-DD36-F046-12E716795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930" y="710262"/>
            <a:ext cx="4177193" cy="928724"/>
          </a:xfrm>
          <a:prstGeom prst="rect">
            <a:avLst/>
          </a:prstGeom>
        </p:spPr>
      </p:pic>
      <p:sp>
        <p:nvSpPr>
          <p:cNvPr id="5" name="Metin kutusu 4">
            <a:extLst>
              <a:ext uri="{FF2B5EF4-FFF2-40B4-BE49-F238E27FC236}">
                <a16:creationId xmlns:a16="http://schemas.microsoft.com/office/drawing/2014/main" id="{3243206C-B170-2F07-4491-B9D98A5BFBEF}"/>
              </a:ext>
            </a:extLst>
          </p:cNvPr>
          <p:cNvSpPr txBox="1"/>
          <p:nvPr/>
        </p:nvSpPr>
        <p:spPr>
          <a:xfrm>
            <a:off x="4820297" y="1033367"/>
            <a:ext cx="4253520" cy="2877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Count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Mean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Std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Min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, %25, %50, %75 ve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Max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. hesaplama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id="{C3E9669F-82D3-B5D6-020E-3C8C54187985}"/>
              </a:ext>
            </a:extLst>
          </p:cNvPr>
          <p:cNvSpPr txBox="1"/>
          <p:nvPr/>
        </p:nvSpPr>
        <p:spPr>
          <a:xfrm>
            <a:off x="204878" y="1605625"/>
            <a:ext cx="4367122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Verilerin okunması hava ve üretim değerlerinin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</a:rPr>
              <a:t>birşleştirilmesi</a:t>
            </a:r>
            <a:r>
              <a:rPr lang="tr-TR" sz="1200" i="1" u="sng" dirty="0">
                <a:solidFill>
                  <a:srgbClr val="66757E"/>
                </a:solidFill>
                <a:latin typeface="Aptos"/>
              </a:rPr>
              <a:t> </a:t>
            </a:r>
            <a:endParaRPr lang="tr-TR" i="1" u="sng" dirty="0"/>
          </a:p>
          <a:p>
            <a:pPr algn="ctr"/>
            <a:endParaRPr lang="tr-TR" dirty="0"/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39938C45-0C8B-2258-D9D0-DEC15A048BB4}"/>
              </a:ext>
            </a:extLst>
          </p:cNvPr>
          <p:cNvSpPr txBox="1"/>
          <p:nvPr/>
        </p:nvSpPr>
        <p:spPr>
          <a:xfrm>
            <a:off x="6139630" y="4038555"/>
            <a:ext cx="339275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900" dirty="0" err="1">
                <a:ea typeface="+mn-lt"/>
                <a:cs typeface="+mn-lt"/>
              </a:rPr>
              <a:t>XEkseni</a:t>
            </a:r>
            <a:r>
              <a:rPr lang="tr-TR" sz="900" dirty="0">
                <a:ea typeface="+mn-lt"/>
                <a:cs typeface="+mn-lt"/>
              </a:rPr>
              <a:t> (Yatay Eksen) — Sensörün Ölçtüğü Gerçek Değerler</a:t>
            </a:r>
          </a:p>
          <a:p>
            <a:r>
              <a:rPr lang="tr-TR" sz="900" dirty="0" err="1">
                <a:ea typeface="+mn-lt"/>
                <a:cs typeface="+mn-lt"/>
              </a:rPr>
              <a:t>YEkseni</a:t>
            </a:r>
            <a:r>
              <a:rPr lang="tr-TR" sz="900" dirty="0">
                <a:ea typeface="+mn-lt"/>
                <a:cs typeface="+mn-lt"/>
              </a:rPr>
              <a:t> (Dikey Eksen) — Frekans (Kayıt / Satır Sayısı)</a:t>
            </a:r>
            <a:endParaRPr lang="tr-TR" sz="900" dirty="0"/>
          </a:p>
        </p:txBody>
      </p:sp>
      <p:sp>
        <p:nvSpPr>
          <p:cNvPr id="6" name="Text 28">
            <a:extLst>
              <a:ext uri="{FF2B5EF4-FFF2-40B4-BE49-F238E27FC236}">
                <a16:creationId xmlns:a16="http://schemas.microsoft.com/office/drawing/2014/main" id="{B4AD6734-620D-ABB2-0E60-77BF2015C24B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5</a:t>
            </a:r>
            <a:endParaRPr lang="en-US" sz="800" b="1" dirty="0"/>
          </a:p>
        </p:txBody>
      </p:sp>
      <p:sp>
        <p:nvSpPr>
          <p:cNvPr id="9" name="Shape 39">
            <a:extLst>
              <a:ext uri="{FF2B5EF4-FFF2-40B4-BE49-F238E27FC236}">
                <a16:creationId xmlns:a16="http://schemas.microsoft.com/office/drawing/2014/main" id="{6058E016-73E3-83BB-A664-8FBFF0FD75BE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02 — EDA — GRAFIK YORUMU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473869" y="2087924"/>
            <a:ext cx="2672542" cy="2566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58200" y="49607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00" dirty="0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3CF7829A-559A-202B-48E6-8ECE5F669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78"/>
          <a:stretch>
            <a:fillRect/>
          </a:stretch>
        </p:blipFill>
        <p:spPr>
          <a:xfrm>
            <a:off x="56520" y="594016"/>
            <a:ext cx="5384160" cy="1500334"/>
          </a:xfrm>
          <a:prstGeom prst="rect">
            <a:avLst/>
          </a:prstGeom>
        </p:spPr>
      </p:pic>
      <p:pic>
        <p:nvPicPr>
          <p:cNvPr id="27" name="Resim 26">
            <a:extLst>
              <a:ext uri="{FF2B5EF4-FFF2-40B4-BE49-F238E27FC236}">
                <a16:creationId xmlns:a16="http://schemas.microsoft.com/office/drawing/2014/main" id="{04E8B0B7-8626-E344-D644-EAD6021B6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4" y="2387904"/>
            <a:ext cx="3441297" cy="2119954"/>
          </a:xfrm>
          <a:prstGeom prst="rect">
            <a:avLst/>
          </a:prstGeom>
        </p:spPr>
      </p:pic>
      <p:sp>
        <p:nvSpPr>
          <p:cNvPr id="30" name="Dikdörtgen 29">
            <a:extLst>
              <a:ext uri="{FF2B5EF4-FFF2-40B4-BE49-F238E27FC236}">
                <a16:creationId xmlns:a16="http://schemas.microsoft.com/office/drawing/2014/main" id="{B0C10103-CFD2-897E-82D2-1230C92AA9AA}"/>
              </a:ext>
            </a:extLst>
          </p:cNvPr>
          <p:cNvSpPr>
            <a:spLocks noGrp="1"/>
          </p:cNvSpPr>
          <p:nvPr/>
        </p:nvSpPr>
        <p:spPr>
          <a:xfrm>
            <a:off x="5713388" y="1470930"/>
            <a:ext cx="45719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Dikdörtgen 30">
            <a:extLst>
              <a:ext uri="{FF2B5EF4-FFF2-40B4-BE49-F238E27FC236}">
                <a16:creationId xmlns:a16="http://schemas.microsoft.com/office/drawing/2014/main" id="{F2871A3A-D322-ACB4-EB4B-57968E65769F}"/>
              </a:ext>
            </a:extLst>
          </p:cNvPr>
          <p:cNvSpPr>
            <a:spLocks noGrp="1"/>
          </p:cNvSpPr>
          <p:nvPr/>
        </p:nvSpPr>
        <p:spPr>
          <a:xfrm>
            <a:off x="5829630" y="1422047"/>
            <a:ext cx="2225843" cy="27802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Zaman </a:t>
            </a:r>
            <a:r>
              <a:rPr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serisi</a:t>
            </a: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 (Periyodik döngü)</a:t>
            </a:r>
          </a:p>
        </p:txBody>
      </p:sp>
      <p:sp>
        <p:nvSpPr>
          <p:cNvPr id="32" name="Dikdörtgen 31">
            <a:extLst>
              <a:ext uri="{FF2B5EF4-FFF2-40B4-BE49-F238E27FC236}">
                <a16:creationId xmlns:a16="http://schemas.microsoft.com/office/drawing/2014/main" id="{C890FC9F-1C04-27E8-89CE-7BE2B05C0B0D}"/>
              </a:ext>
            </a:extLst>
          </p:cNvPr>
          <p:cNvSpPr>
            <a:spLocks noGrp="1"/>
          </p:cNvSpPr>
          <p:nvPr/>
        </p:nvSpPr>
        <p:spPr>
          <a:xfrm>
            <a:off x="5692852" y="1644145"/>
            <a:ext cx="294861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Sabah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artış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,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öğlen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tepe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,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akşam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düşüş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beklenen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güneş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üretim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döngüsüyle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uyumlu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3" name="Dikdörtgen 32">
            <a:extLst>
              <a:ext uri="{FF2B5EF4-FFF2-40B4-BE49-F238E27FC236}">
                <a16:creationId xmlns:a16="http://schemas.microsoft.com/office/drawing/2014/main" id="{FB239E19-5B35-20EC-C250-628BA0E2D79C}"/>
              </a:ext>
            </a:extLst>
          </p:cNvPr>
          <p:cNvSpPr>
            <a:spLocks noGrp="1"/>
          </p:cNvSpPr>
          <p:nvPr/>
        </p:nvSpPr>
        <p:spPr>
          <a:xfrm>
            <a:off x="4709825" y="3503600"/>
            <a:ext cx="45719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4" name="Dikdörtgen 33">
            <a:extLst>
              <a:ext uri="{FF2B5EF4-FFF2-40B4-BE49-F238E27FC236}">
                <a16:creationId xmlns:a16="http://schemas.microsoft.com/office/drawing/2014/main" id="{EF3DEA83-2F2E-2528-B8B2-9C5F29614779}"/>
              </a:ext>
            </a:extLst>
          </p:cNvPr>
          <p:cNvSpPr>
            <a:spLocks noGrp="1"/>
          </p:cNvSpPr>
          <p:nvPr/>
        </p:nvSpPr>
        <p:spPr>
          <a:xfrm>
            <a:off x="4881276" y="3436925"/>
            <a:ext cx="2633472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Scatter plot</a:t>
            </a:r>
          </a:p>
        </p:txBody>
      </p:sp>
      <p:sp>
        <p:nvSpPr>
          <p:cNvPr id="35" name="Dikdörtgen 34">
            <a:extLst>
              <a:ext uri="{FF2B5EF4-FFF2-40B4-BE49-F238E27FC236}">
                <a16:creationId xmlns:a16="http://schemas.microsoft.com/office/drawing/2014/main" id="{E3394840-A6BF-0083-ADE2-4B4A4CC74DE7}"/>
              </a:ext>
            </a:extLst>
          </p:cNvPr>
          <p:cNvSpPr>
            <a:spLocks noGrp="1"/>
          </p:cNvSpPr>
          <p:nvPr/>
        </p:nvSpPr>
        <p:spPr>
          <a:xfrm>
            <a:off x="4881276" y="3636950"/>
            <a:ext cx="3760186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IRRADIATION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arttıkça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AC_POWER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güçlü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şekilde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yükseliyor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;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bu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yüzden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ışınım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ana </a:t>
            </a:r>
            <a:r>
              <a:rPr lang="tr-TR"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özellik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6" name="Dikdörtgen 35">
            <a:extLst>
              <a:ext uri="{FF2B5EF4-FFF2-40B4-BE49-F238E27FC236}">
                <a16:creationId xmlns:a16="http://schemas.microsoft.com/office/drawing/2014/main" id="{7F8DBC67-064E-D4F4-868C-E7898BC8C340}"/>
              </a:ext>
            </a:extLst>
          </p:cNvPr>
          <p:cNvSpPr>
            <a:spLocks noGrp="1"/>
          </p:cNvSpPr>
          <p:nvPr/>
        </p:nvSpPr>
        <p:spPr>
          <a:xfrm>
            <a:off x="4713434" y="4294616"/>
            <a:ext cx="45719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Dikdörtgen 36">
            <a:extLst>
              <a:ext uri="{FF2B5EF4-FFF2-40B4-BE49-F238E27FC236}">
                <a16:creationId xmlns:a16="http://schemas.microsoft.com/office/drawing/2014/main" id="{9492D3FD-CB13-769F-3662-E540C69B1C8D}"/>
              </a:ext>
            </a:extLst>
          </p:cNvPr>
          <p:cNvSpPr>
            <a:spLocks noGrp="1"/>
          </p:cNvSpPr>
          <p:nvPr/>
        </p:nvSpPr>
        <p:spPr>
          <a:xfrm>
            <a:off x="4881276" y="4205944"/>
            <a:ext cx="2633472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Alt çizgi</a:t>
            </a:r>
          </a:p>
        </p:txBody>
      </p:sp>
      <p:sp>
        <p:nvSpPr>
          <p:cNvPr id="38" name="Dikdörtgen 37">
            <a:extLst>
              <a:ext uri="{FF2B5EF4-FFF2-40B4-BE49-F238E27FC236}">
                <a16:creationId xmlns:a16="http://schemas.microsoft.com/office/drawing/2014/main" id="{85C5EB61-558A-1AAE-BD1B-5122580C3E7A}"/>
              </a:ext>
            </a:extLst>
          </p:cNvPr>
          <p:cNvSpPr>
            <a:spLocks noGrp="1"/>
          </p:cNvSpPr>
          <p:nvPr/>
        </p:nvSpPr>
        <p:spPr>
          <a:xfrm>
            <a:off x="4884885" y="4427966"/>
            <a:ext cx="2633472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Sıfır üretim bandı temizlik kararını grafik üzerinden savunuyor.</a:t>
            </a:r>
          </a:p>
        </p:txBody>
      </p:sp>
      <p:sp>
        <p:nvSpPr>
          <p:cNvPr id="100" name="Title_New"/>
          <p:cNvSpPr/>
          <p:nvPr/>
        </p:nvSpPr>
        <p:spPr>
          <a:xfrm>
            <a:off x="219202" y="54864"/>
            <a:ext cx="832104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600" b="1" dirty="0">
                <a:solidFill>
                  <a:srgbClr val="111827"/>
                </a:solidFill>
                <a:latin typeface="Georgia" pitchFamily="34" charset="0"/>
              </a:rPr>
              <a:t>Zaman Serisi ve Scatter Plot Analizi</a:t>
            </a:r>
            <a:endParaRPr lang="tr-TR" sz="1400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2979886-9DFF-E9CC-3851-A40EE754DE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7159" y="740926"/>
            <a:ext cx="3716841" cy="550000"/>
          </a:xfrm>
          <a:prstGeom prst="rect">
            <a:avLst/>
          </a:prstGeom>
        </p:spPr>
      </p:pic>
      <p:pic>
        <p:nvPicPr>
          <p:cNvPr id="8" name="Resim 7">
            <a:extLst>
              <a:ext uri="{FF2B5EF4-FFF2-40B4-BE49-F238E27FC236}">
                <a16:creationId xmlns:a16="http://schemas.microsoft.com/office/drawing/2014/main" id="{C8E030F0-FAD0-B443-F258-AEA46626D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514971"/>
            <a:ext cx="3802992" cy="816814"/>
          </a:xfrm>
          <a:prstGeom prst="rect">
            <a:avLst/>
          </a:prstGeom>
        </p:spPr>
      </p:pic>
      <p:sp>
        <p:nvSpPr>
          <p:cNvPr id="9" name="Text 28">
            <a:extLst>
              <a:ext uri="{FF2B5EF4-FFF2-40B4-BE49-F238E27FC236}">
                <a16:creationId xmlns:a16="http://schemas.microsoft.com/office/drawing/2014/main" id="{9A22118B-D8A3-59BD-ACFA-52ADC5612FC1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6</a:t>
            </a:r>
            <a:endParaRPr lang="en-US" sz="800" b="1" dirty="0"/>
          </a:p>
        </p:txBody>
      </p:sp>
      <p:sp>
        <p:nvSpPr>
          <p:cNvPr id="10" name="Shape 39">
            <a:extLst>
              <a:ext uri="{FF2B5EF4-FFF2-40B4-BE49-F238E27FC236}">
                <a16:creationId xmlns:a16="http://schemas.microsoft.com/office/drawing/2014/main" id="{05EA49CC-7ABE-9B0D-16FF-34361391E8E1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03 — VERI ÖN İŞLEME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88387" y="1720992"/>
            <a:ext cx="120833" cy="11306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462593" y="1640263"/>
            <a:ext cx="3749040" cy="2560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Birleştirme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62593" y="1893875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Generation ve weather tabloları DATE_TIME üzerinden eşleştirildi.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9839" y="261097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Gece Filtresi</a:t>
            </a:r>
            <a:endParaRPr lang="en-US" sz="14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43938" y="2986207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AC_POWER = 0 / IRRADIATION = 0 kayıtları model probleminden ayrıldı.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7326" y="3706785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  <a:solidFill>
                  <a:schemeClr val="accent6">
                    <a:lumMod val="60000"/>
                    <a:lumOff val="40000"/>
                  </a:schemeClr>
                </a:solidFill>
              </a:rPr>
              <a:t>IQR Kontrolü</a:t>
            </a:r>
            <a:endParaRPr lang="en-US" sz="1400" dirty="0"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1425" y="4044568"/>
            <a:ext cx="3749040" cy="48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err="1">
                <a:ea typeface="+mn-lt"/>
                <a:cs typeface="+mn-lt"/>
              </a:rPr>
              <a:t>Modelin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hatalı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kurallar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öğrenmesini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önlemek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için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veri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setindeki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ekstrem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gürültüler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kararlı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ve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dinamik</a:t>
            </a:r>
            <a:r>
              <a:rPr lang="en-US" sz="1200" dirty="0">
                <a:ea typeface="+mn-lt"/>
                <a:cs typeface="+mn-lt"/>
              </a:rPr>
              <a:t> IQR </a:t>
            </a:r>
            <a:r>
              <a:rPr lang="en-US" sz="1200" dirty="0" err="1">
                <a:ea typeface="+mn-lt"/>
                <a:cs typeface="+mn-lt"/>
              </a:rPr>
              <a:t>sınırlarıyla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temizlenmiştir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tr-TR" dirty="0">
              <a:ea typeface="+mn-lt"/>
              <a:cs typeface="+mn-lt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pic>
        <p:nvPicPr>
          <p:cNvPr id="28" name="Resim 27" descr="User attachment">
            <a:extLst>
              <a:ext uri="{FF2B5EF4-FFF2-40B4-BE49-F238E27FC236}">
                <a16:creationId xmlns:a16="http://schemas.microsoft.com/office/drawing/2014/main" id="{AA2FC02C-015D-511E-1768-585546751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501"/>
          <a:stretch>
            <a:fillRect/>
          </a:stretch>
        </p:blipFill>
        <p:spPr bwMode="auto">
          <a:xfrm>
            <a:off x="4675635" y="1656958"/>
            <a:ext cx="4152900" cy="8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Resim 28">
            <a:extLst>
              <a:ext uri="{FF2B5EF4-FFF2-40B4-BE49-F238E27FC236}">
                <a16:creationId xmlns:a16="http://schemas.microsoft.com/office/drawing/2014/main" id="{5F29A1D5-6E1E-8E3F-09A6-2E7C032060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404" r="1375"/>
          <a:stretch>
            <a:fillRect/>
          </a:stretch>
        </p:blipFill>
        <p:spPr>
          <a:xfrm>
            <a:off x="4747240" y="2795361"/>
            <a:ext cx="3680219" cy="477302"/>
          </a:xfrm>
          <a:prstGeom prst="rect">
            <a:avLst/>
          </a:prstGeom>
        </p:spPr>
      </p:pic>
      <p:pic>
        <p:nvPicPr>
          <p:cNvPr id="30" name="Resim 29">
            <a:extLst>
              <a:ext uri="{FF2B5EF4-FFF2-40B4-BE49-F238E27FC236}">
                <a16:creationId xmlns:a16="http://schemas.microsoft.com/office/drawing/2014/main" id="{A446F6BE-747F-C025-B9DC-3EEC2D3AFE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915" b="23465"/>
          <a:stretch>
            <a:fillRect/>
          </a:stretch>
        </p:blipFill>
        <p:spPr>
          <a:xfrm>
            <a:off x="4747240" y="3706785"/>
            <a:ext cx="3289193" cy="984138"/>
          </a:xfrm>
          <a:prstGeom prst="rect">
            <a:avLst/>
          </a:prstGeom>
        </p:spPr>
      </p:pic>
      <p:sp>
        <p:nvSpPr>
          <p:cNvPr id="48" name="Dikdörtgen 47">
            <a:extLst>
              <a:ext uri="{FF2B5EF4-FFF2-40B4-BE49-F238E27FC236}">
                <a16:creationId xmlns:a16="http://schemas.microsoft.com/office/drawing/2014/main" id="{6BF4A010-9EC3-B625-0377-4A6A79FD2C97}"/>
              </a:ext>
            </a:extLst>
          </p:cNvPr>
          <p:cNvSpPr>
            <a:spLocks noGrp="1"/>
          </p:cNvSpPr>
          <p:nvPr/>
        </p:nvSpPr>
        <p:spPr>
          <a:xfrm>
            <a:off x="288925" y="583726"/>
            <a:ext cx="45719" cy="38000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Dikdörtgen 48">
            <a:extLst>
              <a:ext uri="{FF2B5EF4-FFF2-40B4-BE49-F238E27FC236}">
                <a16:creationId xmlns:a16="http://schemas.microsoft.com/office/drawing/2014/main" id="{31FD6612-B2A8-7509-6218-1A33F8E44027}"/>
              </a:ext>
            </a:extLst>
          </p:cNvPr>
          <p:cNvSpPr>
            <a:spLocks noGrp="1"/>
          </p:cNvSpPr>
          <p:nvPr/>
        </p:nvSpPr>
        <p:spPr>
          <a:xfrm>
            <a:off x="343925" y="603726"/>
            <a:ext cx="900000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sz="1200" b="1" dirty="0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136.472</a:t>
            </a:r>
          </a:p>
        </p:txBody>
      </p:sp>
      <p:sp>
        <p:nvSpPr>
          <p:cNvPr id="50" name="Dikdörtgen 49">
            <a:extLst>
              <a:ext uri="{FF2B5EF4-FFF2-40B4-BE49-F238E27FC236}">
                <a16:creationId xmlns:a16="http://schemas.microsoft.com/office/drawing/2014/main" id="{7084B17D-0439-ED22-9BB4-8A8A44B41ACB}"/>
              </a:ext>
            </a:extLst>
          </p:cNvPr>
          <p:cNvSpPr>
            <a:spLocks noGrp="1"/>
          </p:cNvSpPr>
          <p:nvPr/>
        </p:nvSpPr>
        <p:spPr>
          <a:xfrm>
            <a:off x="343925" y="851866"/>
            <a:ext cx="1612342" cy="1418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Ham </a:t>
            </a:r>
            <a:r>
              <a:rPr sz="1200" b="1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</a:t>
            </a: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Dikdörtgen 50">
            <a:extLst>
              <a:ext uri="{FF2B5EF4-FFF2-40B4-BE49-F238E27FC236}">
                <a16:creationId xmlns:a16="http://schemas.microsoft.com/office/drawing/2014/main" id="{AB9A9FAF-4B89-9521-048D-30A8A2B156AB}"/>
              </a:ext>
            </a:extLst>
          </p:cNvPr>
          <p:cNvSpPr>
            <a:spLocks noGrp="1"/>
          </p:cNvSpPr>
          <p:nvPr/>
        </p:nvSpPr>
        <p:spPr>
          <a:xfrm>
            <a:off x="343924" y="1033746"/>
            <a:ext cx="2095063" cy="14997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İki plant generation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toplamı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2" name="Dikdörtgen 51">
            <a:extLst>
              <a:ext uri="{FF2B5EF4-FFF2-40B4-BE49-F238E27FC236}">
                <a16:creationId xmlns:a16="http://schemas.microsoft.com/office/drawing/2014/main" id="{C2DBC8BA-B5D4-3C8E-EC97-7357FD795747}"/>
              </a:ext>
            </a:extLst>
          </p:cNvPr>
          <p:cNvSpPr>
            <a:spLocks noGrp="1"/>
          </p:cNvSpPr>
          <p:nvPr/>
        </p:nvSpPr>
        <p:spPr>
          <a:xfrm>
            <a:off x="2796782" y="645564"/>
            <a:ext cx="45719" cy="38000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3" name="Dikdörtgen 52">
            <a:extLst>
              <a:ext uri="{FF2B5EF4-FFF2-40B4-BE49-F238E27FC236}">
                <a16:creationId xmlns:a16="http://schemas.microsoft.com/office/drawing/2014/main" id="{4A951A33-83B9-8514-4BB5-1CF40BF241DB}"/>
              </a:ext>
            </a:extLst>
          </p:cNvPr>
          <p:cNvSpPr>
            <a:spLocks noGrp="1"/>
          </p:cNvSpPr>
          <p:nvPr/>
        </p:nvSpPr>
        <p:spPr>
          <a:xfrm>
            <a:off x="2851782" y="665564"/>
            <a:ext cx="900000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68.859</a:t>
            </a:r>
          </a:p>
        </p:txBody>
      </p:sp>
      <p:sp>
        <p:nvSpPr>
          <p:cNvPr id="54" name="Dikdörtgen 53">
            <a:extLst>
              <a:ext uri="{FF2B5EF4-FFF2-40B4-BE49-F238E27FC236}">
                <a16:creationId xmlns:a16="http://schemas.microsoft.com/office/drawing/2014/main" id="{B0539E9D-BDB0-37EB-79EF-275E342B2AD8}"/>
              </a:ext>
            </a:extLst>
          </p:cNvPr>
          <p:cNvSpPr>
            <a:spLocks noGrp="1"/>
          </p:cNvSpPr>
          <p:nvPr/>
        </p:nvSpPr>
        <p:spPr>
          <a:xfrm>
            <a:off x="2851782" y="939532"/>
            <a:ext cx="1467556" cy="1160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Gündüz </a:t>
            </a:r>
            <a:r>
              <a:rPr sz="1200" b="1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</a:t>
            </a: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5" name="Dikdörtgen 54">
            <a:extLst>
              <a:ext uri="{FF2B5EF4-FFF2-40B4-BE49-F238E27FC236}">
                <a16:creationId xmlns:a16="http://schemas.microsoft.com/office/drawing/2014/main" id="{C92BC917-96BC-9DCD-0CF8-75D0DB214DE2}"/>
              </a:ext>
            </a:extLst>
          </p:cNvPr>
          <p:cNvSpPr>
            <a:spLocks noGrp="1"/>
          </p:cNvSpPr>
          <p:nvPr/>
        </p:nvSpPr>
        <p:spPr>
          <a:xfrm>
            <a:off x="2779389" y="1078600"/>
            <a:ext cx="1612342" cy="18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filtresi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sonrası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6" name="Dikdörtgen 55">
            <a:extLst>
              <a:ext uri="{FF2B5EF4-FFF2-40B4-BE49-F238E27FC236}">
                <a16:creationId xmlns:a16="http://schemas.microsoft.com/office/drawing/2014/main" id="{EF493BE6-7467-08DD-CAFC-4DD43A8BA7C5}"/>
              </a:ext>
            </a:extLst>
          </p:cNvPr>
          <p:cNvSpPr>
            <a:spLocks noGrp="1"/>
          </p:cNvSpPr>
          <p:nvPr/>
        </p:nvSpPr>
        <p:spPr>
          <a:xfrm>
            <a:off x="4497393" y="650429"/>
            <a:ext cx="45720" cy="380000"/>
          </a:xfrm>
          <a:prstGeom prst="rect">
            <a:avLst/>
          </a:prstGeom>
          <a:solidFill>
            <a:srgbClr val="B647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Dikdörtgen 56">
            <a:extLst>
              <a:ext uri="{FF2B5EF4-FFF2-40B4-BE49-F238E27FC236}">
                <a16:creationId xmlns:a16="http://schemas.microsoft.com/office/drawing/2014/main" id="{A7AA9469-7346-72DF-3B7A-59144F3B13C8}"/>
              </a:ext>
            </a:extLst>
          </p:cNvPr>
          <p:cNvSpPr>
            <a:spLocks noGrp="1"/>
          </p:cNvSpPr>
          <p:nvPr/>
        </p:nvSpPr>
        <p:spPr>
          <a:xfrm>
            <a:off x="4552392" y="670429"/>
            <a:ext cx="1665026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%49.5</a:t>
            </a:r>
          </a:p>
        </p:txBody>
      </p:sp>
      <p:sp>
        <p:nvSpPr>
          <p:cNvPr id="58" name="Dikdörtgen 57">
            <a:extLst>
              <a:ext uri="{FF2B5EF4-FFF2-40B4-BE49-F238E27FC236}">
                <a16:creationId xmlns:a16="http://schemas.microsoft.com/office/drawing/2014/main" id="{DA4B6657-49DD-3435-5231-7912232B6DF9}"/>
              </a:ext>
            </a:extLst>
          </p:cNvPr>
          <p:cNvSpPr>
            <a:spLocks noGrp="1"/>
          </p:cNvSpPr>
          <p:nvPr/>
        </p:nvSpPr>
        <p:spPr>
          <a:xfrm>
            <a:off x="4552392" y="930429"/>
            <a:ext cx="1665026" cy="1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6757E"/>
                </a:solidFill>
                <a:latin typeface="Aptos"/>
                <a:ea typeface="Aptos"/>
                <a:cs typeface="Aptos"/>
              </a:rPr>
              <a:t>Elenen kayıt</a:t>
            </a:r>
          </a:p>
        </p:txBody>
      </p:sp>
      <p:sp>
        <p:nvSpPr>
          <p:cNvPr id="59" name="Dikdörtgen 58">
            <a:extLst>
              <a:ext uri="{FF2B5EF4-FFF2-40B4-BE49-F238E27FC236}">
                <a16:creationId xmlns:a16="http://schemas.microsoft.com/office/drawing/2014/main" id="{DB96900E-2245-D6A3-F4E9-0AEBA09F6810}"/>
              </a:ext>
            </a:extLst>
          </p:cNvPr>
          <p:cNvSpPr>
            <a:spLocks noGrp="1"/>
          </p:cNvSpPr>
          <p:nvPr/>
        </p:nvSpPr>
        <p:spPr>
          <a:xfrm>
            <a:off x="4552392" y="1079535"/>
            <a:ext cx="2146290" cy="17089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Üretim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taşımayan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satırları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Dikdörtgen 3">
            <a:extLst>
              <a:ext uri="{FF2B5EF4-FFF2-40B4-BE49-F238E27FC236}">
                <a16:creationId xmlns:a16="http://schemas.microsoft.com/office/drawing/2014/main" id="{0B545ACB-3D51-C16A-4216-1DD8F0E2CFB6}"/>
              </a:ext>
            </a:extLst>
          </p:cNvPr>
          <p:cNvSpPr>
            <a:spLocks noGrp="1"/>
          </p:cNvSpPr>
          <p:nvPr/>
        </p:nvSpPr>
        <p:spPr>
          <a:xfrm>
            <a:off x="6944984" y="698911"/>
            <a:ext cx="1114791" cy="1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IQR </a:t>
            </a:r>
            <a:r>
              <a:rPr sz="1200" b="1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sonrası</a:t>
            </a: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Dikdörtgen 16">
            <a:extLst>
              <a:ext uri="{FF2B5EF4-FFF2-40B4-BE49-F238E27FC236}">
                <a16:creationId xmlns:a16="http://schemas.microsoft.com/office/drawing/2014/main" id="{709EE39A-2450-02E9-5DC8-F97EF34FD6B7}"/>
              </a:ext>
            </a:extLst>
          </p:cNvPr>
          <p:cNvSpPr>
            <a:spLocks noGrp="1"/>
          </p:cNvSpPr>
          <p:nvPr/>
        </p:nvSpPr>
        <p:spPr>
          <a:xfrm>
            <a:off x="6944985" y="885030"/>
            <a:ext cx="1921146" cy="321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Gece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filtresi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sonrası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ek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aykırı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kayıt</a:t>
            </a:r>
            <a:r>
              <a:rPr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çıkmadı</a:t>
            </a: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Dikdörtgen 17">
            <a:extLst>
              <a:ext uri="{FF2B5EF4-FFF2-40B4-BE49-F238E27FC236}">
                <a16:creationId xmlns:a16="http://schemas.microsoft.com/office/drawing/2014/main" id="{0B5AF145-2230-5EF8-0B06-1E7CA70161A2}"/>
              </a:ext>
            </a:extLst>
          </p:cNvPr>
          <p:cNvSpPr>
            <a:spLocks noGrp="1"/>
          </p:cNvSpPr>
          <p:nvPr/>
        </p:nvSpPr>
        <p:spPr>
          <a:xfrm>
            <a:off x="6899264" y="508911"/>
            <a:ext cx="45720" cy="380000"/>
          </a:xfrm>
          <a:prstGeom prst="rect">
            <a:avLst/>
          </a:prstGeom>
          <a:solidFill>
            <a:schemeClr val="accent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Dikdörtgen 18">
            <a:extLst>
              <a:ext uri="{FF2B5EF4-FFF2-40B4-BE49-F238E27FC236}">
                <a16:creationId xmlns:a16="http://schemas.microsoft.com/office/drawing/2014/main" id="{DC12B36E-2F00-82E0-A0CB-B8AC90A9CBC0}"/>
              </a:ext>
            </a:extLst>
          </p:cNvPr>
          <p:cNvSpPr>
            <a:spLocks noGrp="1"/>
          </p:cNvSpPr>
          <p:nvPr/>
        </p:nvSpPr>
        <p:spPr>
          <a:xfrm>
            <a:off x="6990704" y="514960"/>
            <a:ext cx="241637" cy="2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12B"/>
                </a:solidFill>
                <a:latin typeface="Georgia"/>
                <a:ea typeface="Georgia"/>
                <a:cs typeface="Georgia"/>
              </a:defRPr>
            </a:pPr>
            <a:r>
              <a:rPr lang="tr-TR" sz="1200" b="1" dirty="0">
                <a:solidFill>
                  <a:srgbClr val="10212B"/>
                </a:solidFill>
                <a:latin typeface="Georgia"/>
                <a:ea typeface="Georgia"/>
                <a:cs typeface="Georgia"/>
              </a:rPr>
              <a:t>0</a:t>
            </a:r>
            <a:endParaRPr sz="1200" b="1" dirty="0">
              <a:solidFill>
                <a:srgbClr val="10212B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0" name="Dikdörtgen 19">
            <a:extLst>
              <a:ext uri="{FF2B5EF4-FFF2-40B4-BE49-F238E27FC236}">
                <a16:creationId xmlns:a16="http://schemas.microsoft.com/office/drawing/2014/main" id="{3A89F403-7438-8D4A-84FA-AD55CABA14DC}"/>
              </a:ext>
            </a:extLst>
          </p:cNvPr>
          <p:cNvSpPr>
            <a:spLocks noGrp="1"/>
          </p:cNvSpPr>
          <p:nvPr/>
        </p:nvSpPr>
        <p:spPr>
          <a:xfrm>
            <a:off x="6519572" y="469662"/>
            <a:ext cx="1665026" cy="1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60" b="1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sz="1200" b="1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820F6E90-AC92-C46A-F877-D104E2818070}"/>
              </a:ext>
            </a:extLst>
          </p:cNvPr>
          <p:cNvSpPr/>
          <p:nvPr/>
        </p:nvSpPr>
        <p:spPr>
          <a:xfrm>
            <a:off x="288387" y="2682293"/>
            <a:ext cx="120833" cy="113068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97ABEBF5-2037-5C4A-AEA1-43EC8B84FA4E}"/>
              </a:ext>
            </a:extLst>
          </p:cNvPr>
          <p:cNvSpPr/>
          <p:nvPr/>
        </p:nvSpPr>
        <p:spPr>
          <a:xfrm>
            <a:off x="343817" y="3784948"/>
            <a:ext cx="120833" cy="113068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8">
            <a:extLst>
              <a:ext uri="{FF2B5EF4-FFF2-40B4-BE49-F238E27FC236}">
                <a16:creationId xmlns:a16="http://schemas.microsoft.com/office/drawing/2014/main" id="{1B5B1C68-FB28-CDB5-9EB8-6A7857CDDA8B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>
                <a:solidFill>
                  <a:srgbClr val="2D6A4F"/>
                </a:solidFill>
              </a:rPr>
              <a:t>7</a:t>
            </a:r>
            <a:endParaRPr lang="en-US" sz="800" b="1" dirty="0"/>
          </a:p>
        </p:txBody>
      </p:sp>
      <p:sp>
        <p:nvSpPr>
          <p:cNvPr id="25" name="Shape 39">
            <a:extLst>
              <a:ext uri="{FF2B5EF4-FFF2-40B4-BE49-F238E27FC236}">
                <a16:creationId xmlns:a16="http://schemas.microsoft.com/office/drawing/2014/main" id="{551314BF-8DB3-9CD1-7A77-2CD68C97A01E}"/>
              </a:ext>
            </a:extLst>
          </p:cNvPr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cxnSp>
        <p:nvCxnSpPr>
          <p:cNvPr id="33" name="Düz Ok Bağlayıcısı 32">
            <a:extLst>
              <a:ext uri="{FF2B5EF4-FFF2-40B4-BE49-F238E27FC236}">
                <a16:creationId xmlns:a16="http://schemas.microsoft.com/office/drawing/2014/main" id="{F69122C7-56C8-230A-4041-FDCF12EDE728}"/>
              </a:ext>
            </a:extLst>
          </p:cNvPr>
          <p:cNvCxnSpPr/>
          <p:nvPr/>
        </p:nvCxnSpPr>
        <p:spPr>
          <a:xfrm>
            <a:off x="4000500" y="2149907"/>
            <a:ext cx="542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Düz Ok Bağlayıcısı 33">
            <a:extLst>
              <a:ext uri="{FF2B5EF4-FFF2-40B4-BE49-F238E27FC236}">
                <a16:creationId xmlns:a16="http://schemas.microsoft.com/office/drawing/2014/main" id="{757B62EA-C9EC-D4C9-2642-A042C4D7EEF5}"/>
              </a:ext>
            </a:extLst>
          </p:cNvPr>
          <p:cNvCxnSpPr/>
          <p:nvPr/>
        </p:nvCxnSpPr>
        <p:spPr>
          <a:xfrm>
            <a:off x="4048031" y="3045257"/>
            <a:ext cx="542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Düz Ok Bağlayıcısı 34">
            <a:extLst>
              <a:ext uri="{FF2B5EF4-FFF2-40B4-BE49-F238E27FC236}">
                <a16:creationId xmlns:a16="http://schemas.microsoft.com/office/drawing/2014/main" id="{D9FF2B2E-74E2-5A84-CF19-FBCE6FFF2B5E}"/>
              </a:ext>
            </a:extLst>
          </p:cNvPr>
          <p:cNvCxnSpPr/>
          <p:nvPr/>
        </p:nvCxnSpPr>
        <p:spPr>
          <a:xfrm>
            <a:off x="4104415" y="4194607"/>
            <a:ext cx="5426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04 — DATA LEAKAGE &amp; NORMALIZASYON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Leakage Önlemi &amp; Normalizasyon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-83127" y="4935081"/>
            <a:ext cx="9275618" cy="50522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Text 40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pic>
        <p:nvPicPr>
          <p:cNvPr id="48" name="Resim 47" descr="metin, yazı tipi, ekran görüntüsü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4CB73BF-D816-38D1-01F3-EA7D75666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682" y="742231"/>
            <a:ext cx="5270021" cy="898765"/>
          </a:xfrm>
          <a:prstGeom prst="rect">
            <a:avLst/>
          </a:prstGeom>
        </p:spPr>
      </p:pic>
      <p:pic>
        <p:nvPicPr>
          <p:cNvPr id="49" name="Resim 48" descr="metin, ekran görüntüsü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33758617-9A98-5DB3-24C3-48D3BAB83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7682" y="2015959"/>
            <a:ext cx="4701217" cy="1506927"/>
          </a:xfrm>
          <a:prstGeom prst="rect">
            <a:avLst/>
          </a:prstGeom>
        </p:spPr>
      </p:pic>
      <p:pic>
        <p:nvPicPr>
          <p:cNvPr id="50" name="Resim 49" descr="metin, yazı tipi, ekran görüntüsü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5490E66A-3B9D-9E2D-DBEB-B19AE7B3D9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5713" y="3793826"/>
            <a:ext cx="2415217" cy="898585"/>
          </a:xfrm>
          <a:prstGeom prst="rect">
            <a:avLst/>
          </a:prstGeom>
        </p:spPr>
      </p:pic>
      <p:pic>
        <p:nvPicPr>
          <p:cNvPr id="52" name="Resim 51" descr="metin, ekran görüntüsü, yazı tipi, sayı, numara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B18C78D3-8B9D-3A66-E46F-B5A8271DD9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2" y="742231"/>
            <a:ext cx="3396599" cy="3051595"/>
          </a:xfrm>
          <a:prstGeom prst="rect">
            <a:avLst/>
          </a:prstGeom>
        </p:spPr>
      </p:pic>
      <p:sp>
        <p:nvSpPr>
          <p:cNvPr id="53" name="Metin kutusu 52">
            <a:extLst>
              <a:ext uri="{FF2B5EF4-FFF2-40B4-BE49-F238E27FC236}">
                <a16:creationId xmlns:a16="http://schemas.microsoft.com/office/drawing/2014/main" id="{A4FD62A2-8195-6FEB-24F8-819D9F528CAB}"/>
              </a:ext>
            </a:extLst>
          </p:cNvPr>
          <p:cNvSpPr txBox="1"/>
          <p:nvPr/>
        </p:nvSpPr>
        <p:spPr>
          <a:xfrm>
            <a:off x="3795623" y="1655194"/>
            <a:ext cx="54454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Train/</a:t>
            </a:r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validation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/test ayrımı ile model seçimi </a:t>
            </a:r>
            <a:r>
              <a:rPr lang="tr-TR" sz="1200" i="1" u="sng" kern="1200" dirty="0">
                <a:solidFill>
                  <a:schemeClr val="bg2">
                    <a:lumMod val="50000"/>
                  </a:schemeClr>
                </a:solidFill>
                <a:latin typeface="Calibri"/>
                <a:ea typeface="+mn-ea"/>
                <a:cs typeface="+mn-cs"/>
              </a:rPr>
              <a:t>ve 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final test ayrıldı</a:t>
            </a:r>
            <a:endParaRPr lang="tr-TR" sz="1200" i="1" u="sng" dirty="0">
              <a:solidFill>
                <a:schemeClr val="bg2">
                  <a:lumMod val="50000"/>
                </a:schemeClr>
              </a:solidFill>
            </a:endParaRPr>
          </a:p>
          <a:p>
            <a:pPr algn="ctr"/>
            <a:endParaRPr lang="tr-TR" sz="1200" dirty="0">
              <a:ea typeface="Calibri"/>
              <a:cs typeface="Calibri"/>
            </a:endParaRPr>
          </a:p>
        </p:txBody>
      </p:sp>
      <p:sp>
        <p:nvSpPr>
          <p:cNvPr id="54" name="Metin kutusu 53">
            <a:extLst>
              <a:ext uri="{FF2B5EF4-FFF2-40B4-BE49-F238E27FC236}">
                <a16:creationId xmlns:a16="http://schemas.microsoft.com/office/drawing/2014/main" id="{5EC98F4B-A4C6-FA8D-104A-EF87E88DFC0E}"/>
              </a:ext>
            </a:extLst>
          </p:cNvPr>
          <p:cNvSpPr txBox="1"/>
          <p:nvPr/>
        </p:nvSpPr>
        <p:spPr>
          <a:xfrm>
            <a:off x="3784840" y="3509806"/>
            <a:ext cx="324554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</a:rPr>
              <a:t>Scaler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</a:rPr>
              <a:t> fit /</a:t>
            </a:r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</a:rPr>
              <a:t>threshold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</a:rPr>
              <a:t> kodu </a:t>
            </a:r>
            <a:endParaRPr lang="tr-TR" sz="1200" i="1" u="sng" dirty="0">
              <a:solidFill>
                <a:schemeClr val="bg2">
                  <a:lumMod val="50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5" name="Metin kutusu 54">
            <a:extLst>
              <a:ext uri="{FF2B5EF4-FFF2-40B4-BE49-F238E27FC236}">
                <a16:creationId xmlns:a16="http://schemas.microsoft.com/office/drawing/2014/main" id="{6A23F50D-2BD3-FCD5-6D4D-1F526297803D}"/>
              </a:ext>
            </a:extLst>
          </p:cNvPr>
          <p:cNvSpPr txBox="1"/>
          <p:nvPr/>
        </p:nvSpPr>
        <p:spPr>
          <a:xfrm>
            <a:off x="3779901" y="4679049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Threshol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 sınırı ve </a:t>
            </a:r>
            <a:r>
              <a:rPr lang="tr-TR" sz="1200" i="1" u="sng" dirty="0" err="1">
                <a:solidFill>
                  <a:schemeClr val="bg2">
                    <a:lumMod val="50000"/>
                  </a:schemeClr>
                </a:solidFill>
                <a:latin typeface="Calibri"/>
              </a:rPr>
              <a:t>verilerinv</a:t>
            </a:r>
            <a:r>
              <a:rPr lang="tr-TR" sz="1200" i="1" u="sng" dirty="0">
                <a:solidFill>
                  <a:schemeClr val="bg2">
                    <a:lumMod val="50000"/>
                  </a:schemeClr>
                </a:solidFill>
                <a:latin typeface="Calibri"/>
              </a:rPr>
              <a:t>  sınıflanma sayısı  </a:t>
            </a:r>
            <a:r>
              <a:rPr lang="tr-TR" sz="1200" b="0" i="1" u="sng" dirty="0">
                <a:solidFill>
                  <a:schemeClr val="bg2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​</a:t>
            </a:r>
            <a:endParaRPr lang="tr-TR" sz="1200" i="1" u="sng" dirty="0">
              <a:solidFill>
                <a:schemeClr val="bg2">
                  <a:lumMod val="50000"/>
                </a:schemeClr>
              </a:solidFill>
            </a:endParaRPr>
          </a:p>
          <a:p>
            <a:pPr algn="ctr"/>
            <a:endParaRPr lang="tr-TR" i="1" u="sng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2ECA8034-0CFB-3DCD-59AD-F45BB1F6EA3B}"/>
              </a:ext>
            </a:extLst>
          </p:cNvPr>
          <p:cNvSpPr/>
          <p:nvPr/>
        </p:nvSpPr>
        <p:spPr>
          <a:xfrm>
            <a:off x="8351901" y="48828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8</a:t>
            </a:r>
            <a:endParaRPr lang="en-US" sz="800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ikdörtgen: Tek Köşesi Yuvarlatılmış 14">
            <a:extLst>
              <a:ext uri="{FF2B5EF4-FFF2-40B4-BE49-F238E27FC236}">
                <a16:creationId xmlns:a16="http://schemas.microsoft.com/office/drawing/2014/main" id="{07185A3A-D4DE-BA45-2774-6DE1D92F2FC5}"/>
              </a:ext>
            </a:extLst>
          </p:cNvPr>
          <p:cNvSpPr/>
          <p:nvPr/>
        </p:nvSpPr>
        <p:spPr>
          <a:xfrm>
            <a:off x="5473460" y="2621351"/>
            <a:ext cx="3200399" cy="709523"/>
          </a:xfrm>
          <a:prstGeom prst="round1Rect">
            <a:avLst/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rgbClr val="E5E7EB"/>
            </a:solidFill>
            <a:prstDash val="solid"/>
          </a:ln>
        </p:spPr>
        <p:txBody>
          <a:bodyPr rtlCol="0" anchor="ctr"/>
          <a:lstStyle/>
          <a:p>
            <a:pPr algn="l"/>
            <a:endParaRPr lang="tr-TR"/>
          </a:p>
        </p:txBody>
      </p:sp>
      <p:sp>
        <p:nvSpPr>
          <p:cNvPr id="2" name="Shape 23">
            <a:extLst>
              <a:ext uri="{FF2B5EF4-FFF2-40B4-BE49-F238E27FC236}">
                <a16:creationId xmlns:a16="http://schemas.microsoft.com/office/drawing/2014/main" id="{9A90B7BE-88B6-0119-44C6-1A715E7D2EEC}"/>
              </a:ext>
            </a:extLst>
          </p:cNvPr>
          <p:cNvSpPr/>
          <p:nvPr/>
        </p:nvSpPr>
        <p:spPr>
          <a:xfrm>
            <a:off x="411480" y="2337149"/>
            <a:ext cx="4319246" cy="234293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 dirty="0"/>
          </a:p>
        </p:txBody>
      </p:sp>
      <p:sp>
        <p:nvSpPr>
          <p:cNvPr id="3" name="Text 25">
            <a:extLst>
              <a:ext uri="{FF2B5EF4-FFF2-40B4-BE49-F238E27FC236}">
                <a16:creationId xmlns:a16="http://schemas.microsoft.com/office/drawing/2014/main" id="{24D964D8-DB33-FFBC-3168-30237EC8AEF9}"/>
              </a:ext>
            </a:extLst>
          </p:cNvPr>
          <p:cNvSpPr/>
          <p:nvPr/>
        </p:nvSpPr>
        <p:spPr>
          <a:xfrm>
            <a:off x="545362" y="2377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</a:rPr>
              <a:t>MinMaxScaler — Normalizasyon</a:t>
            </a:r>
            <a:endParaRPr lang="en-US" sz="1200"/>
          </a:p>
        </p:txBody>
      </p:sp>
      <p:sp>
        <p:nvSpPr>
          <p:cNvPr id="4" name="Text 26">
            <a:extLst>
              <a:ext uri="{FF2B5EF4-FFF2-40B4-BE49-F238E27FC236}">
                <a16:creationId xmlns:a16="http://schemas.microsoft.com/office/drawing/2014/main" id="{78DB12E5-E2B3-047D-C158-2215C9AC177E}"/>
              </a:ext>
            </a:extLst>
          </p:cNvPr>
          <p:cNvSpPr/>
          <p:nvPr/>
        </p:nvSpPr>
        <p:spPr>
          <a:xfrm>
            <a:off x="545362" y="2688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err="1">
                <a:solidFill>
                  <a:srgbClr val="2D6A4F"/>
                </a:solidFill>
              </a:rPr>
              <a:t>Formül</a:t>
            </a:r>
            <a:r>
              <a:rPr lang="en-US" sz="1200">
                <a:solidFill>
                  <a:srgbClr val="2D6A4F"/>
                </a:solidFill>
              </a:rPr>
              <a:t>:  </a:t>
            </a:r>
            <a:r>
              <a:rPr lang="en-US" sz="1200" err="1">
                <a:solidFill>
                  <a:srgbClr val="2D6A4F"/>
                </a:solidFill>
              </a:rPr>
              <a:t>X_scaled</a:t>
            </a:r>
            <a:r>
              <a:rPr lang="en-US" sz="1200">
                <a:solidFill>
                  <a:srgbClr val="2D6A4F"/>
                </a:solidFill>
              </a:rPr>
              <a:t> = (X – </a:t>
            </a:r>
            <a:r>
              <a:rPr lang="en-US" sz="1200" err="1">
                <a:solidFill>
                  <a:srgbClr val="2D6A4F"/>
                </a:solidFill>
              </a:rPr>
              <a:t>X_min</a:t>
            </a:r>
            <a:r>
              <a:rPr lang="en-US" sz="1200">
                <a:solidFill>
                  <a:srgbClr val="2D6A4F"/>
                </a:solidFill>
              </a:rPr>
              <a:t>) / (</a:t>
            </a:r>
            <a:r>
              <a:rPr lang="en-US" sz="1200" err="1">
                <a:solidFill>
                  <a:srgbClr val="2D6A4F"/>
                </a:solidFill>
              </a:rPr>
              <a:t>X_max</a:t>
            </a:r>
            <a:r>
              <a:rPr lang="en-US" sz="1200">
                <a:solidFill>
                  <a:srgbClr val="2D6A4F"/>
                </a:solidFill>
              </a:rPr>
              <a:t> – </a:t>
            </a:r>
            <a:r>
              <a:rPr lang="en-US" sz="1200" err="1">
                <a:solidFill>
                  <a:srgbClr val="2D6A4F"/>
                </a:solidFill>
              </a:rPr>
              <a:t>X_min</a:t>
            </a:r>
            <a:r>
              <a:rPr lang="en-US" sz="1200">
                <a:solidFill>
                  <a:srgbClr val="2D6A4F"/>
                </a:solidFill>
              </a:rPr>
              <a:t>)</a:t>
            </a:r>
            <a:endParaRPr lang="en-US" sz="1200"/>
          </a:p>
        </p:txBody>
      </p:sp>
      <p:sp>
        <p:nvSpPr>
          <p:cNvPr id="5" name="Text 27">
            <a:extLst>
              <a:ext uri="{FF2B5EF4-FFF2-40B4-BE49-F238E27FC236}">
                <a16:creationId xmlns:a16="http://schemas.microsoft.com/office/drawing/2014/main" id="{9E4FB962-4BEE-0EE5-A236-3715FC44678E}"/>
              </a:ext>
            </a:extLst>
          </p:cNvPr>
          <p:cNvSpPr/>
          <p:nvPr/>
        </p:nvSpPr>
        <p:spPr>
          <a:xfrm>
            <a:off x="545362" y="29723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 err="1">
                <a:solidFill>
                  <a:srgbClr val="374151"/>
                </a:solidFill>
              </a:rPr>
              <a:t>Sonuç</a:t>
            </a:r>
            <a:r>
              <a:rPr lang="en-US" sz="1200" dirty="0">
                <a:solidFill>
                  <a:srgbClr val="374151"/>
                </a:solidFill>
              </a:rPr>
              <a:t>: </a:t>
            </a:r>
            <a:r>
              <a:rPr lang="en-US" sz="1200" dirty="0" err="1">
                <a:solidFill>
                  <a:srgbClr val="374151"/>
                </a:solidFill>
              </a:rPr>
              <a:t>Tüm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özellikler</a:t>
            </a:r>
            <a:r>
              <a:rPr lang="en-US" sz="1200" dirty="0">
                <a:solidFill>
                  <a:srgbClr val="374151"/>
                </a:solidFill>
              </a:rPr>
              <a:t> [0, 1] </a:t>
            </a:r>
            <a:r>
              <a:rPr lang="en-US" sz="1200" dirty="0" err="1">
                <a:solidFill>
                  <a:srgbClr val="374151"/>
                </a:solidFill>
              </a:rPr>
              <a:t>aralığına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ölçeklendi</a:t>
            </a:r>
            <a:endParaRPr lang="en-US" sz="1200" dirty="0"/>
          </a:p>
        </p:txBody>
      </p:sp>
      <p:sp>
        <p:nvSpPr>
          <p:cNvPr id="6" name="Shape 28">
            <a:extLst>
              <a:ext uri="{FF2B5EF4-FFF2-40B4-BE49-F238E27FC236}">
                <a16:creationId xmlns:a16="http://schemas.microsoft.com/office/drawing/2014/main" id="{68B8A1B7-9444-2FB5-AC3E-2E7FD0898398}"/>
              </a:ext>
            </a:extLst>
          </p:cNvPr>
          <p:cNvSpPr/>
          <p:nvPr/>
        </p:nvSpPr>
        <p:spPr>
          <a:xfrm>
            <a:off x="545362" y="3347216"/>
            <a:ext cx="2377440" cy="274320"/>
          </a:xfrm>
          <a:prstGeom prst="rect">
            <a:avLst/>
          </a:prstGeom>
          <a:solidFill>
            <a:srgbClr val="D8F3DC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sp>
        <p:nvSpPr>
          <p:cNvPr id="7" name="Text 29">
            <a:extLst>
              <a:ext uri="{FF2B5EF4-FFF2-40B4-BE49-F238E27FC236}">
                <a16:creationId xmlns:a16="http://schemas.microsoft.com/office/drawing/2014/main" id="{D97CDB75-4777-33DC-FA45-781131E5BD63}"/>
              </a:ext>
            </a:extLst>
          </p:cNvPr>
          <p:cNvSpPr/>
          <p:nvPr/>
        </p:nvSpPr>
        <p:spPr>
          <a:xfrm>
            <a:off x="600226" y="33655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1B4332"/>
                </a:solidFill>
              </a:rPr>
              <a:t>Train fit + transform</a:t>
            </a:r>
            <a:endParaRPr lang="en-US" sz="1200"/>
          </a:p>
        </p:txBody>
      </p:sp>
      <p:sp>
        <p:nvSpPr>
          <p:cNvPr id="8" name="Text 30">
            <a:extLst>
              <a:ext uri="{FF2B5EF4-FFF2-40B4-BE49-F238E27FC236}">
                <a16:creationId xmlns:a16="http://schemas.microsoft.com/office/drawing/2014/main" id="{B7422B1B-075F-D703-043C-B7A8EAFBAAD6}"/>
              </a:ext>
            </a:extLst>
          </p:cNvPr>
          <p:cNvSpPr/>
          <p:nvPr/>
        </p:nvSpPr>
        <p:spPr>
          <a:xfrm>
            <a:off x="2995954" y="336550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2D6A4F"/>
                </a:solidFill>
              </a:rPr>
              <a:t>44.069 satır</a:t>
            </a:r>
            <a:endParaRPr lang="en-US" sz="1200"/>
          </a:p>
        </p:txBody>
      </p:sp>
      <p:sp>
        <p:nvSpPr>
          <p:cNvPr id="9" name="Shape 31">
            <a:extLst>
              <a:ext uri="{FF2B5EF4-FFF2-40B4-BE49-F238E27FC236}">
                <a16:creationId xmlns:a16="http://schemas.microsoft.com/office/drawing/2014/main" id="{B3CB8F51-15AD-7423-7DA1-19BE9904166A}"/>
              </a:ext>
            </a:extLst>
          </p:cNvPr>
          <p:cNvSpPr/>
          <p:nvPr/>
        </p:nvSpPr>
        <p:spPr>
          <a:xfrm>
            <a:off x="545362" y="3731264"/>
            <a:ext cx="23774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sp>
        <p:nvSpPr>
          <p:cNvPr id="10" name="Text 32">
            <a:extLst>
              <a:ext uri="{FF2B5EF4-FFF2-40B4-BE49-F238E27FC236}">
                <a16:creationId xmlns:a16="http://schemas.microsoft.com/office/drawing/2014/main" id="{E9DF0414-BA09-5364-6401-6B8E804B99F6}"/>
              </a:ext>
            </a:extLst>
          </p:cNvPr>
          <p:cNvSpPr/>
          <p:nvPr/>
        </p:nvSpPr>
        <p:spPr>
          <a:xfrm>
            <a:off x="600226" y="374955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1B4332"/>
                </a:solidFill>
              </a:rPr>
              <a:t>Val → </a:t>
            </a:r>
            <a:r>
              <a:rPr lang="en-US" sz="1200" err="1">
                <a:solidFill>
                  <a:srgbClr val="1B4332"/>
                </a:solidFill>
              </a:rPr>
              <a:t>sadece</a:t>
            </a:r>
            <a:r>
              <a:rPr lang="en-US" sz="1200">
                <a:solidFill>
                  <a:srgbClr val="1B4332"/>
                </a:solidFill>
              </a:rPr>
              <a:t> transform</a:t>
            </a:r>
            <a:endParaRPr lang="en-US" sz="1200"/>
          </a:p>
        </p:txBody>
      </p:sp>
      <p:sp>
        <p:nvSpPr>
          <p:cNvPr id="11" name="Text 33">
            <a:extLst>
              <a:ext uri="{FF2B5EF4-FFF2-40B4-BE49-F238E27FC236}">
                <a16:creationId xmlns:a16="http://schemas.microsoft.com/office/drawing/2014/main" id="{7F5EE730-7802-7A4B-8F24-5608FBC30622}"/>
              </a:ext>
            </a:extLst>
          </p:cNvPr>
          <p:cNvSpPr/>
          <p:nvPr/>
        </p:nvSpPr>
        <p:spPr>
          <a:xfrm>
            <a:off x="2995954" y="37495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2D6A4F"/>
                </a:solidFill>
              </a:rPr>
              <a:t>11.018 satır</a:t>
            </a:r>
            <a:endParaRPr lang="en-US" sz="1200"/>
          </a:p>
        </p:txBody>
      </p:sp>
      <p:sp>
        <p:nvSpPr>
          <p:cNvPr id="12" name="Shape 34">
            <a:extLst>
              <a:ext uri="{FF2B5EF4-FFF2-40B4-BE49-F238E27FC236}">
                <a16:creationId xmlns:a16="http://schemas.microsoft.com/office/drawing/2014/main" id="{C748B3D8-F853-5C4A-8C97-C2A6DD66221F}"/>
              </a:ext>
            </a:extLst>
          </p:cNvPr>
          <p:cNvSpPr/>
          <p:nvPr/>
        </p:nvSpPr>
        <p:spPr>
          <a:xfrm>
            <a:off x="545362" y="4115312"/>
            <a:ext cx="2377440" cy="274320"/>
          </a:xfrm>
          <a:prstGeom prst="rect">
            <a:avLst/>
          </a:prstGeom>
          <a:solidFill>
            <a:srgbClr val="F9FAFB"/>
          </a:solidFill>
          <a:ln w="6350">
            <a:solidFill>
              <a:srgbClr val="B7E4C7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sp>
        <p:nvSpPr>
          <p:cNvPr id="13" name="Text 35">
            <a:extLst>
              <a:ext uri="{FF2B5EF4-FFF2-40B4-BE49-F238E27FC236}">
                <a16:creationId xmlns:a16="http://schemas.microsoft.com/office/drawing/2014/main" id="{1DD459D2-84DC-6649-CE08-BEFB16AFBA12}"/>
              </a:ext>
            </a:extLst>
          </p:cNvPr>
          <p:cNvSpPr/>
          <p:nvPr/>
        </p:nvSpPr>
        <p:spPr>
          <a:xfrm>
            <a:off x="600226" y="41336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1B4332"/>
                </a:solidFill>
              </a:rPr>
              <a:t>Test → sadece transform</a:t>
            </a:r>
            <a:endParaRPr lang="en-US" sz="1200"/>
          </a:p>
        </p:txBody>
      </p:sp>
      <p:sp>
        <p:nvSpPr>
          <p:cNvPr id="14" name="Text 36">
            <a:extLst>
              <a:ext uri="{FF2B5EF4-FFF2-40B4-BE49-F238E27FC236}">
                <a16:creationId xmlns:a16="http://schemas.microsoft.com/office/drawing/2014/main" id="{AA841AE5-FC17-8E81-004F-C8FE3CC39E46}"/>
              </a:ext>
            </a:extLst>
          </p:cNvPr>
          <p:cNvSpPr/>
          <p:nvPr/>
        </p:nvSpPr>
        <p:spPr>
          <a:xfrm>
            <a:off x="2995954" y="41336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>
                <a:solidFill>
                  <a:srgbClr val="2D6A4F"/>
                </a:solidFill>
              </a:rPr>
              <a:t>13.772 satır</a:t>
            </a:r>
            <a:endParaRPr lang="en-US" sz="1200"/>
          </a:p>
        </p:txBody>
      </p:sp>
      <p:sp>
        <p:nvSpPr>
          <p:cNvPr id="16" name="Shape 24">
            <a:extLst>
              <a:ext uri="{FF2B5EF4-FFF2-40B4-BE49-F238E27FC236}">
                <a16:creationId xmlns:a16="http://schemas.microsoft.com/office/drawing/2014/main" id="{845A0D99-27A0-A6C1-0D3B-D206BF4EF82C}"/>
              </a:ext>
            </a:extLst>
          </p:cNvPr>
          <p:cNvSpPr/>
          <p:nvPr/>
        </p:nvSpPr>
        <p:spPr>
          <a:xfrm>
            <a:off x="346782" y="2347931"/>
            <a:ext cx="61075" cy="2342936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tr-TR"/>
          </a:p>
        </p:txBody>
      </p:sp>
      <p:pic>
        <p:nvPicPr>
          <p:cNvPr id="17" name="Resim 16" descr="metin, ekran görüntüsü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180CBEEC-A542-31E9-70B4-B99D46DC8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25" y="510934"/>
            <a:ext cx="7515225" cy="1123950"/>
          </a:xfrm>
          <a:prstGeom prst="rect">
            <a:avLst/>
          </a:prstGeom>
        </p:spPr>
      </p:pic>
      <p:sp>
        <p:nvSpPr>
          <p:cNvPr id="18" name="Metin kutusu 17">
            <a:extLst>
              <a:ext uri="{FF2B5EF4-FFF2-40B4-BE49-F238E27FC236}">
                <a16:creationId xmlns:a16="http://schemas.microsoft.com/office/drawing/2014/main" id="{D48D13BA-6D26-A0D7-43EA-41995D6A8123}"/>
              </a:ext>
            </a:extLst>
          </p:cNvPr>
          <p:cNvSpPr txBox="1"/>
          <p:nvPr/>
        </p:nvSpPr>
        <p:spPr>
          <a:xfrm>
            <a:off x="5564379" y="2776877"/>
            <a:ext cx="33646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dirty="0"/>
              <a:t>Neden </a:t>
            </a:r>
            <a:r>
              <a:rPr lang="tr-TR" dirty="0" err="1"/>
              <a:t>min</a:t>
            </a:r>
            <a:r>
              <a:rPr lang="tr-TR" dirty="0"/>
              <a:t>/</a:t>
            </a:r>
            <a:r>
              <a:rPr lang="tr-TR" dirty="0" err="1"/>
              <a:t>max</a:t>
            </a:r>
            <a:r>
              <a:rPr lang="tr-TR" dirty="0"/>
              <a:t> uygulanıyor?</a:t>
            </a: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AFC05C4B-B420-E3F2-18FA-6D8F5B8F9A17}"/>
              </a:ext>
            </a:extLst>
          </p:cNvPr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52B788"/>
                </a:solidFill>
              </a:rPr>
              <a:t>04 — DATA LEAKAGE &amp; NORMALIZASYON</a:t>
            </a:r>
            <a:endParaRPr lang="en-US" sz="800"/>
          </a:p>
        </p:txBody>
      </p:sp>
      <p:sp>
        <p:nvSpPr>
          <p:cNvPr id="19" name="Text 28">
            <a:extLst>
              <a:ext uri="{FF2B5EF4-FFF2-40B4-BE49-F238E27FC236}">
                <a16:creationId xmlns:a16="http://schemas.microsoft.com/office/drawing/2014/main" id="{2DE0FA43-8C08-7CFF-545C-B374AB11881F}"/>
              </a:ext>
            </a:extLst>
          </p:cNvPr>
          <p:cNvSpPr/>
          <p:nvPr/>
        </p:nvSpPr>
        <p:spPr>
          <a:xfrm>
            <a:off x="8428101" y="493508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b="1" dirty="0"/>
              <a:t>9</a:t>
            </a:r>
            <a:endParaRPr lang="en-US" sz="800" b="1" dirty="0"/>
          </a:p>
        </p:txBody>
      </p:sp>
      <p:sp>
        <p:nvSpPr>
          <p:cNvPr id="21" name="Shape 39">
            <a:extLst>
              <a:ext uri="{FF2B5EF4-FFF2-40B4-BE49-F238E27FC236}">
                <a16:creationId xmlns:a16="http://schemas.microsoft.com/office/drawing/2014/main" id="{F026A398-CA3A-71D7-EB89-26127AA90FC2}"/>
              </a:ext>
            </a:extLst>
          </p:cNvPr>
          <p:cNvSpPr/>
          <p:nvPr/>
        </p:nvSpPr>
        <p:spPr>
          <a:xfrm>
            <a:off x="-70277" y="4935081"/>
            <a:ext cx="9275618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Text 40">
            <a:extLst>
              <a:ext uri="{FF2B5EF4-FFF2-40B4-BE49-F238E27FC236}">
                <a16:creationId xmlns:a16="http://schemas.microsoft.com/office/drawing/2014/main" id="{972BCAAC-3D92-B990-EDCD-10318E66DB52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1046593A-BA67-1001-CBA9-965E68EBBB43}"/>
              </a:ext>
            </a:extLst>
          </p:cNvPr>
          <p:cNvSpPr txBox="1"/>
          <p:nvPr/>
        </p:nvSpPr>
        <p:spPr>
          <a:xfrm>
            <a:off x="3183232" y="1659153"/>
            <a:ext cx="32003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200" i="1" u="sng" dirty="0"/>
              <a:t>Normalizasyon uygulaması</a:t>
            </a:r>
          </a:p>
        </p:txBody>
      </p:sp>
    </p:spTree>
    <p:extLst>
      <p:ext uri="{BB962C8B-B14F-4D97-AF65-F5344CB8AC3E}">
        <p14:creationId xmlns:p14="http://schemas.microsoft.com/office/powerpoint/2010/main" val="2080063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05 — ÖZELLIK SEÇIMI — KORELASYON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Yöntem</a:t>
            </a:r>
            <a:r>
              <a:rPr lang="en-US" sz="1600" b="1" dirty="0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1: </a:t>
            </a:r>
            <a:r>
              <a:rPr lang="en-US" sz="1600" b="1" dirty="0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Korelasyon</a:t>
            </a:r>
            <a:r>
              <a:rPr lang="en-US" sz="1600" b="1" dirty="0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Matrisi</a:t>
            </a:r>
            <a:endParaRPr lang="en-US" sz="1400" dirty="0">
              <a:latin typeface="Georgia"/>
            </a:endParaRPr>
          </a:p>
        </p:txBody>
      </p:sp>
      <p:sp>
        <p:nvSpPr>
          <p:cNvPr id="5" name="Text 3"/>
          <p:cNvSpPr/>
          <p:nvPr/>
        </p:nvSpPr>
        <p:spPr>
          <a:xfrm>
            <a:off x="288925" y="102163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6B7280"/>
                </a:solidFill>
                <a:ea typeface="+mn-lt"/>
                <a:cs typeface="+mn-lt"/>
              </a:rPr>
              <a:t>Filter </a:t>
            </a:r>
            <a:r>
              <a:rPr lang="en-US" sz="1200" i="1" dirty="0" err="1">
                <a:solidFill>
                  <a:srgbClr val="6B7280"/>
                </a:solidFill>
                <a:ea typeface="+mn-lt"/>
                <a:cs typeface="+mn-lt"/>
              </a:rPr>
              <a:t>yöntemi</a:t>
            </a:r>
            <a:r>
              <a:rPr lang="en-US" sz="1200" i="1" dirty="0">
                <a:solidFill>
                  <a:srgbClr val="6B7280"/>
                </a:solidFill>
                <a:ea typeface="+mn-lt"/>
                <a:cs typeface="+mn-lt"/>
              </a:rPr>
              <a:t> — Özellikler </a:t>
            </a:r>
            <a:r>
              <a:rPr lang="en-US" sz="1200" i="1" dirty="0" err="1">
                <a:solidFill>
                  <a:srgbClr val="6B7280"/>
                </a:solidFill>
                <a:ea typeface="+mn-lt"/>
                <a:cs typeface="+mn-lt"/>
              </a:rPr>
              <a:t>arası</a:t>
            </a:r>
            <a:r>
              <a:rPr lang="en-US" sz="1200" i="1" dirty="0">
                <a:solidFill>
                  <a:srgbClr val="6B7280"/>
                </a:solidFill>
                <a:ea typeface="+mn-lt"/>
                <a:cs typeface="+mn-lt"/>
              </a:rPr>
              <a:t> Pearson </a:t>
            </a:r>
            <a:r>
              <a:rPr lang="en-US" sz="1200" i="1" dirty="0" err="1">
                <a:solidFill>
                  <a:srgbClr val="6B7280"/>
                </a:solidFill>
                <a:ea typeface="+mn-lt"/>
                <a:cs typeface="+mn-lt"/>
              </a:rPr>
              <a:t>korelasyonu</a:t>
            </a:r>
            <a:endParaRPr lang="en-US" sz="1200" dirty="0"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342409"/>
            <a:ext cx="3977640" cy="33375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274320" y="1342409"/>
            <a:ext cx="50292" cy="333756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429768" y="1415561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Yöntem Açıklaması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08169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Pearson korelasyon katsayısı, özellik ile hedef arasındaki doğrusal ilişkinin gücünü ölçer.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|r| &gt; 0.5 → güçlü ilişki, özellik seçimi için uygun.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" y="2320817"/>
            <a:ext cx="1920240" cy="27432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475488" y="2320817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Özellik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77440" y="2320817"/>
            <a:ext cx="1005840" cy="27432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2423160" y="2320817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Korelasyon (r)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10712" y="2320817"/>
            <a:ext cx="822960" cy="27432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3456432" y="2320817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Durum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" y="2622569"/>
            <a:ext cx="19202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Shape 15"/>
          <p:cNvSpPr/>
          <p:nvPr/>
        </p:nvSpPr>
        <p:spPr>
          <a:xfrm>
            <a:off x="2377440" y="2622569"/>
            <a:ext cx="10058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3410712" y="2622569"/>
            <a:ext cx="8229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475488" y="267743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IRRADIATION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67743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0.8236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56432" y="267743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✓ Seçildi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" y="3024905"/>
            <a:ext cx="19202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2377440" y="3024905"/>
            <a:ext cx="10058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Shape 22"/>
          <p:cNvSpPr/>
          <p:nvPr/>
        </p:nvSpPr>
        <p:spPr>
          <a:xfrm>
            <a:off x="3410712" y="3024905"/>
            <a:ext cx="8229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475488" y="3079769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MODULE_TEMPERATURE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07976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0.7687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56432" y="3079769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✓ Seçildi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" y="3427241"/>
            <a:ext cx="19202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Shape 27"/>
          <p:cNvSpPr/>
          <p:nvPr/>
        </p:nvSpPr>
        <p:spPr>
          <a:xfrm>
            <a:off x="2377440" y="3427241"/>
            <a:ext cx="100584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3410712" y="3427241"/>
            <a:ext cx="8229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475488" y="3482105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AMBIENT_TEMPERATURE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23160" y="34821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0.3946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456432" y="348210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✓ Seçildi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" y="3829577"/>
            <a:ext cx="19202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Shape 33"/>
          <p:cNvSpPr/>
          <p:nvPr/>
        </p:nvSpPr>
        <p:spPr>
          <a:xfrm>
            <a:off x="2377440" y="3829577"/>
            <a:ext cx="10058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Shape 34"/>
          <p:cNvSpPr/>
          <p:nvPr/>
        </p:nvSpPr>
        <p:spPr>
          <a:xfrm>
            <a:off x="3410712" y="3829577"/>
            <a:ext cx="82296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Text 35"/>
          <p:cNvSpPr/>
          <p:nvPr/>
        </p:nvSpPr>
        <p:spPr>
          <a:xfrm>
            <a:off x="475488" y="388444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DAILY_YIELD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23160" y="3884441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0.0522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456432" y="3884441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✗ Elendi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9768" y="4231913"/>
            <a:ext cx="19202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Shape 39"/>
          <p:cNvSpPr/>
          <p:nvPr/>
        </p:nvSpPr>
        <p:spPr>
          <a:xfrm>
            <a:off x="2377440" y="4231913"/>
            <a:ext cx="100584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Shape 40"/>
          <p:cNvSpPr/>
          <p:nvPr/>
        </p:nvSpPr>
        <p:spPr>
          <a:xfrm>
            <a:off x="3410712" y="4231913"/>
            <a:ext cx="822960" cy="347472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41"/>
          <p:cNvSpPr/>
          <p:nvPr/>
        </p:nvSpPr>
        <p:spPr>
          <a:xfrm>
            <a:off x="475488" y="4286777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TOTAL_YIELD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423160" y="42867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0.0494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456432" y="4286777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✗ Elendi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386156" y="486460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800" dirty="0"/>
              <a:t>10</a:t>
            </a:r>
            <a:endParaRPr lang="en-US" sz="800" dirty="0"/>
          </a:p>
        </p:txBody>
      </p:sp>
      <p:sp>
        <p:nvSpPr>
          <p:cNvPr id="53" name="Metin kutusu 52">
            <a:extLst>
              <a:ext uri="{FF2B5EF4-FFF2-40B4-BE49-F238E27FC236}">
                <a16:creationId xmlns:a16="http://schemas.microsoft.com/office/drawing/2014/main" id="{F39551E9-E716-F923-62A4-C32860CE3AEF}"/>
              </a:ext>
            </a:extLst>
          </p:cNvPr>
          <p:cNvSpPr txBox="1"/>
          <p:nvPr/>
        </p:nvSpPr>
        <p:spPr>
          <a:xfrm>
            <a:off x="323491" y="738637"/>
            <a:ext cx="7084443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0" i="0" u="none" strike="noStrike" baseline="0">
                <a:solidFill>
                  <a:srgbClr val="000000"/>
                </a:solidFill>
                <a:latin typeface="Calibri"/>
              </a:rPr>
              <a:t>Daha yalın ve yüksek başarımlı bir model için tahmine doğrudan etkisi olan en güçlü özellikler seçilmiştir.</a:t>
            </a:r>
            <a:r>
              <a:rPr sz="12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tr-TR"/>
          </a:p>
          <a:p>
            <a:pPr algn="ctr"/>
            <a:endParaRPr lang="tr-TR"/>
          </a:p>
        </p:txBody>
      </p:sp>
      <p:pic>
        <p:nvPicPr>
          <p:cNvPr id="54" name="Resim 53" descr="metin, ekran görüntüsü, kare, dikdörtgen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AC4C9E10-8072-C733-6D15-5CC1047E3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3924" y="1019321"/>
            <a:ext cx="4640872" cy="38387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06 — ÖZELLIK SEÇIMI — SELECTKBEST &amp; RFE &amp; MI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374" y="164592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İstatistiksel Yöntem Karşılaştırması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" y="791435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B7280"/>
                </a:solidFill>
              </a:rPr>
              <a:t>Filter, Wrapper </a:t>
            </a:r>
            <a:r>
              <a:rPr lang="en-US" sz="1600" i="1" dirty="0" err="1">
                <a:solidFill>
                  <a:srgbClr val="6B7280"/>
                </a:solidFill>
              </a:rPr>
              <a:t>ve</a:t>
            </a:r>
            <a:r>
              <a:rPr lang="en-US" sz="1600" i="1" dirty="0">
                <a:solidFill>
                  <a:srgbClr val="6B7280"/>
                </a:solidFill>
              </a:rPr>
              <a:t> Information-based </a:t>
            </a:r>
            <a:r>
              <a:rPr lang="en-US" sz="1600" i="1" dirty="0" err="1">
                <a:solidFill>
                  <a:srgbClr val="6B7280"/>
                </a:solidFill>
              </a:rPr>
              <a:t>yaklaşımlar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14028" y="1417355"/>
            <a:ext cx="2902133" cy="91159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Shape 5"/>
          <p:cNvSpPr/>
          <p:nvPr/>
        </p:nvSpPr>
        <p:spPr>
          <a:xfrm>
            <a:off x="320040" y="1427194"/>
            <a:ext cx="108848" cy="7589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Shape 6"/>
          <p:cNvSpPr/>
          <p:nvPr/>
        </p:nvSpPr>
        <p:spPr>
          <a:xfrm>
            <a:off x="428888" y="1427194"/>
            <a:ext cx="822960" cy="23774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428888" y="142719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Filter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08366" y="1379081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accent6">
                    <a:lumMod val="50000"/>
                  </a:schemeClr>
                </a:solidFill>
              </a:rPr>
              <a:t>SelectKBest</a:t>
            </a:r>
            <a:endParaRPr lang="en-US" sz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573407" y="16588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F-</a:t>
            </a:r>
            <a:r>
              <a:rPr lang="en-US" sz="1200" dirty="0" err="1">
                <a:solidFill>
                  <a:srgbClr val="374151"/>
                </a:solidFill>
              </a:rPr>
              <a:t>classif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istatistiğine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göre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en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yüksek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skorlu</a:t>
            </a:r>
            <a:r>
              <a:rPr lang="en-US" sz="1200" dirty="0">
                <a:solidFill>
                  <a:srgbClr val="374151"/>
                </a:solidFill>
              </a:rPr>
              <a:t> k </a:t>
            </a:r>
            <a:r>
              <a:rPr lang="en-US" sz="1200" dirty="0" err="1">
                <a:solidFill>
                  <a:srgbClr val="374151"/>
                </a:solidFill>
              </a:rPr>
              <a:t>özelliği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seçer</a:t>
            </a:r>
            <a:r>
              <a:rPr lang="en-US" sz="1200" dirty="0">
                <a:solidFill>
                  <a:srgbClr val="374151"/>
                </a:solidFill>
              </a:rPr>
              <a:t>. Hesaplama </a:t>
            </a:r>
            <a:r>
              <a:rPr lang="en-US" sz="1200" dirty="0" err="1">
                <a:solidFill>
                  <a:srgbClr val="374151"/>
                </a:solidFill>
              </a:rPr>
              <a:t>açısından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hızlı</a:t>
            </a:r>
            <a:r>
              <a:rPr lang="en-US" sz="1200" dirty="0">
                <a:solidFill>
                  <a:srgbClr val="374151"/>
                </a:solidFill>
              </a:rPr>
              <a:t>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11</a:t>
            </a:r>
            <a:endParaRPr lang="en-US" sz="1200" dirty="0"/>
          </a:p>
        </p:txBody>
      </p:sp>
      <p:pic>
        <p:nvPicPr>
          <p:cNvPr id="34" name="Resim 33">
            <a:extLst>
              <a:ext uri="{FF2B5EF4-FFF2-40B4-BE49-F238E27FC236}">
                <a16:creationId xmlns:a16="http://schemas.microsoft.com/office/drawing/2014/main" id="{AC93D652-A2F4-0A1A-E326-8FB109E584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13"/>
          <a:stretch>
            <a:fillRect/>
          </a:stretch>
        </p:blipFill>
        <p:spPr>
          <a:xfrm>
            <a:off x="3634860" y="1574479"/>
            <a:ext cx="4248990" cy="554249"/>
          </a:xfrm>
          <a:prstGeom prst="rect">
            <a:avLst/>
          </a:prstGeom>
        </p:spPr>
      </p:pic>
      <p:sp>
        <p:nvSpPr>
          <p:cNvPr id="35" name="Shape 4">
            <a:extLst>
              <a:ext uri="{FF2B5EF4-FFF2-40B4-BE49-F238E27FC236}">
                <a16:creationId xmlns:a16="http://schemas.microsoft.com/office/drawing/2014/main" id="{C8D5A76C-F6DE-0020-2B16-87AD44D056E2}"/>
              </a:ext>
            </a:extLst>
          </p:cNvPr>
          <p:cNvSpPr/>
          <p:nvPr/>
        </p:nvSpPr>
        <p:spPr>
          <a:xfrm>
            <a:off x="320040" y="2618910"/>
            <a:ext cx="2902132" cy="95183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Shape 5">
            <a:extLst>
              <a:ext uri="{FF2B5EF4-FFF2-40B4-BE49-F238E27FC236}">
                <a16:creationId xmlns:a16="http://schemas.microsoft.com/office/drawing/2014/main" id="{A06043EC-5E5F-2C2E-152B-C457B9CC3648}"/>
              </a:ext>
            </a:extLst>
          </p:cNvPr>
          <p:cNvSpPr/>
          <p:nvPr/>
        </p:nvSpPr>
        <p:spPr>
          <a:xfrm>
            <a:off x="320040" y="2628784"/>
            <a:ext cx="108848" cy="7589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23E2454-0B6F-CA88-A25D-55ACACF417BA}"/>
              </a:ext>
            </a:extLst>
          </p:cNvPr>
          <p:cNvSpPr/>
          <p:nvPr/>
        </p:nvSpPr>
        <p:spPr>
          <a:xfrm>
            <a:off x="428888" y="2628784"/>
            <a:ext cx="822960" cy="23774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C8675896-BE47-EDBC-2827-51DE068C4B00}"/>
              </a:ext>
            </a:extLst>
          </p:cNvPr>
          <p:cNvSpPr/>
          <p:nvPr/>
        </p:nvSpPr>
        <p:spPr>
          <a:xfrm>
            <a:off x="428888" y="26287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Wrapper</a:t>
            </a:r>
            <a:endParaRPr lang="en-US" sz="1200" dirty="0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B85251BA-2FD2-2732-ED28-FB1B48E8131F}"/>
              </a:ext>
            </a:extLst>
          </p:cNvPr>
          <p:cNvSpPr/>
          <p:nvPr/>
        </p:nvSpPr>
        <p:spPr>
          <a:xfrm>
            <a:off x="534484" y="2848851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374151"/>
                </a:solidFill>
              </a:rPr>
              <a:t>Logistic</a:t>
            </a:r>
            <a:r>
              <a:rPr lang="tr-TR" sz="1200" dirty="0">
                <a:solidFill>
                  <a:srgbClr val="374151"/>
                </a:solidFill>
              </a:rPr>
              <a:t> </a:t>
            </a:r>
            <a:r>
              <a:rPr lang="en-US" sz="1200" dirty="0">
                <a:solidFill>
                  <a:srgbClr val="374151"/>
                </a:solidFill>
              </a:rPr>
              <a:t>Regression </a:t>
            </a:r>
            <a:r>
              <a:rPr lang="en-US" sz="1200" dirty="0" err="1">
                <a:solidFill>
                  <a:srgbClr val="374151"/>
                </a:solidFill>
              </a:rPr>
              <a:t>ile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özyinelemeli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özellik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eleme</a:t>
            </a:r>
            <a:r>
              <a:rPr lang="en-US" sz="1200" dirty="0">
                <a:solidFill>
                  <a:srgbClr val="374151"/>
                </a:solidFill>
              </a:rPr>
              <a:t>. Her </a:t>
            </a:r>
            <a:r>
              <a:rPr lang="en-US" sz="1200" dirty="0" err="1">
                <a:solidFill>
                  <a:srgbClr val="374151"/>
                </a:solidFill>
              </a:rPr>
              <a:t>adımda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en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az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önemli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özelliği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atar</a:t>
            </a:r>
            <a:r>
              <a:rPr lang="en-US" sz="1200" dirty="0">
                <a:solidFill>
                  <a:srgbClr val="374151"/>
                </a:solidFill>
              </a:rPr>
              <a:t>.</a:t>
            </a:r>
            <a:endParaRPr lang="en-US" sz="1200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8C63975C-FA75-D72E-05FC-87628A5A6939}"/>
              </a:ext>
            </a:extLst>
          </p:cNvPr>
          <p:cNvSpPr/>
          <p:nvPr/>
        </p:nvSpPr>
        <p:spPr>
          <a:xfrm>
            <a:off x="316031" y="3700000"/>
            <a:ext cx="2848273" cy="98626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Shape 5">
            <a:extLst>
              <a:ext uri="{FF2B5EF4-FFF2-40B4-BE49-F238E27FC236}">
                <a16:creationId xmlns:a16="http://schemas.microsoft.com/office/drawing/2014/main" id="{6FA28671-B6F8-DA97-0E23-0A8ECF16C897}"/>
              </a:ext>
            </a:extLst>
          </p:cNvPr>
          <p:cNvSpPr/>
          <p:nvPr/>
        </p:nvSpPr>
        <p:spPr>
          <a:xfrm>
            <a:off x="314028" y="3700000"/>
            <a:ext cx="118872" cy="7589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D27DCDE1-778A-AF4B-F7C4-FA9FAA915BBF}"/>
              </a:ext>
            </a:extLst>
          </p:cNvPr>
          <p:cNvSpPr/>
          <p:nvPr/>
        </p:nvSpPr>
        <p:spPr>
          <a:xfrm>
            <a:off x="428888" y="3696123"/>
            <a:ext cx="822960" cy="23774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7">
            <a:extLst>
              <a:ext uri="{FF2B5EF4-FFF2-40B4-BE49-F238E27FC236}">
                <a16:creationId xmlns:a16="http://schemas.microsoft.com/office/drawing/2014/main" id="{3D427087-F63F-1EB1-8CE3-21A55F7795E5}"/>
              </a:ext>
            </a:extLst>
          </p:cNvPr>
          <p:cNvSpPr/>
          <p:nvPr/>
        </p:nvSpPr>
        <p:spPr>
          <a:xfrm>
            <a:off x="288925" y="3696123"/>
            <a:ext cx="987483" cy="2377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i="1" dirty="0">
                <a:solidFill>
                  <a:schemeClr val="bg1"/>
                </a:solidFill>
              </a:rPr>
              <a:t>Information-based</a:t>
            </a:r>
            <a:endParaRPr lang="tr-TR" sz="9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9E854B6C-19FE-F223-C426-423AA0C2C031}"/>
              </a:ext>
            </a:extLst>
          </p:cNvPr>
          <p:cNvSpPr/>
          <p:nvPr/>
        </p:nvSpPr>
        <p:spPr>
          <a:xfrm>
            <a:off x="480624" y="3789999"/>
            <a:ext cx="2522740" cy="89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err="1">
                <a:solidFill>
                  <a:srgbClr val="374151"/>
                </a:solidFill>
              </a:rPr>
              <a:t>Özellik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ile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hedef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arasındaki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bilgi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kazancını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ölçer</a:t>
            </a:r>
            <a:r>
              <a:rPr lang="en-US" sz="1200" dirty="0">
                <a:solidFill>
                  <a:srgbClr val="374151"/>
                </a:solidFill>
              </a:rPr>
              <a:t>. </a:t>
            </a:r>
            <a:r>
              <a:rPr lang="en-US" sz="1200" dirty="0" err="1">
                <a:solidFill>
                  <a:srgbClr val="374151"/>
                </a:solidFill>
              </a:rPr>
              <a:t>Doğrusal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olmayan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en-US" sz="1200" dirty="0" err="1">
                <a:solidFill>
                  <a:srgbClr val="374151"/>
                </a:solidFill>
              </a:rPr>
              <a:t>ilişkileri</a:t>
            </a:r>
            <a:r>
              <a:rPr lang="en-US" sz="1200" dirty="0">
                <a:solidFill>
                  <a:srgbClr val="374151"/>
                </a:solidFill>
              </a:rPr>
              <a:t> de </a:t>
            </a:r>
            <a:r>
              <a:rPr lang="en-US" sz="1200" dirty="0" err="1">
                <a:solidFill>
                  <a:srgbClr val="374151"/>
                </a:solidFill>
              </a:rPr>
              <a:t>yakalar</a:t>
            </a:r>
            <a:r>
              <a:rPr lang="en-US" sz="1200" dirty="0">
                <a:solidFill>
                  <a:srgbClr val="374151"/>
                </a:solidFill>
              </a:rPr>
              <a:t>.</a:t>
            </a:r>
            <a:endParaRPr lang="en-US" sz="1200" dirty="0"/>
          </a:p>
        </p:txBody>
      </p:sp>
      <p:sp>
        <p:nvSpPr>
          <p:cNvPr id="46" name="Metin kutusu 45">
            <a:extLst>
              <a:ext uri="{FF2B5EF4-FFF2-40B4-BE49-F238E27FC236}">
                <a16:creationId xmlns:a16="http://schemas.microsoft.com/office/drawing/2014/main" id="{5B345789-6BC7-E374-AEDD-E8FC5EEF23FB}"/>
              </a:ext>
            </a:extLst>
          </p:cNvPr>
          <p:cNvSpPr txBox="1"/>
          <p:nvPr/>
        </p:nvSpPr>
        <p:spPr>
          <a:xfrm>
            <a:off x="1234996" y="2607299"/>
            <a:ext cx="15261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50000"/>
                  </a:schemeClr>
                </a:solidFill>
              </a:rPr>
              <a:t>RFE</a:t>
            </a:r>
            <a:endParaRPr lang="tr-TR" sz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1299572" y="3674113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Mutual Information (MI)</a:t>
            </a:r>
          </a:p>
        </p:txBody>
      </p:sp>
      <p:pic>
        <p:nvPicPr>
          <p:cNvPr id="48" name="Resim 47">
            <a:extLst>
              <a:ext uri="{FF2B5EF4-FFF2-40B4-BE49-F238E27FC236}">
                <a16:creationId xmlns:a16="http://schemas.microsoft.com/office/drawing/2014/main" id="{326A2EBB-B991-1056-ABC4-65DD2C41D4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4860" y="2657594"/>
            <a:ext cx="4015495" cy="824452"/>
          </a:xfrm>
          <a:prstGeom prst="rect">
            <a:avLst/>
          </a:prstGeom>
        </p:spPr>
      </p:pic>
      <p:pic>
        <p:nvPicPr>
          <p:cNvPr id="50" name="Resim 49">
            <a:extLst>
              <a:ext uri="{FF2B5EF4-FFF2-40B4-BE49-F238E27FC236}">
                <a16:creationId xmlns:a16="http://schemas.microsoft.com/office/drawing/2014/main" id="{65A42150-66C8-CF33-5F87-849F87CEB19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25"/>
          <a:stretch>
            <a:fillRect/>
          </a:stretch>
        </p:blipFill>
        <p:spPr>
          <a:xfrm>
            <a:off x="3634860" y="3908677"/>
            <a:ext cx="4292521" cy="450000"/>
          </a:xfrm>
          <a:prstGeom prst="rect">
            <a:avLst/>
          </a:prstGeom>
        </p:spPr>
      </p:pic>
      <p:sp>
        <p:nvSpPr>
          <p:cNvPr id="13" name="Metin kutusu 12">
            <a:extLst>
              <a:ext uri="{FF2B5EF4-FFF2-40B4-BE49-F238E27FC236}">
                <a16:creationId xmlns:a16="http://schemas.microsoft.com/office/drawing/2014/main" id="{D79ED7EB-73C5-E78D-3684-0F737769665E}"/>
              </a:ext>
            </a:extLst>
          </p:cNvPr>
          <p:cNvSpPr txBox="1"/>
          <p:nvPr/>
        </p:nvSpPr>
        <p:spPr>
          <a:xfrm>
            <a:off x="4933950" y="206866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000" b="1" i="1" dirty="0" err="1"/>
              <a:t>SelectKBest</a:t>
            </a:r>
            <a:r>
              <a:rPr lang="tr-TR" sz="1000" b="1" i="1" dirty="0"/>
              <a:t> uygulaması</a:t>
            </a:r>
            <a:endParaRPr lang="en-US" sz="1000" i="1" dirty="0"/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BE2ACC1-0D31-038C-B1E7-0A94E84AF303}"/>
              </a:ext>
            </a:extLst>
          </p:cNvPr>
          <p:cNvSpPr txBox="1"/>
          <p:nvPr/>
        </p:nvSpPr>
        <p:spPr>
          <a:xfrm>
            <a:off x="4933950" y="3438251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000" b="1" i="1" dirty="0"/>
              <a:t>RFE uygulaması</a:t>
            </a:r>
            <a:endParaRPr lang="en-US" sz="1000" i="1" dirty="0"/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F1D779C9-23FC-AFD9-AB8A-6694BF603631}"/>
              </a:ext>
            </a:extLst>
          </p:cNvPr>
          <p:cNvSpPr txBox="1"/>
          <p:nvPr/>
        </p:nvSpPr>
        <p:spPr>
          <a:xfrm>
            <a:off x="4933950" y="4347020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000" b="1" i="1" dirty="0"/>
              <a:t>Karşılıklı bilgi uygulaması</a:t>
            </a:r>
            <a:endParaRPr lang="en-US" sz="10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07 — ÖZELLIK SEÇIMI — SONUÇ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315583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Dört yöntem aynı üç sensörde birleştiği için final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giriş seti sade ve savunulabilir.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9461" y="1185366"/>
            <a:ext cx="1745269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305181" y="1185366"/>
            <a:ext cx="1745269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Özellik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98573" y="1185366"/>
            <a:ext cx="872635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2344293" y="1185366"/>
            <a:ext cx="872635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Korelasyon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1845" y="1185366"/>
            <a:ext cx="991630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3377565" y="1185366"/>
            <a:ext cx="991630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SelectKBest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93133" y="1185366"/>
            <a:ext cx="674309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538853" y="1185366"/>
            <a:ext cx="674309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RFE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97805" y="1185366"/>
            <a:ext cx="674309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5343525" y="1185366"/>
            <a:ext cx="674309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02477" y="1185366"/>
            <a:ext cx="1031295" cy="23195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6148197" y="1185366"/>
            <a:ext cx="1031295" cy="231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Karar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9461" y="1541982"/>
            <a:ext cx="174526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2298573" y="1541982"/>
            <a:ext cx="87263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3331845" y="1541982"/>
            <a:ext cx="991630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Shape 18"/>
          <p:cNvSpPr/>
          <p:nvPr/>
        </p:nvSpPr>
        <p:spPr>
          <a:xfrm>
            <a:off x="4493133" y="1541982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Shape 19"/>
          <p:cNvSpPr/>
          <p:nvPr/>
        </p:nvSpPr>
        <p:spPr>
          <a:xfrm>
            <a:off x="5297805" y="1541982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Shape 20"/>
          <p:cNvSpPr/>
          <p:nvPr/>
        </p:nvSpPr>
        <p:spPr>
          <a:xfrm>
            <a:off x="6102477" y="1541982"/>
            <a:ext cx="103129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305181" y="1605990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IRRADIATION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90013" y="1605990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3285" y="1605990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84573" y="1605990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89245" y="1605990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48197" y="1605990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Seçildi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9461" y="1826999"/>
            <a:ext cx="174526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2298573" y="1826999"/>
            <a:ext cx="87263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Shape 29"/>
          <p:cNvSpPr/>
          <p:nvPr/>
        </p:nvSpPr>
        <p:spPr>
          <a:xfrm>
            <a:off x="3331845" y="1826999"/>
            <a:ext cx="991630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Shape 30"/>
          <p:cNvSpPr/>
          <p:nvPr/>
        </p:nvSpPr>
        <p:spPr>
          <a:xfrm>
            <a:off x="4493133" y="1826999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Shape 31"/>
          <p:cNvSpPr/>
          <p:nvPr/>
        </p:nvSpPr>
        <p:spPr>
          <a:xfrm>
            <a:off x="5297805" y="1826999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4" name="Shape 32"/>
          <p:cNvSpPr/>
          <p:nvPr/>
        </p:nvSpPr>
        <p:spPr>
          <a:xfrm>
            <a:off x="6102477" y="1826999"/>
            <a:ext cx="103129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Text 33"/>
          <p:cNvSpPr/>
          <p:nvPr/>
        </p:nvSpPr>
        <p:spPr>
          <a:xfrm>
            <a:off x="305181" y="1891007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MODULE_TEMPERATURE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390013" y="1891007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423285" y="1891007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84573" y="189100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89245" y="189100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48197" y="1891007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Seçildi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9461" y="2117136"/>
            <a:ext cx="174526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Shape 40"/>
          <p:cNvSpPr/>
          <p:nvPr/>
        </p:nvSpPr>
        <p:spPr>
          <a:xfrm>
            <a:off x="2298573" y="2117136"/>
            <a:ext cx="87263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Shape 41"/>
          <p:cNvSpPr/>
          <p:nvPr/>
        </p:nvSpPr>
        <p:spPr>
          <a:xfrm>
            <a:off x="3331845" y="2117136"/>
            <a:ext cx="991630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4" name="Shape 42"/>
          <p:cNvSpPr/>
          <p:nvPr/>
        </p:nvSpPr>
        <p:spPr>
          <a:xfrm>
            <a:off x="4493133" y="2117136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Shape 43"/>
          <p:cNvSpPr/>
          <p:nvPr/>
        </p:nvSpPr>
        <p:spPr>
          <a:xfrm>
            <a:off x="5297805" y="2117136"/>
            <a:ext cx="674309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6" name="Shape 44"/>
          <p:cNvSpPr/>
          <p:nvPr/>
        </p:nvSpPr>
        <p:spPr>
          <a:xfrm>
            <a:off x="6102477" y="2117136"/>
            <a:ext cx="1031295" cy="257727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Text 45"/>
          <p:cNvSpPr/>
          <p:nvPr/>
        </p:nvSpPr>
        <p:spPr>
          <a:xfrm>
            <a:off x="305181" y="2181144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AMBIENT_TEMPERATURE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390013" y="2181144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D6A4F"/>
                </a:solidFill>
              </a:rPr>
              <a:t>✓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423285" y="2181144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584573" y="218114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389245" y="218114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✓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148197" y="2181144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Seçildi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9461" y="2414016"/>
            <a:ext cx="174526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4" name="Shape 52"/>
          <p:cNvSpPr/>
          <p:nvPr/>
        </p:nvSpPr>
        <p:spPr>
          <a:xfrm>
            <a:off x="2298573" y="2414016"/>
            <a:ext cx="87263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5" name="Shape 53"/>
          <p:cNvSpPr/>
          <p:nvPr/>
        </p:nvSpPr>
        <p:spPr>
          <a:xfrm>
            <a:off x="3331845" y="2414016"/>
            <a:ext cx="991630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6" name="Shape 54"/>
          <p:cNvSpPr/>
          <p:nvPr/>
        </p:nvSpPr>
        <p:spPr>
          <a:xfrm>
            <a:off x="4493133" y="2414016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Shape 55"/>
          <p:cNvSpPr/>
          <p:nvPr/>
        </p:nvSpPr>
        <p:spPr>
          <a:xfrm>
            <a:off x="5297805" y="2414016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8" name="Shape 56"/>
          <p:cNvSpPr/>
          <p:nvPr/>
        </p:nvSpPr>
        <p:spPr>
          <a:xfrm>
            <a:off x="6102477" y="2414016"/>
            <a:ext cx="103129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9" name="Text 57"/>
          <p:cNvSpPr/>
          <p:nvPr/>
        </p:nvSpPr>
        <p:spPr>
          <a:xfrm>
            <a:off x="305181" y="2478024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DAILY_YIELD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2390013" y="2478024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3423285" y="2478024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584573" y="247802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389245" y="2478024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6148197" y="2478024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Elendi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59461" y="2730089"/>
            <a:ext cx="174526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6" name="Shape 64"/>
          <p:cNvSpPr/>
          <p:nvPr/>
        </p:nvSpPr>
        <p:spPr>
          <a:xfrm>
            <a:off x="2298573" y="2730089"/>
            <a:ext cx="87263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7" name="Shape 65"/>
          <p:cNvSpPr/>
          <p:nvPr/>
        </p:nvSpPr>
        <p:spPr>
          <a:xfrm>
            <a:off x="3331845" y="2730089"/>
            <a:ext cx="991630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8" name="Shape 66"/>
          <p:cNvSpPr/>
          <p:nvPr/>
        </p:nvSpPr>
        <p:spPr>
          <a:xfrm>
            <a:off x="4493133" y="2730089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9" name="Shape 67"/>
          <p:cNvSpPr/>
          <p:nvPr/>
        </p:nvSpPr>
        <p:spPr>
          <a:xfrm>
            <a:off x="5297805" y="2730089"/>
            <a:ext cx="674309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0" name="Shape 68"/>
          <p:cNvSpPr/>
          <p:nvPr/>
        </p:nvSpPr>
        <p:spPr>
          <a:xfrm>
            <a:off x="6102477" y="2730089"/>
            <a:ext cx="1031295" cy="257727"/>
          </a:xfrm>
          <a:prstGeom prst="rect">
            <a:avLst/>
          </a:prstGeom>
          <a:solidFill>
            <a:srgbClr val="FEF2F2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1" name="Text 69"/>
          <p:cNvSpPr/>
          <p:nvPr/>
        </p:nvSpPr>
        <p:spPr>
          <a:xfrm>
            <a:off x="305181" y="2794097"/>
            <a:ext cx="16659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TOTAL_YIELD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390013" y="2794097"/>
            <a:ext cx="753639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3423285" y="2794097"/>
            <a:ext cx="87263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4584573" y="279409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5389245" y="2794097"/>
            <a:ext cx="555313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✗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6148197" y="2794097"/>
            <a:ext cx="951965" cy="180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Elendi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305180" y="3058775"/>
            <a:ext cx="324446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6A4F"/>
                </a:solidFill>
              </a:rPr>
              <a:t>Dört yöntemin aynı üç fiziksel değişkende birleşmesi, final modelin hem sade hem de açıklanabilir olmasını sağladı.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3" name="Text 81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12</a:t>
            </a:r>
          </a:p>
        </p:txBody>
      </p:sp>
      <p:pic>
        <p:nvPicPr>
          <p:cNvPr id="85" name="Resim 84">
            <a:extLst>
              <a:ext uri="{FF2B5EF4-FFF2-40B4-BE49-F238E27FC236}">
                <a16:creationId xmlns:a16="http://schemas.microsoft.com/office/drawing/2014/main" id="{9B1B874F-C4DC-D061-D09F-25D69978B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159" y="3169681"/>
            <a:ext cx="2662387" cy="15769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BF57D5E-3B8E-13AA-A9D3-4DA951EF7149}"/>
              </a:ext>
            </a:extLst>
          </p:cNvPr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4ABBAE-007F-9FF1-0314-34EBF9A1F93B}"/>
              </a:ext>
            </a:extLst>
          </p:cNvPr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548C16-9112-B15E-6674-8689C146A263}"/>
              </a:ext>
            </a:extLst>
          </p:cNvPr>
          <p:cNvSpPr/>
          <p:nvPr/>
        </p:nvSpPr>
        <p:spPr>
          <a:xfrm>
            <a:off x="219202" y="54864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öğrenme</a:t>
            </a: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mantığ</a:t>
            </a:r>
            <a:r>
              <a:rPr lang="tr-TR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ının</a:t>
            </a:r>
            <a:r>
              <a:rPr lang="tr-TR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matematiksel açılımı</a:t>
            </a:r>
            <a:endParaRPr lang="en-US" sz="1400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id="{185FD64D-5D8B-7EA4-DECD-9DF7F8AB1BCB}"/>
              </a:ext>
            </a:extLst>
          </p:cNvPr>
          <p:cNvSpPr>
            <a:spLocks noGrp="1"/>
          </p:cNvSpPr>
          <p:nvPr/>
        </p:nvSpPr>
        <p:spPr>
          <a:xfrm>
            <a:off x="372785" y="828040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Random</a:t>
            </a: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Forest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C83368F2-8949-6CFA-4908-71E64AB4709A}"/>
              </a:ext>
            </a:extLst>
          </p:cNvPr>
          <p:cNvSpPr>
            <a:spLocks noGrp="1"/>
          </p:cNvSpPr>
          <p:nvPr/>
        </p:nvSpPr>
        <p:spPr>
          <a:xfrm>
            <a:off x="259461" y="1107262"/>
            <a:ext cx="2670598" cy="53644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Rastgele Veri Seçimi (</a:t>
            </a:r>
            <a:r>
              <a:rPr lang="tr-TR"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Bootstrapping</a:t>
            </a: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)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Bağımsız Ağaçların Kurulması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Oylama ve Karar (</a:t>
            </a:r>
            <a:r>
              <a:rPr lang="tr-TR" sz="1200" b="0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Aggregation</a:t>
            </a: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)</a:t>
            </a:r>
          </a:p>
          <a:p>
            <a:pPr marL="171450" indent="-171450" algn="l">
              <a:buFontTx/>
              <a:buChar char="-"/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sz="1200" b="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4F1B8F20-9664-AB9B-C8F4-A42A57B2435F}"/>
              </a:ext>
            </a:extLst>
          </p:cNvPr>
          <p:cNvSpPr>
            <a:spLocks noGrp="1"/>
          </p:cNvSpPr>
          <p:nvPr/>
        </p:nvSpPr>
        <p:spPr>
          <a:xfrm>
            <a:off x="260350" y="895388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29" name="Resim 28">
            <a:extLst>
              <a:ext uri="{FF2B5EF4-FFF2-40B4-BE49-F238E27FC236}">
                <a16:creationId xmlns:a16="http://schemas.microsoft.com/office/drawing/2014/main" id="{A2E63AB1-ABEA-B774-20A0-C45F93BF2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285" y="2042792"/>
            <a:ext cx="5318055" cy="2383154"/>
          </a:xfrm>
          <a:prstGeom prst="rect">
            <a:avLst/>
          </a:prstGeom>
        </p:spPr>
      </p:pic>
      <p:graphicFrame>
        <p:nvGraphicFramePr>
          <p:cNvPr id="33" name="Nesne 32">
            <a:extLst>
              <a:ext uri="{FF2B5EF4-FFF2-40B4-BE49-F238E27FC236}">
                <a16:creationId xmlns:a16="http://schemas.microsoft.com/office/drawing/2014/main" id="{6AC09D88-8DEE-5D5C-3830-0BC0A5F31C2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4973564"/>
              </p:ext>
            </p:extLst>
          </p:nvPr>
        </p:nvGraphicFramePr>
        <p:xfrm>
          <a:off x="3463398" y="855802"/>
          <a:ext cx="3506601" cy="8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3718523" imgH="921983" progId="Excel.Sheet.12">
                  <p:embed/>
                </p:oleObj>
              </mc:Choice>
              <mc:Fallback>
                <p:oleObj name="Worksheet" r:id="rId3" imgW="3718523" imgH="921983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463398" y="855802"/>
                        <a:ext cx="3506601" cy="8699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Shape 80">
            <a:extLst>
              <a:ext uri="{FF2B5EF4-FFF2-40B4-BE49-F238E27FC236}">
                <a16:creationId xmlns:a16="http://schemas.microsoft.com/office/drawing/2014/main" id="{EAEBC4D9-F4CE-2E2B-E488-4813E36F8C1A}"/>
              </a:ext>
            </a:extLst>
          </p:cNvPr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6" name="Text 81">
            <a:extLst>
              <a:ext uri="{FF2B5EF4-FFF2-40B4-BE49-F238E27FC236}">
                <a16:creationId xmlns:a16="http://schemas.microsoft.com/office/drawing/2014/main" id="{703A0D0A-10B5-7E92-E774-04C400AFAAF3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37" name="Text 82">
            <a:extLst>
              <a:ext uri="{FF2B5EF4-FFF2-40B4-BE49-F238E27FC236}">
                <a16:creationId xmlns:a16="http://schemas.microsoft.com/office/drawing/2014/main" id="{ACF621B9-1BAC-2CC6-EAAC-C115BCD36EFC}"/>
              </a:ext>
            </a:extLst>
          </p:cNvPr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13</a:t>
            </a:r>
            <a:endParaRPr lang="en-US" sz="1200" dirty="0"/>
          </a:p>
        </p:txBody>
      </p:sp>
      <p:pic>
        <p:nvPicPr>
          <p:cNvPr id="1034" name="Picture 10" descr="What Is Random Forest? | IBM">
            <a:extLst>
              <a:ext uri="{FF2B5EF4-FFF2-40B4-BE49-F238E27FC236}">
                <a16:creationId xmlns:a16="http://schemas.microsoft.com/office/drawing/2014/main" id="{BA13C122-0AA1-B0D4-8400-B4DFCEE2D1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9589" y="2024505"/>
            <a:ext cx="3817874" cy="214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Serbest Form: Şekil 37">
            <a:extLst>
              <a:ext uri="{FF2B5EF4-FFF2-40B4-BE49-F238E27FC236}">
                <a16:creationId xmlns:a16="http://schemas.microsoft.com/office/drawing/2014/main" id="{64DBD107-49C5-4947-7CF8-18ACCC2A2198}"/>
              </a:ext>
            </a:extLst>
          </p:cNvPr>
          <p:cNvSpPr/>
          <p:nvPr/>
        </p:nvSpPr>
        <p:spPr>
          <a:xfrm>
            <a:off x="2997200" y="2185241"/>
            <a:ext cx="3041650" cy="324461"/>
          </a:xfrm>
          <a:custGeom>
            <a:avLst/>
            <a:gdLst>
              <a:gd name="csX0" fmla="*/ 0 w 3117024"/>
              <a:gd name="csY0" fmla="*/ 138858 h 326092"/>
              <a:gd name="csX1" fmla="*/ 1187450 w 3117024"/>
              <a:gd name="csY1" fmla="*/ 5508 h 326092"/>
              <a:gd name="csX2" fmla="*/ 1511300 w 3117024"/>
              <a:gd name="csY2" fmla="*/ 303958 h 326092"/>
              <a:gd name="csX3" fmla="*/ 2870200 w 3117024"/>
              <a:gd name="csY3" fmla="*/ 246808 h 326092"/>
              <a:gd name="csX4" fmla="*/ 3098800 w 3117024"/>
              <a:gd name="csY4" fmla="*/ 323008 h 326092"/>
              <a:gd name="csX5" fmla="*/ 3086100 w 3117024"/>
              <a:gd name="csY5" fmla="*/ 303958 h 3260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117024" h="326092">
                <a:moveTo>
                  <a:pt x="0" y="138858"/>
                </a:moveTo>
                <a:cubicBezTo>
                  <a:pt x="467783" y="58424"/>
                  <a:pt x="935567" y="-22009"/>
                  <a:pt x="1187450" y="5508"/>
                </a:cubicBezTo>
                <a:cubicBezTo>
                  <a:pt x="1439333" y="33025"/>
                  <a:pt x="1230842" y="263741"/>
                  <a:pt x="1511300" y="303958"/>
                </a:cubicBezTo>
                <a:cubicBezTo>
                  <a:pt x="1791758" y="344175"/>
                  <a:pt x="2605617" y="243633"/>
                  <a:pt x="2870200" y="246808"/>
                </a:cubicBezTo>
                <a:cubicBezTo>
                  <a:pt x="3134783" y="249983"/>
                  <a:pt x="3062817" y="313483"/>
                  <a:pt x="3098800" y="323008"/>
                </a:cubicBezTo>
                <a:cubicBezTo>
                  <a:pt x="3134783" y="332533"/>
                  <a:pt x="3110441" y="318245"/>
                  <a:pt x="3086100" y="303958"/>
                </a:cubicBezTo>
              </a:path>
            </a:pathLst>
          </a:cu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9" name="Metin kutusu 38">
            <a:extLst>
              <a:ext uri="{FF2B5EF4-FFF2-40B4-BE49-F238E27FC236}">
                <a16:creationId xmlns:a16="http://schemas.microsoft.com/office/drawing/2014/main" id="{64C3AE3A-D64B-59DC-4D30-2F1A32569ABE}"/>
              </a:ext>
            </a:extLst>
          </p:cNvPr>
          <p:cNvSpPr txBox="1"/>
          <p:nvPr/>
        </p:nvSpPr>
        <p:spPr>
          <a:xfrm>
            <a:off x="520700" y="4425946"/>
            <a:ext cx="31994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Bağımsız ağaçların kurulması</a:t>
            </a:r>
          </a:p>
        </p:txBody>
      </p:sp>
      <p:sp>
        <p:nvSpPr>
          <p:cNvPr id="41" name="Metin kutusu 40">
            <a:extLst>
              <a:ext uri="{FF2B5EF4-FFF2-40B4-BE49-F238E27FC236}">
                <a16:creationId xmlns:a16="http://schemas.microsoft.com/office/drawing/2014/main" id="{EF3C6A25-D059-FFCE-C37E-5F88D147D800}"/>
              </a:ext>
            </a:extLst>
          </p:cNvPr>
          <p:cNvSpPr txBox="1"/>
          <p:nvPr/>
        </p:nvSpPr>
        <p:spPr>
          <a:xfrm>
            <a:off x="5784850" y="4503527"/>
            <a:ext cx="160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1400" dirty="0"/>
              <a:t>Seçilmiş örnek ağaç</a:t>
            </a:r>
          </a:p>
        </p:txBody>
      </p:sp>
    </p:spTree>
    <p:extLst>
      <p:ext uri="{BB962C8B-B14F-4D97-AF65-F5344CB8AC3E}">
        <p14:creationId xmlns:p14="http://schemas.microsoft.com/office/powerpoint/2010/main" val="2008849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D142C7-CE91-B477-EB2D-D8C84E30159E}"/>
              </a:ext>
            </a:extLst>
          </p:cNvPr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EDDB82D-1E6E-B596-321F-F12BB7B2DB7A}"/>
              </a:ext>
            </a:extLst>
          </p:cNvPr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583C90-B491-2A54-47EB-9F4265124E39}"/>
              </a:ext>
            </a:extLst>
          </p:cNvPr>
          <p:cNvSpPr/>
          <p:nvPr/>
        </p:nvSpPr>
        <p:spPr>
          <a:xfrm>
            <a:off x="282575" y="105522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öğrenme</a:t>
            </a: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mantığ</a:t>
            </a:r>
            <a:r>
              <a:rPr lang="tr-TR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ının</a:t>
            </a:r>
            <a:r>
              <a:rPr lang="tr-TR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matematiksel açılımı</a:t>
            </a:r>
            <a:endParaRPr lang="en-US" sz="1400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id="{05F3EAED-7D62-5542-C35B-E4C8466C3709}"/>
              </a:ext>
            </a:extLst>
          </p:cNvPr>
          <p:cNvSpPr>
            <a:spLocks noGrp="1"/>
          </p:cNvSpPr>
          <p:nvPr/>
        </p:nvSpPr>
        <p:spPr>
          <a:xfrm>
            <a:off x="696745" y="1122524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KNN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0F4A5821-9D64-9DA6-149F-3F53C9816C7F}"/>
              </a:ext>
            </a:extLst>
          </p:cNvPr>
          <p:cNvSpPr>
            <a:spLocks noGrp="1"/>
          </p:cNvSpPr>
          <p:nvPr/>
        </p:nvSpPr>
        <p:spPr>
          <a:xfrm>
            <a:off x="583421" y="1401746"/>
            <a:ext cx="2351330" cy="53644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Mesafe Hesaplama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En Yakın 'K' Komşuyu Bulma 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- Oylama ve Atama</a:t>
            </a:r>
          </a:p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b="0" i="1" u="sng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+ k=5</a:t>
            </a:r>
            <a:endParaRPr sz="1200" b="0" i="1" u="sng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40963F1A-0C0B-0F55-E4D1-85273E16A81D}"/>
              </a:ext>
            </a:extLst>
          </p:cNvPr>
          <p:cNvSpPr>
            <a:spLocks noGrp="1"/>
          </p:cNvSpPr>
          <p:nvPr/>
        </p:nvSpPr>
        <p:spPr>
          <a:xfrm>
            <a:off x="584310" y="1189872"/>
            <a:ext cx="57150" cy="5715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id="{6F615422-9242-9AC0-4E25-25E3C0CE9ED2}"/>
              </a:ext>
            </a:extLst>
          </p:cNvPr>
          <p:cNvSpPr>
            <a:spLocks noGrp="1"/>
          </p:cNvSpPr>
          <p:nvPr/>
        </p:nvSpPr>
        <p:spPr>
          <a:xfrm>
            <a:off x="696746" y="3033301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/>
              <a:t>Lojistik Regresyon</a:t>
            </a:r>
            <a:endParaRPr sz="10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Dikdörtgen 11">
            <a:extLst>
              <a:ext uri="{FF2B5EF4-FFF2-40B4-BE49-F238E27FC236}">
                <a16:creationId xmlns:a16="http://schemas.microsoft.com/office/drawing/2014/main" id="{E64DFEEE-4964-A493-D6DB-F327F55B8E1F}"/>
              </a:ext>
            </a:extLst>
          </p:cNvPr>
          <p:cNvSpPr>
            <a:spLocks noGrp="1"/>
          </p:cNvSpPr>
          <p:nvPr/>
        </p:nvSpPr>
        <p:spPr>
          <a:xfrm>
            <a:off x="583421" y="3299061"/>
            <a:ext cx="3860801" cy="115452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Doğrusal Hesaplama ve Sigmoid  Fonksiyonu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Olasılık Üretme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Eşik Değeri (</a:t>
            </a:r>
            <a:r>
              <a:rPr lang="tr-TR" sz="1200" dirty="0" err="1"/>
              <a:t>Threshold</a:t>
            </a:r>
            <a:r>
              <a:rPr lang="tr-TR" sz="1200" dirty="0"/>
              <a:t>) ile Karar Verme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/>
              <a:t>+ p=0.5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/>
              <a:t>+p = sigmoid( w1×IRRADIATION + w2×MODULE_TEMP + w3×AMBIENT_TEMP + b )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lang="tr-TR" sz="1200" i="1" u="sng" dirty="0"/>
          </a:p>
        </p:txBody>
      </p:sp>
      <p:sp>
        <p:nvSpPr>
          <p:cNvPr id="13" name="Dikdörtgen 12">
            <a:extLst>
              <a:ext uri="{FF2B5EF4-FFF2-40B4-BE49-F238E27FC236}">
                <a16:creationId xmlns:a16="http://schemas.microsoft.com/office/drawing/2014/main" id="{666AFBEA-F10E-75C6-6150-3BCE52C5E89D}"/>
              </a:ext>
            </a:extLst>
          </p:cNvPr>
          <p:cNvSpPr>
            <a:spLocks noGrp="1"/>
          </p:cNvSpPr>
          <p:nvPr/>
        </p:nvSpPr>
        <p:spPr>
          <a:xfrm>
            <a:off x="584311" y="3087187"/>
            <a:ext cx="57150" cy="5715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4" name="Resim 13">
            <a:extLst>
              <a:ext uri="{FF2B5EF4-FFF2-40B4-BE49-F238E27FC236}">
                <a16:creationId xmlns:a16="http://schemas.microsoft.com/office/drawing/2014/main" id="{D26C95F2-97A9-3313-B083-1DFC45803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599" y="3474074"/>
            <a:ext cx="594769" cy="221387"/>
          </a:xfrm>
          <a:prstGeom prst="rect">
            <a:avLst/>
          </a:prstGeom>
        </p:spPr>
      </p:pic>
      <p:cxnSp>
        <p:nvCxnSpPr>
          <p:cNvPr id="15" name="Düz Ok Bağlayıcısı 14">
            <a:extLst>
              <a:ext uri="{FF2B5EF4-FFF2-40B4-BE49-F238E27FC236}">
                <a16:creationId xmlns:a16="http://schemas.microsoft.com/office/drawing/2014/main" id="{904A14D7-74CE-3C85-A7B5-3D698CF6FEF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405591" y="3474074"/>
            <a:ext cx="188008" cy="110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Resim 15">
            <a:extLst>
              <a:ext uri="{FF2B5EF4-FFF2-40B4-BE49-F238E27FC236}">
                <a16:creationId xmlns:a16="http://schemas.microsoft.com/office/drawing/2014/main" id="{B5A10FD6-F1AE-F23A-E846-27EFC80AD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5159" y="648082"/>
            <a:ext cx="3693681" cy="2071115"/>
          </a:xfrm>
          <a:prstGeom prst="rect">
            <a:avLst/>
          </a:prstGeom>
        </p:spPr>
      </p:pic>
      <p:pic>
        <p:nvPicPr>
          <p:cNvPr id="17" name="Resim 16">
            <a:extLst>
              <a:ext uri="{FF2B5EF4-FFF2-40B4-BE49-F238E27FC236}">
                <a16:creationId xmlns:a16="http://schemas.microsoft.com/office/drawing/2014/main" id="{5E09C51B-2A0A-ED25-8BBD-9CA185548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494" y="2719197"/>
            <a:ext cx="3414155" cy="2260564"/>
          </a:xfrm>
          <a:prstGeom prst="rect">
            <a:avLst/>
          </a:prstGeom>
        </p:spPr>
      </p:pic>
      <p:sp>
        <p:nvSpPr>
          <p:cNvPr id="20" name="Shape 80">
            <a:extLst>
              <a:ext uri="{FF2B5EF4-FFF2-40B4-BE49-F238E27FC236}">
                <a16:creationId xmlns:a16="http://schemas.microsoft.com/office/drawing/2014/main" id="{2501572F-C351-D01B-80CF-A974FF6C0BEE}"/>
              </a:ext>
            </a:extLst>
          </p:cNvPr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81">
            <a:extLst>
              <a:ext uri="{FF2B5EF4-FFF2-40B4-BE49-F238E27FC236}">
                <a16:creationId xmlns:a16="http://schemas.microsoft.com/office/drawing/2014/main" id="{1D3A0734-DD23-5CCE-AF79-778731DCB71F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2" name="Text 82">
            <a:extLst>
              <a:ext uri="{FF2B5EF4-FFF2-40B4-BE49-F238E27FC236}">
                <a16:creationId xmlns:a16="http://schemas.microsoft.com/office/drawing/2014/main" id="{3CED8D67-5445-AAFA-2683-395C42FADF8C}"/>
              </a:ext>
            </a:extLst>
          </p:cNvPr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0337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97FE6A-E803-26F6-7101-659BB0516ABF}"/>
              </a:ext>
            </a:extLst>
          </p:cNvPr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E81AAC-55AA-94C3-AA0D-6D34D0C6F9A6}"/>
              </a:ext>
            </a:extLst>
          </p:cNvPr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59584FE-A572-1DB5-470D-DA7AEC7F0E52}"/>
              </a:ext>
            </a:extLst>
          </p:cNvPr>
          <p:cNvSpPr/>
          <p:nvPr/>
        </p:nvSpPr>
        <p:spPr>
          <a:xfrm>
            <a:off x="219202" y="54864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öğrenme</a:t>
            </a: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mantığ</a:t>
            </a:r>
            <a:r>
              <a:rPr lang="tr-TR" sz="1600" b="1" dirty="0" err="1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ının</a:t>
            </a:r>
            <a:r>
              <a:rPr lang="tr-TR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matematiksel açılımı</a:t>
            </a:r>
            <a:endParaRPr lang="en-US" sz="1400" dirty="0"/>
          </a:p>
        </p:txBody>
      </p:sp>
      <p:sp>
        <p:nvSpPr>
          <p:cNvPr id="5" name="Dikdörtgen 4">
            <a:extLst>
              <a:ext uri="{FF2B5EF4-FFF2-40B4-BE49-F238E27FC236}">
                <a16:creationId xmlns:a16="http://schemas.microsoft.com/office/drawing/2014/main" id="{F6A5906B-A07C-C09D-791E-A5BB43A327D1}"/>
              </a:ext>
            </a:extLst>
          </p:cNvPr>
          <p:cNvSpPr>
            <a:spLocks noGrp="1"/>
          </p:cNvSpPr>
          <p:nvPr/>
        </p:nvSpPr>
        <p:spPr>
          <a:xfrm>
            <a:off x="372785" y="828040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Naive</a:t>
            </a:r>
            <a:r>
              <a:rPr lang="tr-TR" sz="1200" b="1" dirty="0">
                <a:solidFill>
                  <a:srgbClr val="10212B"/>
                </a:solidFill>
                <a:latin typeface="Aptos"/>
                <a:ea typeface="Aptos"/>
                <a:cs typeface="Aptos"/>
              </a:rPr>
              <a:t> </a:t>
            </a: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Bayes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Dikdörtgen 5">
            <a:extLst>
              <a:ext uri="{FF2B5EF4-FFF2-40B4-BE49-F238E27FC236}">
                <a16:creationId xmlns:a16="http://schemas.microsoft.com/office/drawing/2014/main" id="{21F0204D-74D1-1E01-543D-B6E917D1C0D3}"/>
              </a:ext>
            </a:extLst>
          </p:cNvPr>
          <p:cNvSpPr>
            <a:spLocks noGrp="1"/>
          </p:cNvSpPr>
          <p:nvPr/>
        </p:nvSpPr>
        <p:spPr>
          <a:xfrm>
            <a:off x="260350" y="1157945"/>
            <a:ext cx="3136858" cy="105587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Olasılık ve </a:t>
            </a:r>
            <a:r>
              <a:rPr lang="tr-TR" sz="1200" dirty="0" err="1"/>
              <a:t>Bayes</a:t>
            </a:r>
            <a:r>
              <a:rPr lang="tr-TR" sz="1200" dirty="0"/>
              <a:t> Teoremi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"Saf" (</a:t>
            </a:r>
            <a:r>
              <a:rPr lang="tr-TR" sz="1200" dirty="0" err="1"/>
              <a:t>Naive</a:t>
            </a:r>
            <a:r>
              <a:rPr lang="tr-TR" sz="1200" dirty="0"/>
              <a:t>) Bağımsızlık Varsayımı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-Çarpım ve En Yüksek Skoru Seçme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/>
              <a:t>+Ayrık sınıflandırma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  <a:sym typeface="Wingdings" panose="05000000000000000000" pitchFamily="2" charset="2"/>
              </a:rPr>
              <a:t>+</a:t>
            </a:r>
            <a:r>
              <a:rPr lang="tr-TR" sz="1200" i="1" u="sng" dirty="0"/>
              <a:t>iki sınıfın ortalamasını ve standart sapması(</a:t>
            </a:r>
            <a:r>
              <a:rPr lang="tr-TR" sz="1200" i="1" u="sng" dirty="0" err="1"/>
              <a:t>gauusian</a:t>
            </a:r>
            <a:r>
              <a:rPr lang="tr-TR" sz="1200" i="1" u="sng" dirty="0"/>
              <a:t>)</a:t>
            </a:r>
            <a:endParaRPr lang="tr-TR" sz="1000" i="1" u="sng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lang="tr-TR" sz="1200" i="1" u="sng" dirty="0"/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endParaRPr lang="tr-TR" sz="1200" dirty="0">
              <a:solidFill>
                <a:srgbClr val="66757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Dikdörtgen 6">
            <a:extLst>
              <a:ext uri="{FF2B5EF4-FFF2-40B4-BE49-F238E27FC236}">
                <a16:creationId xmlns:a16="http://schemas.microsoft.com/office/drawing/2014/main" id="{92CD1935-D05B-0D2D-59C1-2A6FE5CD8A48}"/>
              </a:ext>
            </a:extLst>
          </p:cNvPr>
          <p:cNvSpPr>
            <a:spLocks noGrp="1"/>
          </p:cNvSpPr>
          <p:nvPr/>
        </p:nvSpPr>
        <p:spPr>
          <a:xfrm>
            <a:off x="260350" y="895388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id="{CCCF5824-7483-A23A-726A-42953222DC6B}"/>
              </a:ext>
            </a:extLst>
          </p:cNvPr>
          <p:cNvSpPr>
            <a:spLocks noGrp="1"/>
          </p:cNvSpPr>
          <p:nvPr/>
        </p:nvSpPr>
        <p:spPr>
          <a:xfrm>
            <a:off x="432281" y="3000491"/>
            <a:ext cx="1378806" cy="22207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lang="tr-TR" sz="1200" b="1" dirty="0" err="1">
                <a:solidFill>
                  <a:srgbClr val="10212B"/>
                </a:solidFill>
                <a:latin typeface="Aptos"/>
                <a:ea typeface="Aptos"/>
                <a:cs typeface="Aptos"/>
              </a:rPr>
              <a:t>XGBoost</a:t>
            </a:r>
            <a:endParaRPr sz="1200" b="1" dirty="0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58E7E9B4-C4DF-C861-D3FA-073511E5E60D}"/>
              </a:ext>
            </a:extLst>
          </p:cNvPr>
          <p:cNvSpPr>
            <a:spLocks noGrp="1"/>
          </p:cNvSpPr>
          <p:nvPr/>
        </p:nvSpPr>
        <p:spPr>
          <a:xfrm>
            <a:off x="249234" y="3299681"/>
            <a:ext cx="37411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/>
              <a:t>- </a:t>
            </a:r>
            <a:r>
              <a:rPr lang="tr-TR" sz="1200" dirty="0">
                <a:solidFill>
                  <a:srgbClr val="66757E"/>
                </a:solidFill>
                <a:latin typeface="Aptos"/>
              </a:rPr>
              <a:t>Ardışık (Sıralı) Öğrenme: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>
                <a:solidFill>
                  <a:srgbClr val="66757E"/>
                </a:solidFill>
                <a:latin typeface="Aptos"/>
              </a:rPr>
              <a:t>- Hataları Düzeltme Odaklılık (</a:t>
            </a:r>
            <a:r>
              <a:rPr lang="tr-TR" sz="1200" dirty="0" err="1">
                <a:solidFill>
                  <a:srgbClr val="66757E"/>
                </a:solidFill>
                <a:latin typeface="Aptos"/>
              </a:rPr>
              <a:t>Gradient</a:t>
            </a:r>
            <a:r>
              <a:rPr lang="tr-TR" sz="1200" dirty="0">
                <a:solidFill>
                  <a:srgbClr val="66757E"/>
                </a:solidFill>
                <a:latin typeface="Aptos"/>
              </a:rPr>
              <a:t> </a:t>
            </a:r>
            <a:r>
              <a:rPr lang="tr-TR" sz="1200" dirty="0" err="1">
                <a:solidFill>
                  <a:srgbClr val="66757E"/>
                </a:solidFill>
                <a:latin typeface="Aptos"/>
              </a:rPr>
              <a:t>Descent</a:t>
            </a:r>
            <a:r>
              <a:rPr lang="tr-TR" sz="1200" dirty="0">
                <a:solidFill>
                  <a:srgbClr val="66757E"/>
                </a:solidFill>
                <a:latin typeface="Aptos"/>
              </a:rPr>
              <a:t>)</a:t>
            </a: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dirty="0">
                <a:solidFill>
                  <a:srgbClr val="66757E"/>
                </a:solidFill>
                <a:latin typeface="Aptos"/>
              </a:rPr>
              <a:t>- Ekstrem Optimizasyon ve </a:t>
            </a:r>
            <a:r>
              <a:rPr lang="tr-TR" sz="1200" dirty="0" err="1">
                <a:solidFill>
                  <a:srgbClr val="66757E"/>
                </a:solidFill>
                <a:latin typeface="Aptos"/>
              </a:rPr>
              <a:t>Regülarizasyon</a:t>
            </a:r>
            <a:endParaRPr lang="tr-TR" sz="1200" dirty="0">
              <a:solidFill>
                <a:srgbClr val="66757E"/>
              </a:solidFill>
              <a:latin typeface="Aptos"/>
            </a:endParaRPr>
          </a:p>
          <a:p>
            <a:pPr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+ </a:t>
            </a:r>
            <a:r>
              <a:rPr lang="tr-TR" sz="1200" i="1" u="sng" dirty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Boosting</a:t>
            </a: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-</a:t>
            </a:r>
            <a:r>
              <a:rPr lang="tr-TR" sz="1200" i="1" u="sng" dirty="0">
                <a:solidFill>
                  <a:srgbClr val="66757E"/>
                </a:solidFill>
                <a:latin typeface="Aptos"/>
                <a:ea typeface="Aptos"/>
                <a:cs typeface="Aptos"/>
                <a:sym typeface="Wingdings" panose="05000000000000000000" pitchFamily="2" charset="2"/>
              </a:rPr>
              <a:t> Bir önceki ağacın hatasını düzeltme</a:t>
            </a:r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id="{064579D9-B0FF-29DA-DB17-1200ACEA6848}"/>
              </a:ext>
            </a:extLst>
          </p:cNvPr>
          <p:cNvSpPr>
            <a:spLocks noGrp="1"/>
          </p:cNvSpPr>
          <p:nvPr/>
        </p:nvSpPr>
        <p:spPr>
          <a:xfrm>
            <a:off x="319846" y="3067839"/>
            <a:ext cx="57150" cy="5715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7" name="Resim 16">
            <a:extLst>
              <a:ext uri="{FF2B5EF4-FFF2-40B4-BE49-F238E27FC236}">
                <a16:creationId xmlns:a16="http://schemas.microsoft.com/office/drawing/2014/main" id="{F56D1754-0BF5-A7CF-25EA-787230EF3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73" y="638136"/>
            <a:ext cx="5173874" cy="1716133"/>
          </a:xfrm>
          <a:prstGeom prst="rect">
            <a:avLst/>
          </a:prstGeom>
        </p:spPr>
      </p:pic>
      <p:pic>
        <p:nvPicPr>
          <p:cNvPr id="19" name="Resim 18">
            <a:extLst>
              <a:ext uri="{FF2B5EF4-FFF2-40B4-BE49-F238E27FC236}">
                <a16:creationId xmlns:a16="http://schemas.microsoft.com/office/drawing/2014/main" id="{8F4B919F-BE58-BBD2-BDEF-076D16E05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342" y="2415597"/>
            <a:ext cx="3645309" cy="2673916"/>
          </a:xfrm>
          <a:prstGeom prst="rect">
            <a:avLst/>
          </a:prstGeom>
        </p:spPr>
      </p:pic>
      <p:sp>
        <p:nvSpPr>
          <p:cNvPr id="20" name="Shape 80">
            <a:extLst>
              <a:ext uri="{FF2B5EF4-FFF2-40B4-BE49-F238E27FC236}">
                <a16:creationId xmlns:a16="http://schemas.microsoft.com/office/drawing/2014/main" id="{152428AA-D417-C38B-EB0C-B79897659F25}"/>
              </a:ext>
            </a:extLst>
          </p:cNvPr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81">
            <a:extLst>
              <a:ext uri="{FF2B5EF4-FFF2-40B4-BE49-F238E27FC236}">
                <a16:creationId xmlns:a16="http://schemas.microsoft.com/office/drawing/2014/main" id="{22DFA536-3C77-91D5-4185-1F7EE22F3AF7}"/>
              </a:ext>
            </a:extLst>
          </p:cNvPr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2" name="Text 82">
            <a:extLst>
              <a:ext uri="{FF2B5EF4-FFF2-40B4-BE49-F238E27FC236}">
                <a16:creationId xmlns:a16="http://schemas.microsoft.com/office/drawing/2014/main" id="{EC5B0B46-502F-B901-083D-7D1AB15135B5}"/>
              </a:ext>
            </a:extLst>
          </p:cNvPr>
          <p:cNvSpPr/>
          <p:nvPr/>
        </p:nvSpPr>
        <p:spPr>
          <a:xfrm>
            <a:off x="8494686" y="4897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1520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1400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08 — MODELLEME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2885" y="295275"/>
            <a:ext cx="588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Beş farklı öğrenme mantığı aynı veri ayrımı üzerinde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karşılaştırıldı.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9461" y="1256547"/>
            <a:ext cx="1691640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314325" y="1256547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78533" y="1256547"/>
            <a:ext cx="1463040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2033397" y="1256547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Mantık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69005" y="1256547"/>
            <a:ext cx="822960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3523869" y="1256547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 Acc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0253" y="1256547"/>
            <a:ext cx="992124" cy="329184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4365117" y="1256547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9461" y="1613163"/>
            <a:ext cx="1691640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Shape 12"/>
          <p:cNvSpPr/>
          <p:nvPr/>
        </p:nvSpPr>
        <p:spPr>
          <a:xfrm>
            <a:off x="1978533" y="1613163"/>
            <a:ext cx="1463040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3469005" y="1613163"/>
            <a:ext cx="822960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Shape 14"/>
          <p:cNvSpPr/>
          <p:nvPr/>
        </p:nvSpPr>
        <p:spPr>
          <a:xfrm>
            <a:off x="4310253" y="1613163"/>
            <a:ext cx="992124" cy="402336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314325" y="16863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XGBoost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33397" y="16863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Gradient boosting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3869" y="16863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0.9740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65117" y="1686315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74151"/>
                </a:solidFill>
              </a:rPr>
              <a:t>Final model</a:t>
            </a:r>
            <a:endParaRPr lang="en-US" sz="850" b="1" dirty="0"/>
          </a:p>
        </p:txBody>
      </p:sp>
      <p:sp>
        <p:nvSpPr>
          <p:cNvPr id="21" name="Shape 19"/>
          <p:cNvSpPr/>
          <p:nvPr/>
        </p:nvSpPr>
        <p:spPr>
          <a:xfrm>
            <a:off x="259461" y="2070363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Shape 20"/>
          <p:cNvSpPr/>
          <p:nvPr/>
        </p:nvSpPr>
        <p:spPr>
          <a:xfrm>
            <a:off x="1978533" y="2070363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Shape 21"/>
          <p:cNvSpPr/>
          <p:nvPr/>
        </p:nvSpPr>
        <p:spPr>
          <a:xfrm>
            <a:off x="3469005" y="2070363"/>
            <a:ext cx="822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Shape 22"/>
          <p:cNvSpPr/>
          <p:nvPr/>
        </p:nvSpPr>
        <p:spPr>
          <a:xfrm>
            <a:off x="4310253" y="2070363"/>
            <a:ext cx="9921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314325" y="21435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33397" y="21435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Bagging ensemble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23869" y="21435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0.9734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65117" y="2143515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850" b="1" dirty="0"/>
              <a:t>Referans model</a:t>
            </a:r>
            <a:endParaRPr lang="en-US" sz="850" b="1" dirty="0"/>
          </a:p>
        </p:txBody>
      </p:sp>
      <p:sp>
        <p:nvSpPr>
          <p:cNvPr id="29" name="Shape 27"/>
          <p:cNvSpPr/>
          <p:nvPr/>
        </p:nvSpPr>
        <p:spPr>
          <a:xfrm>
            <a:off x="259461" y="2527563"/>
            <a:ext cx="16916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1978533" y="2527563"/>
            <a:ext cx="14630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Shape 29"/>
          <p:cNvSpPr/>
          <p:nvPr/>
        </p:nvSpPr>
        <p:spPr>
          <a:xfrm>
            <a:off x="3469005" y="2527563"/>
            <a:ext cx="82296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Shape 30"/>
          <p:cNvSpPr/>
          <p:nvPr/>
        </p:nvSpPr>
        <p:spPr>
          <a:xfrm>
            <a:off x="4310253" y="2527563"/>
            <a:ext cx="992124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3" name="Text 31"/>
          <p:cNvSpPr/>
          <p:nvPr/>
        </p:nvSpPr>
        <p:spPr>
          <a:xfrm>
            <a:off x="314325" y="26007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KNN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033397" y="26007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Komşuluk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523869" y="26007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0.9719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365117" y="2544472"/>
            <a:ext cx="937260" cy="33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850" b="1" dirty="0"/>
              <a:t>Parametrik olmayan karşılaştırma model</a:t>
            </a:r>
            <a:endParaRPr lang="en-US" sz="850" b="1" dirty="0"/>
          </a:p>
        </p:txBody>
      </p:sp>
      <p:sp>
        <p:nvSpPr>
          <p:cNvPr id="37" name="Shape 35"/>
          <p:cNvSpPr/>
          <p:nvPr/>
        </p:nvSpPr>
        <p:spPr>
          <a:xfrm>
            <a:off x="259461" y="2984763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8" name="Shape 36"/>
          <p:cNvSpPr/>
          <p:nvPr/>
        </p:nvSpPr>
        <p:spPr>
          <a:xfrm>
            <a:off x="1978533" y="2984763"/>
            <a:ext cx="14630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Shape 37"/>
          <p:cNvSpPr/>
          <p:nvPr/>
        </p:nvSpPr>
        <p:spPr>
          <a:xfrm>
            <a:off x="3469005" y="2984763"/>
            <a:ext cx="822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0" name="Shape 38"/>
          <p:cNvSpPr/>
          <p:nvPr/>
        </p:nvSpPr>
        <p:spPr>
          <a:xfrm>
            <a:off x="4310253" y="2984763"/>
            <a:ext cx="992124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41" name="Text 39"/>
          <p:cNvSpPr/>
          <p:nvPr/>
        </p:nvSpPr>
        <p:spPr>
          <a:xfrm>
            <a:off x="314325" y="30579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Logistic Reg.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033397" y="30579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Lineer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523869" y="30579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0.9499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65117" y="3057915"/>
            <a:ext cx="876875" cy="295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850" b="1" dirty="0"/>
              <a:t>Açıklanabilir model</a:t>
            </a:r>
            <a:endParaRPr lang="en-US" sz="850" b="1" dirty="0"/>
          </a:p>
        </p:txBody>
      </p:sp>
      <p:sp>
        <p:nvSpPr>
          <p:cNvPr id="45" name="Shape 43"/>
          <p:cNvSpPr/>
          <p:nvPr/>
        </p:nvSpPr>
        <p:spPr>
          <a:xfrm>
            <a:off x="259461" y="3441963"/>
            <a:ext cx="16916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6" name="Shape 44"/>
          <p:cNvSpPr/>
          <p:nvPr/>
        </p:nvSpPr>
        <p:spPr>
          <a:xfrm>
            <a:off x="1978533" y="3441963"/>
            <a:ext cx="146304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Shape 45"/>
          <p:cNvSpPr/>
          <p:nvPr/>
        </p:nvSpPr>
        <p:spPr>
          <a:xfrm>
            <a:off x="3469005" y="3441963"/>
            <a:ext cx="822960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8" name="Shape 46"/>
          <p:cNvSpPr/>
          <p:nvPr/>
        </p:nvSpPr>
        <p:spPr>
          <a:xfrm>
            <a:off x="4310253" y="3441963"/>
            <a:ext cx="992124" cy="402336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314325" y="3515115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Naive Bayes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033397" y="3515115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Olasılıksal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3523869" y="35151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0.9122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4365117" y="3515115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850" b="1" dirty="0"/>
              <a:t>İstatiksel taban sınır modeli</a:t>
            </a:r>
            <a:endParaRPr lang="en-US" sz="850" b="1" dirty="0"/>
          </a:p>
        </p:txBody>
      </p:sp>
      <p:sp>
        <p:nvSpPr>
          <p:cNvPr id="63" name="Shape 61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4" name="Text 62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pic>
        <p:nvPicPr>
          <p:cNvPr id="67" name="Resim 66">
            <a:extLst>
              <a:ext uri="{FF2B5EF4-FFF2-40B4-BE49-F238E27FC236}">
                <a16:creationId xmlns:a16="http://schemas.microsoft.com/office/drawing/2014/main" id="{B1050B6D-29F6-13F9-2BE6-50A040A8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519" y="862396"/>
            <a:ext cx="3345020" cy="1793008"/>
          </a:xfrm>
          <a:prstGeom prst="rect">
            <a:avLst/>
          </a:prstGeom>
        </p:spPr>
      </p:pic>
      <p:sp>
        <p:nvSpPr>
          <p:cNvPr id="68" name="Dikdörtgen 67">
            <a:extLst>
              <a:ext uri="{FF2B5EF4-FFF2-40B4-BE49-F238E27FC236}">
                <a16:creationId xmlns:a16="http://schemas.microsoft.com/office/drawing/2014/main" id="{5B8200E9-F81C-71D8-DC8D-0218D362FEC6}"/>
              </a:ext>
            </a:extLst>
          </p:cNvPr>
          <p:cNvSpPr>
            <a:spLocks noGrp="1"/>
          </p:cNvSpPr>
          <p:nvPr/>
        </p:nvSpPr>
        <p:spPr>
          <a:xfrm>
            <a:off x="5610225" y="3124590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9" name="Dikdörtgen 68">
            <a:extLst>
              <a:ext uri="{FF2B5EF4-FFF2-40B4-BE49-F238E27FC236}">
                <a16:creationId xmlns:a16="http://schemas.microsoft.com/office/drawing/2014/main" id="{39AE01A2-4A51-76B4-8252-337FECF601BA}"/>
              </a:ext>
            </a:extLst>
          </p:cNvPr>
          <p:cNvSpPr>
            <a:spLocks noGrp="1"/>
          </p:cNvSpPr>
          <p:nvPr/>
        </p:nvSpPr>
        <p:spPr>
          <a:xfrm>
            <a:off x="5781675" y="3057915"/>
            <a:ext cx="3048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Adil karşılaştırma</a:t>
            </a:r>
          </a:p>
        </p:txBody>
      </p:sp>
      <p:sp>
        <p:nvSpPr>
          <p:cNvPr id="70" name="Dikdörtgen 69">
            <a:extLst>
              <a:ext uri="{FF2B5EF4-FFF2-40B4-BE49-F238E27FC236}">
                <a16:creationId xmlns:a16="http://schemas.microsoft.com/office/drawing/2014/main" id="{593217B4-5FAD-EF8B-1C67-11E6FBCE5C72}"/>
              </a:ext>
            </a:extLst>
          </p:cNvPr>
          <p:cNvSpPr>
            <a:spLocks noGrp="1"/>
          </p:cNvSpPr>
          <p:nvPr/>
        </p:nvSpPr>
        <p:spPr>
          <a:xfrm>
            <a:off x="5781675" y="3257940"/>
            <a:ext cx="3048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Tüm modeller aynı train/validation/test ayrımıyla eğitildi.</a:t>
            </a:r>
          </a:p>
        </p:txBody>
      </p:sp>
      <p:sp>
        <p:nvSpPr>
          <p:cNvPr id="71" name="Dikdörtgen 70">
            <a:extLst>
              <a:ext uri="{FF2B5EF4-FFF2-40B4-BE49-F238E27FC236}">
                <a16:creationId xmlns:a16="http://schemas.microsoft.com/office/drawing/2014/main" id="{1CA1CE86-FC18-C9EA-86EE-8E323CE02788}"/>
              </a:ext>
            </a:extLst>
          </p:cNvPr>
          <p:cNvSpPr>
            <a:spLocks noGrp="1"/>
          </p:cNvSpPr>
          <p:nvPr/>
        </p:nvSpPr>
        <p:spPr>
          <a:xfrm>
            <a:off x="5610225" y="3677040"/>
            <a:ext cx="57150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2" name="Dikdörtgen 71">
            <a:extLst>
              <a:ext uri="{FF2B5EF4-FFF2-40B4-BE49-F238E27FC236}">
                <a16:creationId xmlns:a16="http://schemas.microsoft.com/office/drawing/2014/main" id="{1067AFF9-5BB8-33B6-BD58-3C34C324295D}"/>
              </a:ext>
            </a:extLst>
          </p:cNvPr>
          <p:cNvSpPr>
            <a:spLocks noGrp="1"/>
          </p:cNvSpPr>
          <p:nvPr/>
        </p:nvSpPr>
        <p:spPr>
          <a:xfrm>
            <a:off x="5781675" y="3610365"/>
            <a:ext cx="3048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Final seçim</a:t>
            </a:r>
          </a:p>
        </p:txBody>
      </p:sp>
      <p:sp>
        <p:nvSpPr>
          <p:cNvPr id="73" name="Dikdörtgen 72">
            <a:extLst>
              <a:ext uri="{FF2B5EF4-FFF2-40B4-BE49-F238E27FC236}">
                <a16:creationId xmlns:a16="http://schemas.microsoft.com/office/drawing/2014/main" id="{79065DB8-7CA0-1924-165B-7E6AB124C0A1}"/>
              </a:ext>
            </a:extLst>
          </p:cNvPr>
          <p:cNvSpPr>
            <a:spLocks noGrp="1"/>
          </p:cNvSpPr>
          <p:nvPr/>
        </p:nvSpPr>
        <p:spPr>
          <a:xfrm>
            <a:off x="5781675" y="3810390"/>
            <a:ext cx="3048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XGBoost validation ve test tarafında en dengeli sonucu verdi.</a:t>
            </a:r>
          </a:p>
        </p:txBody>
      </p:sp>
      <p:sp>
        <p:nvSpPr>
          <p:cNvPr id="53" name="Text 82">
            <a:extLst>
              <a:ext uri="{FF2B5EF4-FFF2-40B4-BE49-F238E27FC236}">
                <a16:creationId xmlns:a16="http://schemas.microsoft.com/office/drawing/2014/main" id="{F953045F-0661-EFA8-5927-F07759B82A8D}"/>
              </a:ext>
            </a:extLst>
          </p:cNvPr>
          <p:cNvSpPr/>
          <p:nvPr/>
        </p:nvSpPr>
        <p:spPr>
          <a:xfrm>
            <a:off x="8494686" y="4897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09 — CONFUSION MATRISLERI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Karışıklık Matrisleri — Test Seti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" y="8183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Binary: Düşük (0) vs Yüksek (1)  |  5 model  |  13.772 test kaydı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435" y="3520811"/>
            <a:ext cx="150876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297011" y="3520811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96627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1833203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54995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2491571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13363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3149939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71731" y="3520811"/>
            <a:ext cx="64008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3808307" y="3520811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0099" y="3520811"/>
            <a:ext cx="137160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4466675" y="3520811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Yanlış Sınıf.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29131" y="3520811"/>
            <a:ext cx="82296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5925312" y="39319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Accuracy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0435" y="3831707"/>
            <a:ext cx="150876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297011" y="3849995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XGBoost 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796627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1833203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7019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54995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2491571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180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113363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Text 27"/>
          <p:cNvSpPr/>
          <p:nvPr/>
        </p:nvSpPr>
        <p:spPr>
          <a:xfrm>
            <a:off x="3149939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156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771731" y="3831707"/>
            <a:ext cx="64008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3808307" y="3849995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6417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30099" y="3831707"/>
            <a:ext cx="137160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Text 31"/>
          <p:cNvSpPr/>
          <p:nvPr/>
        </p:nvSpPr>
        <p:spPr>
          <a:xfrm>
            <a:off x="4466675" y="3849995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336 / 13.772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829131" y="3831707"/>
            <a:ext cx="822960" cy="169164"/>
          </a:xfrm>
          <a:prstGeom prst="rect">
            <a:avLst/>
          </a:prstGeom>
          <a:solidFill>
            <a:srgbClr val="D8F3DC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Text 33"/>
          <p:cNvSpPr/>
          <p:nvPr/>
        </p:nvSpPr>
        <p:spPr>
          <a:xfrm>
            <a:off x="5865707" y="3849995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0.9742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0435" y="4010015"/>
            <a:ext cx="15087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7" name="Text 35"/>
          <p:cNvSpPr/>
          <p:nvPr/>
        </p:nvSpPr>
        <p:spPr>
          <a:xfrm>
            <a:off x="297011" y="4028303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796627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Text 37"/>
          <p:cNvSpPr/>
          <p:nvPr/>
        </p:nvSpPr>
        <p:spPr>
          <a:xfrm>
            <a:off x="1833203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7032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454995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1" name="Text 39"/>
          <p:cNvSpPr/>
          <p:nvPr/>
        </p:nvSpPr>
        <p:spPr>
          <a:xfrm>
            <a:off x="2491571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167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113363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3" name="Text 41"/>
          <p:cNvSpPr/>
          <p:nvPr/>
        </p:nvSpPr>
        <p:spPr>
          <a:xfrm>
            <a:off x="3149939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189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771731" y="4010015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Text 43"/>
          <p:cNvSpPr/>
          <p:nvPr/>
        </p:nvSpPr>
        <p:spPr>
          <a:xfrm>
            <a:off x="3808307" y="4028303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6384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430099" y="4010015"/>
            <a:ext cx="137160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7" name="Text 45"/>
          <p:cNvSpPr/>
          <p:nvPr/>
        </p:nvSpPr>
        <p:spPr>
          <a:xfrm>
            <a:off x="4466675" y="4028303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356 / 13.772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829131" y="4010015"/>
            <a:ext cx="8229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9" name="Text 47"/>
          <p:cNvSpPr/>
          <p:nvPr/>
        </p:nvSpPr>
        <p:spPr>
          <a:xfrm>
            <a:off x="5865707" y="4028303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0.9737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60435" y="4188323"/>
            <a:ext cx="15087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1" name="Text 49"/>
          <p:cNvSpPr/>
          <p:nvPr/>
        </p:nvSpPr>
        <p:spPr>
          <a:xfrm>
            <a:off x="297011" y="4206611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KNN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1796627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3" name="Text 51"/>
          <p:cNvSpPr/>
          <p:nvPr/>
        </p:nvSpPr>
        <p:spPr>
          <a:xfrm>
            <a:off x="1833203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6984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454995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5" name="Text 53"/>
          <p:cNvSpPr/>
          <p:nvPr/>
        </p:nvSpPr>
        <p:spPr>
          <a:xfrm>
            <a:off x="2491571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215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113363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7" name="Text 55"/>
          <p:cNvSpPr/>
          <p:nvPr/>
        </p:nvSpPr>
        <p:spPr>
          <a:xfrm>
            <a:off x="3149939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167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71731" y="4188323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9" name="Text 57"/>
          <p:cNvSpPr/>
          <p:nvPr/>
        </p:nvSpPr>
        <p:spPr>
          <a:xfrm>
            <a:off x="3808307" y="4206611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6406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430099" y="4188323"/>
            <a:ext cx="137160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1" name="Text 59"/>
          <p:cNvSpPr/>
          <p:nvPr/>
        </p:nvSpPr>
        <p:spPr>
          <a:xfrm>
            <a:off x="4466675" y="4206611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382 / 13.772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829131" y="4188323"/>
            <a:ext cx="8229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3" name="Text 61"/>
          <p:cNvSpPr/>
          <p:nvPr/>
        </p:nvSpPr>
        <p:spPr>
          <a:xfrm>
            <a:off x="5865707" y="4206611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0.9719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260435" y="4366631"/>
            <a:ext cx="15087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5" name="Text 63"/>
          <p:cNvSpPr/>
          <p:nvPr/>
        </p:nvSpPr>
        <p:spPr>
          <a:xfrm>
            <a:off x="297011" y="4384919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Logistic Reg.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796627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7" name="Text 65"/>
          <p:cNvSpPr/>
          <p:nvPr/>
        </p:nvSpPr>
        <p:spPr>
          <a:xfrm>
            <a:off x="1833203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6765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454995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9" name="Text 67"/>
          <p:cNvSpPr/>
          <p:nvPr/>
        </p:nvSpPr>
        <p:spPr>
          <a:xfrm>
            <a:off x="2491571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434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3113363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1" name="Text 69"/>
          <p:cNvSpPr/>
          <p:nvPr/>
        </p:nvSpPr>
        <p:spPr>
          <a:xfrm>
            <a:off x="3149939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276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771731" y="4366631"/>
            <a:ext cx="64008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3" name="Text 71"/>
          <p:cNvSpPr/>
          <p:nvPr/>
        </p:nvSpPr>
        <p:spPr>
          <a:xfrm>
            <a:off x="3808307" y="4384919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6297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4430099" y="4366631"/>
            <a:ext cx="137160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5" name="Text 73"/>
          <p:cNvSpPr/>
          <p:nvPr/>
        </p:nvSpPr>
        <p:spPr>
          <a:xfrm>
            <a:off x="4466675" y="4384919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710 / 13.772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5829131" y="4366631"/>
            <a:ext cx="822960" cy="169164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7" name="Text 75"/>
          <p:cNvSpPr/>
          <p:nvPr/>
        </p:nvSpPr>
        <p:spPr>
          <a:xfrm>
            <a:off x="5865707" y="4384919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0.9483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260435" y="4544939"/>
            <a:ext cx="15087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9" name="Text 77"/>
          <p:cNvSpPr/>
          <p:nvPr/>
        </p:nvSpPr>
        <p:spPr>
          <a:xfrm>
            <a:off x="297011" y="4563227"/>
            <a:ext cx="1453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Naive Bayes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796627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1" name="Text 79"/>
          <p:cNvSpPr/>
          <p:nvPr/>
        </p:nvSpPr>
        <p:spPr>
          <a:xfrm>
            <a:off x="1833203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6512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2454995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3" name="Text 81"/>
          <p:cNvSpPr/>
          <p:nvPr/>
        </p:nvSpPr>
        <p:spPr>
          <a:xfrm>
            <a:off x="2491571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687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3113363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5" name="Text 83"/>
          <p:cNvSpPr/>
          <p:nvPr/>
        </p:nvSpPr>
        <p:spPr>
          <a:xfrm>
            <a:off x="3149939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447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3771731" y="4544939"/>
            <a:ext cx="64008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7" name="Text 85"/>
          <p:cNvSpPr/>
          <p:nvPr/>
        </p:nvSpPr>
        <p:spPr>
          <a:xfrm>
            <a:off x="3808307" y="4563227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6126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4430099" y="4544939"/>
            <a:ext cx="137160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9" name="Text 87"/>
          <p:cNvSpPr/>
          <p:nvPr/>
        </p:nvSpPr>
        <p:spPr>
          <a:xfrm>
            <a:off x="4466675" y="4563227"/>
            <a:ext cx="13167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1134 / 13.772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5829131" y="4544939"/>
            <a:ext cx="822960" cy="169164"/>
          </a:xfrm>
          <a:prstGeom prst="rect">
            <a:avLst/>
          </a:prstGeom>
          <a:solidFill>
            <a:srgbClr val="F9FAFB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1" name="Text 89"/>
          <p:cNvSpPr/>
          <p:nvPr/>
        </p:nvSpPr>
        <p:spPr>
          <a:xfrm>
            <a:off x="5865707" y="4563227"/>
            <a:ext cx="7680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0.9169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3" name="Text 91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17</a:t>
            </a:r>
            <a:endParaRPr lang="en-US" sz="1200" dirty="0"/>
          </a:p>
        </p:txBody>
      </p:sp>
      <p:pic>
        <p:nvPicPr>
          <p:cNvPr id="95" name="Resim 94">
            <a:extLst>
              <a:ext uri="{FF2B5EF4-FFF2-40B4-BE49-F238E27FC236}">
                <a16:creationId xmlns:a16="http://schemas.microsoft.com/office/drawing/2014/main" id="{B745D8B0-6EE3-0828-DAEB-E24F422996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719" r="66701"/>
          <a:stretch>
            <a:fillRect/>
          </a:stretch>
        </p:blipFill>
        <p:spPr>
          <a:xfrm>
            <a:off x="6839465" y="1161288"/>
            <a:ext cx="1940011" cy="1793316"/>
          </a:xfrm>
          <a:prstGeom prst="rect">
            <a:avLst/>
          </a:prstGeom>
        </p:spPr>
      </p:pic>
      <p:pic>
        <p:nvPicPr>
          <p:cNvPr id="96" name="Resim 95">
            <a:extLst>
              <a:ext uri="{FF2B5EF4-FFF2-40B4-BE49-F238E27FC236}">
                <a16:creationId xmlns:a16="http://schemas.microsoft.com/office/drawing/2014/main" id="{0D63D365-1843-44FF-BCF3-5ED0266D70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439"/>
          <a:stretch>
            <a:fillRect/>
          </a:stretch>
        </p:blipFill>
        <p:spPr>
          <a:xfrm>
            <a:off x="407076" y="1092708"/>
            <a:ext cx="6245015" cy="2052869"/>
          </a:xfrm>
          <a:prstGeom prst="rect">
            <a:avLst/>
          </a:prstGeom>
        </p:spPr>
      </p:pic>
      <p:pic>
        <p:nvPicPr>
          <p:cNvPr id="97" name="Resim 96">
            <a:extLst>
              <a:ext uri="{FF2B5EF4-FFF2-40B4-BE49-F238E27FC236}">
                <a16:creationId xmlns:a16="http://schemas.microsoft.com/office/drawing/2014/main" id="{A36CBA25-700F-77C3-E32B-096637AC75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232" t="50892" r="32328"/>
          <a:stretch>
            <a:fillRect/>
          </a:stretch>
        </p:blipFill>
        <p:spPr>
          <a:xfrm>
            <a:off x="6790285" y="3005174"/>
            <a:ext cx="2088292" cy="195519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10 — MODEL DEĞERLENDIRME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her metrikte lider — dengeli ve güvenilir.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320040" y="440740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6A4F"/>
                </a:solidFill>
              </a:rPr>
              <a:t>★  XGBoost validation ve test tarafında en dengeli sonucu verdi → Final model.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1" name="Text 8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18</a:t>
            </a:r>
            <a:endParaRPr lang="en-US" sz="1200" dirty="0"/>
          </a:p>
        </p:txBody>
      </p:sp>
      <p:pic>
        <p:nvPicPr>
          <p:cNvPr id="94" name="Resim 93">
            <a:extLst>
              <a:ext uri="{FF2B5EF4-FFF2-40B4-BE49-F238E27FC236}">
                <a16:creationId xmlns:a16="http://schemas.microsoft.com/office/drawing/2014/main" id="{9DE7FDA7-6F33-D0AF-2D94-B7ACA2C89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48" y="740664"/>
            <a:ext cx="6364933" cy="2432671"/>
          </a:xfrm>
          <a:prstGeom prst="rect">
            <a:avLst/>
          </a:prstGeom>
        </p:spPr>
      </p:pic>
      <p:pic>
        <p:nvPicPr>
          <p:cNvPr id="96" name="Resim 95">
            <a:extLst>
              <a:ext uri="{FF2B5EF4-FFF2-40B4-BE49-F238E27FC236}">
                <a16:creationId xmlns:a16="http://schemas.microsoft.com/office/drawing/2014/main" id="{F02DA8A6-6F8F-3CC3-9451-C30C83FB8D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484"/>
          <a:stretch>
            <a:fillRect/>
          </a:stretch>
        </p:blipFill>
        <p:spPr>
          <a:xfrm>
            <a:off x="6642363" y="1078992"/>
            <a:ext cx="2314575" cy="1587647"/>
          </a:xfrm>
          <a:prstGeom prst="rect">
            <a:avLst/>
          </a:prstGeom>
        </p:spPr>
      </p:pic>
      <p:sp>
        <p:nvSpPr>
          <p:cNvPr id="98" name="Metin kutusu 97">
            <a:extLst>
              <a:ext uri="{FF2B5EF4-FFF2-40B4-BE49-F238E27FC236}">
                <a16:creationId xmlns:a16="http://schemas.microsoft.com/office/drawing/2014/main" id="{DA3A6484-6D32-E30A-1728-99530170B1CB}"/>
              </a:ext>
            </a:extLst>
          </p:cNvPr>
          <p:cNvSpPr txBox="1"/>
          <p:nvPr/>
        </p:nvSpPr>
        <p:spPr>
          <a:xfrm>
            <a:off x="320039" y="3351303"/>
            <a:ext cx="560131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/>
              <a:t>ACCURACY (Doğruluk) </a:t>
            </a:r>
            <a:r>
              <a:rPr lang="tr-TR" sz="1200" dirty="0"/>
              <a:t>= Modelin genel başarı yüzdesi</a:t>
            </a:r>
          </a:p>
          <a:p>
            <a:r>
              <a:rPr lang="tr-TR" sz="1200" b="1" dirty="0"/>
              <a:t>PRECISION (Kesinlik) </a:t>
            </a:r>
            <a:r>
              <a:rPr lang="tr-TR" sz="1200" dirty="0"/>
              <a:t>= "Yüksek Üretim dediklerimin kaçı gerçekten Yüksek Üretim?"</a:t>
            </a:r>
          </a:p>
          <a:p>
            <a:r>
              <a:rPr lang="tr-TR" sz="1200" b="1" dirty="0"/>
              <a:t>RECALL (Duyarlılık) </a:t>
            </a:r>
            <a:r>
              <a:rPr lang="tr-TR" sz="1200" dirty="0"/>
              <a:t>= "Gerçek Yüksek Üretim günlerinin kaçını yakaladım?"</a:t>
            </a:r>
          </a:p>
          <a:p>
            <a:r>
              <a:rPr lang="tr-TR" sz="1200" b="1" dirty="0"/>
              <a:t>F1 SCORE </a:t>
            </a:r>
            <a:r>
              <a:rPr lang="tr-TR" sz="1200" dirty="0"/>
              <a:t>= Precision ve </a:t>
            </a:r>
            <a:r>
              <a:rPr lang="tr-TR" sz="1200" dirty="0" err="1"/>
              <a:t>Recall'un</a:t>
            </a:r>
            <a:r>
              <a:rPr lang="tr-TR" sz="1200" dirty="0"/>
              <a:t> dengeli ortalaması</a:t>
            </a:r>
          </a:p>
          <a:p>
            <a:r>
              <a:rPr lang="tr-TR" sz="1200" b="1" dirty="0"/>
              <a:t>AUC (Alan Altındaki Alan) </a:t>
            </a:r>
            <a:r>
              <a:rPr lang="tr-TR" sz="1200" dirty="0"/>
              <a:t>= Modelin eşik değerinden bağımsız genel ayırt etme gücü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11 — ROC ANALIZI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AUC değerleri modellerin sınıfları güçlü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ayırdığını gösteriyor.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2780" y="4361688"/>
            <a:ext cx="731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Eğrilerin sol üst köşeye yakın olması, düşük ve yüksek üretim sınıflarının çok iyi ayrıldığını gösterir.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7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19</a:t>
            </a:r>
            <a:endParaRPr lang="en-US" sz="1200" dirty="0"/>
          </a:p>
        </p:txBody>
      </p:sp>
      <p:pic>
        <p:nvPicPr>
          <p:cNvPr id="12" name="Resim 11">
            <a:extLst>
              <a:ext uri="{FF2B5EF4-FFF2-40B4-BE49-F238E27FC236}">
                <a16:creationId xmlns:a16="http://schemas.microsoft.com/office/drawing/2014/main" id="{1F761137-A445-1AD1-F2A6-FA19747E5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0" y="633831"/>
            <a:ext cx="5990969" cy="3711387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3F2D052A-7C9B-3438-627C-60CB5CE6C1DB}"/>
              </a:ext>
            </a:extLst>
          </p:cNvPr>
          <p:cNvSpPr txBox="1"/>
          <p:nvPr/>
        </p:nvSpPr>
        <p:spPr>
          <a:xfrm>
            <a:off x="4173621" y="3119312"/>
            <a:ext cx="226528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X ekseni → FPR (</a:t>
            </a:r>
            <a:r>
              <a:rPr lang="tr-TR" sz="1000" b="1" dirty="0" err="1">
                <a:solidFill>
                  <a:schemeClr val="accent6">
                    <a:lumMod val="50000"/>
                  </a:schemeClr>
                </a:solidFill>
              </a:rPr>
              <a:t>False</a:t>
            </a:r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tr-TR" sz="1000" b="1" dirty="0" err="1">
                <a:solidFill>
                  <a:schemeClr val="accent6">
                    <a:lumMod val="50000"/>
                  </a:schemeClr>
                </a:solidFill>
              </a:rPr>
              <a:t>Positive</a:t>
            </a:r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 Rate) = Yanlış alarm oranı</a:t>
            </a:r>
            <a:endParaRPr lang="tr-TR" sz="1000" b="1" dirty="0">
              <a:solidFill>
                <a:schemeClr val="accent6">
                  <a:lumMod val="50000"/>
                </a:schemeClr>
              </a:solidFill>
              <a:ea typeface="Calibri"/>
              <a:cs typeface="Calibri"/>
            </a:endParaRPr>
          </a:p>
          <a:p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Y ekseni → TPR (True </a:t>
            </a:r>
            <a:r>
              <a:rPr lang="tr-TR" sz="1000" b="1" dirty="0" err="1">
                <a:solidFill>
                  <a:schemeClr val="accent6">
                    <a:lumMod val="50000"/>
                  </a:schemeClr>
                </a:solidFill>
              </a:rPr>
              <a:t>Positive</a:t>
            </a:r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 Rate)  = Doğru yakalama oranı</a:t>
            </a:r>
          </a:p>
          <a:p>
            <a:endParaRPr lang="tr-TR" sz="1000" b="1" dirty="0">
              <a:solidFill>
                <a:schemeClr val="accent6">
                  <a:lumMod val="50000"/>
                </a:schemeClr>
              </a:solidFill>
              <a:ea typeface="Calibri"/>
              <a:cs typeface="Calibri"/>
            </a:endParaRPr>
          </a:p>
          <a:p>
            <a:r>
              <a:rPr lang="tr-TR" sz="1000" b="1" dirty="0">
                <a:solidFill>
                  <a:schemeClr val="accent6">
                    <a:lumMod val="50000"/>
                  </a:schemeClr>
                </a:solidFill>
              </a:rPr>
              <a:t>Her iki sınıfı beraber değerlendirir</a:t>
            </a:r>
            <a:endParaRPr lang="tr-TR" sz="1000" b="1" dirty="0">
              <a:solidFill>
                <a:schemeClr val="accent6">
                  <a:lumMod val="50000"/>
                </a:schemeClr>
              </a:solidFill>
              <a:ea typeface="Calibri"/>
              <a:cs typeface="Calibri"/>
            </a:endParaRPr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295780173"/>
              </p:ext>
            </p:extLst>
          </p:nvPr>
        </p:nvGraphicFramePr>
        <p:xfrm>
          <a:off x="6103620" y="740664"/>
          <a:ext cx="2948940" cy="2345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Resim 46">
            <a:extLst>
              <a:ext uri="{FF2B5EF4-FFF2-40B4-BE49-F238E27FC236}">
                <a16:creationId xmlns:a16="http://schemas.microsoft.com/office/drawing/2014/main" id="{5F5EBFA3-4EFD-CEB8-7C7D-45501166F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7724" y="786997"/>
            <a:ext cx="5761943" cy="356950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12 — PRECISION-RECALL ANALIZI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22885" y="156497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yüksek kaldığı için model yüksek üretim anlarını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kaçırmama tarafında güçlü.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83580" y="1070897"/>
            <a:ext cx="141732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5820156" y="1070897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246620" y="1070897"/>
            <a:ext cx="68580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7283196" y="1070897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 AP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78140" y="1070897"/>
            <a:ext cx="1051560" cy="2926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8014716" y="1070897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Yorum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83580" y="1390937"/>
            <a:ext cx="141732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Shape 12"/>
          <p:cNvSpPr/>
          <p:nvPr/>
        </p:nvSpPr>
        <p:spPr>
          <a:xfrm>
            <a:off x="7246620" y="1390937"/>
            <a:ext cx="68580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Shape 13"/>
          <p:cNvSpPr/>
          <p:nvPr/>
        </p:nvSpPr>
        <p:spPr>
          <a:xfrm>
            <a:off x="7978140" y="1390937"/>
            <a:ext cx="1051560" cy="347472"/>
          </a:xfrm>
          <a:prstGeom prst="rect">
            <a:avLst/>
          </a:prstGeom>
          <a:solidFill>
            <a:srgbClr val="D8F3D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5820156" y="1445801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XGBoost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283196" y="1445801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0.9968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14716" y="1445801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En güçlü PR alanı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83580" y="1793273"/>
            <a:ext cx="14173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Shape 18"/>
          <p:cNvSpPr/>
          <p:nvPr/>
        </p:nvSpPr>
        <p:spPr>
          <a:xfrm>
            <a:off x="7246620" y="1793273"/>
            <a:ext cx="685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Shape 19"/>
          <p:cNvSpPr/>
          <p:nvPr/>
        </p:nvSpPr>
        <p:spPr>
          <a:xfrm>
            <a:off x="7978140" y="1793273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Text 20"/>
          <p:cNvSpPr/>
          <p:nvPr/>
        </p:nvSpPr>
        <p:spPr>
          <a:xfrm>
            <a:off x="5820156" y="1848137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Random Forest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83196" y="1848137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0.9962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14716" y="1848137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Çok yakın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83580" y="2195609"/>
            <a:ext cx="141732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6" name="Shape 24"/>
          <p:cNvSpPr/>
          <p:nvPr/>
        </p:nvSpPr>
        <p:spPr>
          <a:xfrm>
            <a:off x="7246620" y="2195609"/>
            <a:ext cx="68580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7" name="Shape 25"/>
          <p:cNvSpPr/>
          <p:nvPr/>
        </p:nvSpPr>
        <p:spPr>
          <a:xfrm>
            <a:off x="7978140" y="2195609"/>
            <a:ext cx="105156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6"/>
          <p:cNvSpPr/>
          <p:nvPr/>
        </p:nvSpPr>
        <p:spPr>
          <a:xfrm>
            <a:off x="5820156" y="2250473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KNN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83196" y="2250473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0.9946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4716" y="2250473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Yüksek recall korunuyor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83580" y="2597945"/>
            <a:ext cx="14173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Shape 30"/>
          <p:cNvSpPr/>
          <p:nvPr/>
        </p:nvSpPr>
        <p:spPr>
          <a:xfrm>
            <a:off x="7246620" y="2597945"/>
            <a:ext cx="685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3" name="Shape 31"/>
          <p:cNvSpPr/>
          <p:nvPr/>
        </p:nvSpPr>
        <p:spPr>
          <a:xfrm>
            <a:off x="7978140" y="2597945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4" name="Text 32"/>
          <p:cNvSpPr/>
          <p:nvPr/>
        </p:nvSpPr>
        <p:spPr>
          <a:xfrm>
            <a:off x="5820156" y="2652809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Logistic Reg.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283196" y="2652809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0.9781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14716" y="2652809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İyi baseline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783580" y="3000281"/>
            <a:ext cx="141732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8" name="Shape 36"/>
          <p:cNvSpPr/>
          <p:nvPr/>
        </p:nvSpPr>
        <p:spPr>
          <a:xfrm>
            <a:off x="7246620" y="3000281"/>
            <a:ext cx="68580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9" name="Shape 37"/>
          <p:cNvSpPr/>
          <p:nvPr/>
        </p:nvSpPr>
        <p:spPr>
          <a:xfrm>
            <a:off x="7978140" y="3000281"/>
            <a:ext cx="1051560" cy="347472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0" name="Text 38"/>
          <p:cNvSpPr/>
          <p:nvPr/>
        </p:nvSpPr>
        <p:spPr>
          <a:xfrm>
            <a:off x="5820156" y="3055145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Naive Bayes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283196" y="3055145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0.9302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014716" y="3055145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En düşük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65800" y="3644409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PR grafiği özellikle pozitif sınıfı, yani yüksek üretim anlarını yakalama kalitesini okumak için kullanıldı.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5" name="Text 43"/>
          <p:cNvSpPr/>
          <p:nvPr/>
        </p:nvSpPr>
        <p:spPr>
          <a:xfrm>
            <a:off x="411480" y="497433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20</a:t>
            </a:r>
            <a:endParaRPr lang="en-US" sz="1200" dirty="0"/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F8455ACA-D201-4A32-9EBF-125DEB9B606C}"/>
              </a:ext>
            </a:extLst>
          </p:cNvPr>
          <p:cNvSpPr txBox="1"/>
          <p:nvPr/>
        </p:nvSpPr>
        <p:spPr>
          <a:xfrm>
            <a:off x="91440" y="4326219"/>
            <a:ext cx="5325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800" b="1" dirty="0"/>
              <a:t>X ekseni → </a:t>
            </a:r>
            <a:r>
              <a:rPr lang="tr-TR" sz="800" b="1" dirty="0" err="1"/>
              <a:t>Recall</a:t>
            </a:r>
            <a:r>
              <a:rPr lang="tr-TR" sz="800" b="1" dirty="0"/>
              <a:t> = Yüksek üretim günlerini kaçırmama  ---- Y ekseni → Precision = Yüksek üretim dediğimizde yanılmama</a:t>
            </a:r>
          </a:p>
          <a:p>
            <a:endParaRPr lang="tr-TR" sz="800" b="1" dirty="0"/>
          </a:p>
          <a:p>
            <a:r>
              <a:rPr lang="tr-TR" sz="800" b="1" dirty="0"/>
              <a:t>Sadece pozitif sınıfa (Yüksek Üretim) odaklanır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5"/>
          <p:cNvSpPr/>
          <p:nvPr/>
        </p:nvSpPr>
        <p:spPr>
          <a:xfrm>
            <a:off x="259461" y="916952"/>
            <a:ext cx="5182000" cy="1595628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13 — ÖZELLIK ÖNEMI &amp; SHAP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importance ve SHAP aynı sonuca işaret ediyor: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IRRADIATION kararın ana ekseni.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584157" y="818654"/>
            <a:ext cx="3200400" cy="98755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Shape 8"/>
          <p:cNvSpPr/>
          <p:nvPr/>
        </p:nvSpPr>
        <p:spPr>
          <a:xfrm>
            <a:off x="5584157" y="818654"/>
            <a:ext cx="50292" cy="98755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5748749" y="91009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IRRADIATION baskın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48749" y="1184414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Hem Random Forest hem XGBoost önem grafiğinde en yüksek </a:t>
            </a:r>
            <a:r>
              <a:rPr lang="en-US" sz="1200" dirty="0" err="1">
                <a:solidFill>
                  <a:srgbClr val="374151"/>
                </a:solidFill>
              </a:rPr>
              <a:t>katkı</a:t>
            </a:r>
            <a:r>
              <a:rPr lang="en-US" sz="1200" dirty="0">
                <a:solidFill>
                  <a:srgbClr val="374151"/>
                </a:solidFill>
              </a:rPr>
              <a:t> </a:t>
            </a:r>
            <a:r>
              <a:rPr lang="tr-TR" sz="1200" dirty="0">
                <a:solidFill>
                  <a:srgbClr val="374151"/>
                </a:solidFill>
              </a:rPr>
              <a:t>ışınımdan</a:t>
            </a:r>
            <a:r>
              <a:rPr lang="en-US" sz="1200" dirty="0">
                <a:solidFill>
                  <a:srgbClr val="374151"/>
                </a:solidFill>
              </a:rPr>
              <a:t> geliyor.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84157" y="1961654"/>
            <a:ext cx="3200400" cy="98755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Shape 12"/>
          <p:cNvSpPr/>
          <p:nvPr/>
        </p:nvSpPr>
        <p:spPr>
          <a:xfrm>
            <a:off x="5584157" y="1961654"/>
            <a:ext cx="50292" cy="9875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5748749" y="205309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Sıcaklıklar tamamlayıcı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48749" y="2327414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Modül ve ortam sıcaklığı karar sınırını rafine eden yardımcı sinyaller.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84157" y="3104654"/>
            <a:ext cx="3200400" cy="987552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5584157" y="3104654"/>
            <a:ext cx="50292" cy="98755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5748749" y="319609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Kara kutu güveni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48749" y="3470414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Ağaç tabanlı model yüksek skor verdiği için SHAP ile karar mantığı ayrıca açıklandı.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2" name="Text 20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21</a:t>
            </a:r>
            <a:endParaRPr lang="en-US" sz="1200" dirty="0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E683DC00-9BF6-3E24-0B06-3F11D20ED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08" y="966725"/>
            <a:ext cx="3579889" cy="1486938"/>
          </a:xfrm>
          <a:prstGeom prst="rect">
            <a:avLst/>
          </a:prstGeom>
        </p:spPr>
      </p:pic>
      <p:sp>
        <p:nvSpPr>
          <p:cNvPr id="27" name="Shape 5">
            <a:extLst>
              <a:ext uri="{FF2B5EF4-FFF2-40B4-BE49-F238E27FC236}">
                <a16:creationId xmlns:a16="http://schemas.microsoft.com/office/drawing/2014/main" id="{8C47269D-DBCF-4800-3FFB-66AB4F17EA1F}"/>
              </a:ext>
            </a:extLst>
          </p:cNvPr>
          <p:cNvSpPr/>
          <p:nvPr/>
        </p:nvSpPr>
        <p:spPr>
          <a:xfrm>
            <a:off x="259461" y="2718839"/>
            <a:ext cx="512064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29" name="Resim 28">
            <a:extLst>
              <a:ext uri="{FF2B5EF4-FFF2-40B4-BE49-F238E27FC236}">
                <a16:creationId xmlns:a16="http://schemas.microsoft.com/office/drawing/2014/main" id="{8D814AAE-D8D5-854E-EA4B-F74D602960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808" y="2793504"/>
            <a:ext cx="3579889" cy="121996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>
                <a:solidFill>
                  <a:srgbClr val="52B788"/>
                </a:solidFill>
              </a:rPr>
              <a:t>13 — SHAP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222885" y="263662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Kara kutu model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tek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tahmin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seviyesinde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açıklanabilir</a:t>
            </a:r>
            <a:endParaRPr lang="en-US" sz="1400" err="1">
              <a:latin typeface="Georgia"/>
            </a:endParaRPr>
          </a:p>
          <a:p>
            <a:pPr marL="0" indent="0">
              <a:buNone/>
            </a:pP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hale </a:t>
            </a:r>
            <a:r>
              <a:rPr lang="en-US" sz="1600" b="1" err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getirildi</a:t>
            </a:r>
            <a:r>
              <a:rPr lang="en-US" sz="1600" b="1">
                <a:solidFill>
                  <a:srgbClr val="111827"/>
                </a:solidFill>
                <a:latin typeface="Georgia"/>
                <a:ea typeface="Georgia" pitchFamily="34" charset="-122"/>
                <a:cs typeface="Georgia" pitchFamily="34" charset="-120"/>
              </a:rPr>
              <a:t>.</a:t>
            </a:r>
            <a:endParaRPr lang="en-US" sz="1400">
              <a:latin typeface="Georgi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" y="1112711"/>
            <a:ext cx="5120640" cy="1691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/>
          <p:nvPr/>
        </p:nvSpPr>
        <p:spPr>
          <a:xfrm>
            <a:off x="320040" y="1112711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0" u="none" strike="noStrike" baseline="0">
                <a:solidFill>
                  <a:srgbClr val="10212B"/>
                </a:solidFill>
                <a:latin typeface="Aptos"/>
              </a:rPr>
              <a:t>Summary plot</a:t>
            </a:r>
            <a:r>
              <a:rPr lang="en-US" sz="1200" b="0" i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287691" y="3050328"/>
            <a:ext cx="5152989" cy="1694659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320040" y="3050328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7280"/>
                </a:solidFill>
              </a:rPr>
              <a:t>[ SHAP Waterfall — Test[0] için Açıklama ]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/>
              <a:t>22</a:t>
            </a:r>
            <a:endParaRPr lang="en-US" sz="1200"/>
          </a:p>
        </p:txBody>
      </p:sp>
      <p:pic>
        <p:nvPicPr>
          <p:cNvPr id="24" name="Resim 23">
            <a:extLst>
              <a:ext uri="{FF2B5EF4-FFF2-40B4-BE49-F238E27FC236}">
                <a16:creationId xmlns:a16="http://schemas.microsoft.com/office/drawing/2014/main" id="{5A0C2152-3D28-3C73-9E78-59893920B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443" y="1284336"/>
            <a:ext cx="3819191" cy="1283234"/>
          </a:xfrm>
          <a:prstGeom prst="rect">
            <a:avLst/>
          </a:prstGeom>
        </p:spPr>
      </p:pic>
      <p:pic>
        <p:nvPicPr>
          <p:cNvPr id="26" name="Resim 25">
            <a:extLst>
              <a:ext uri="{FF2B5EF4-FFF2-40B4-BE49-F238E27FC236}">
                <a16:creationId xmlns:a16="http://schemas.microsoft.com/office/drawing/2014/main" id="{E136C2A1-18FA-81D3-771B-389091CC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31" y="3154812"/>
            <a:ext cx="3823413" cy="1345511"/>
          </a:xfrm>
          <a:prstGeom prst="rect">
            <a:avLst/>
          </a:prstGeom>
        </p:spPr>
      </p:pic>
      <p:pic>
        <p:nvPicPr>
          <p:cNvPr id="27" name="Resim 26">
            <a:extLst>
              <a:ext uri="{FF2B5EF4-FFF2-40B4-BE49-F238E27FC236}">
                <a16:creationId xmlns:a16="http://schemas.microsoft.com/office/drawing/2014/main" id="{D5B82D2A-8A20-CC7A-7039-166B7F3E7F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933450"/>
            <a:ext cx="2880360" cy="2038350"/>
          </a:xfrm>
          <a:prstGeom prst="rect">
            <a:avLst/>
          </a:prstGeom>
        </p:spPr>
      </p:pic>
      <p:sp>
        <p:nvSpPr>
          <p:cNvPr id="28" name="Dikdörtgen 27">
            <a:extLst>
              <a:ext uri="{FF2B5EF4-FFF2-40B4-BE49-F238E27FC236}">
                <a16:creationId xmlns:a16="http://schemas.microsoft.com/office/drawing/2014/main" id="{59F7CEB0-7041-906F-E39A-D68FDB6F3849}"/>
              </a:ext>
            </a:extLst>
          </p:cNvPr>
          <p:cNvSpPr>
            <a:spLocks noGrp="1"/>
          </p:cNvSpPr>
          <p:nvPr/>
        </p:nvSpPr>
        <p:spPr>
          <a:xfrm>
            <a:off x="5703570" y="3291459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9" name="Dikdörtgen 28">
            <a:extLst>
              <a:ext uri="{FF2B5EF4-FFF2-40B4-BE49-F238E27FC236}">
                <a16:creationId xmlns:a16="http://schemas.microsoft.com/office/drawing/2014/main" id="{ED8926B2-8B72-3EED-E4F6-A2A0465BCBA7}"/>
              </a:ext>
            </a:extLst>
          </p:cNvPr>
          <p:cNvSpPr>
            <a:spLocks noGrp="1"/>
          </p:cNvSpPr>
          <p:nvPr/>
        </p:nvSpPr>
        <p:spPr>
          <a:xfrm>
            <a:off x="5875020" y="3224784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Summary plot</a:t>
            </a:r>
          </a:p>
        </p:txBody>
      </p:sp>
      <p:sp>
        <p:nvSpPr>
          <p:cNvPr id="30" name="Dikdörtgen 29">
            <a:extLst>
              <a:ext uri="{FF2B5EF4-FFF2-40B4-BE49-F238E27FC236}">
                <a16:creationId xmlns:a16="http://schemas.microsoft.com/office/drawing/2014/main" id="{29807D45-751D-DD4E-7025-B7259CE5FDE9}"/>
              </a:ext>
            </a:extLst>
          </p:cNvPr>
          <p:cNvSpPr>
            <a:spLocks noGrp="1"/>
          </p:cNvSpPr>
          <p:nvPr/>
        </p:nvSpPr>
        <p:spPr>
          <a:xfrm>
            <a:off x="5875020" y="3424809"/>
            <a:ext cx="3000000" cy="3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Özelliklerin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model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çıktısını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hangi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yönde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ittiğini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toplu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halde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 </a:t>
            </a:r>
            <a:r>
              <a:rPr sz="1200" b="0" err="1">
                <a:solidFill>
                  <a:srgbClr val="66757E"/>
                </a:solidFill>
                <a:latin typeface="Aptos"/>
                <a:ea typeface="Aptos"/>
                <a:cs typeface="Aptos"/>
              </a:rPr>
              <a:t>gösterir</a:t>
            </a: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1" name="Dikdörtgen 30">
            <a:extLst>
              <a:ext uri="{FF2B5EF4-FFF2-40B4-BE49-F238E27FC236}">
                <a16:creationId xmlns:a16="http://schemas.microsoft.com/office/drawing/2014/main" id="{D325AA50-AA18-2115-DC15-DD2483289871}"/>
              </a:ext>
            </a:extLst>
          </p:cNvPr>
          <p:cNvSpPr>
            <a:spLocks noGrp="1"/>
          </p:cNvSpPr>
          <p:nvPr/>
        </p:nvSpPr>
        <p:spPr>
          <a:xfrm>
            <a:off x="5703570" y="3843909"/>
            <a:ext cx="57150" cy="57150"/>
          </a:xfrm>
          <a:prstGeom prst="rect">
            <a:avLst/>
          </a:prstGeom>
          <a:solidFill>
            <a:srgbClr val="D28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2" name="Dikdörtgen 31">
            <a:extLst>
              <a:ext uri="{FF2B5EF4-FFF2-40B4-BE49-F238E27FC236}">
                <a16:creationId xmlns:a16="http://schemas.microsoft.com/office/drawing/2014/main" id="{BE9CCF44-C8E2-8904-45CD-C0749E6E0229}"/>
              </a:ext>
            </a:extLst>
          </p:cNvPr>
          <p:cNvSpPr>
            <a:spLocks noGrp="1"/>
          </p:cNvSpPr>
          <p:nvPr/>
        </p:nvSpPr>
        <p:spPr>
          <a:xfrm>
            <a:off x="5875020" y="3777234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Waterfall</a:t>
            </a:r>
          </a:p>
        </p:txBody>
      </p:sp>
      <p:sp>
        <p:nvSpPr>
          <p:cNvPr id="33" name="Dikdörtgen 32">
            <a:extLst>
              <a:ext uri="{FF2B5EF4-FFF2-40B4-BE49-F238E27FC236}">
                <a16:creationId xmlns:a16="http://schemas.microsoft.com/office/drawing/2014/main" id="{7D1D493B-349D-4686-493A-07C64B862EB8}"/>
              </a:ext>
            </a:extLst>
          </p:cNvPr>
          <p:cNvSpPr>
            <a:spLocks noGrp="1"/>
          </p:cNvSpPr>
          <p:nvPr/>
        </p:nvSpPr>
        <p:spPr>
          <a:xfrm>
            <a:off x="5875020" y="3977259"/>
            <a:ext cx="3000000" cy="35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7E"/>
                </a:solidFill>
                <a:latin typeface="Aptos"/>
                <a:ea typeface="Aptos"/>
                <a:cs typeface="Aptos"/>
              </a:rPr>
              <a:t>Tek bir tahminde hangi sensörün kararı ne kadar artırıp azalttığını gösterir.</a:t>
            </a:r>
          </a:p>
        </p:txBody>
      </p:sp>
      <p:sp>
        <p:nvSpPr>
          <p:cNvPr id="34" name="Dikdörtgen 33">
            <a:extLst>
              <a:ext uri="{FF2B5EF4-FFF2-40B4-BE49-F238E27FC236}">
                <a16:creationId xmlns:a16="http://schemas.microsoft.com/office/drawing/2014/main" id="{D11BC16D-5341-C45E-8DD3-3E12E000AB06}"/>
              </a:ext>
            </a:extLst>
          </p:cNvPr>
          <p:cNvSpPr>
            <a:spLocks noGrp="1"/>
          </p:cNvSpPr>
          <p:nvPr/>
        </p:nvSpPr>
        <p:spPr>
          <a:xfrm>
            <a:off x="5703570" y="4396359"/>
            <a:ext cx="57150" cy="57150"/>
          </a:xfrm>
          <a:prstGeom prst="rect">
            <a:avLst/>
          </a:prstGeom>
          <a:solidFill>
            <a:srgbClr val="1C7C7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5" name="Dikdörtgen 34">
            <a:extLst>
              <a:ext uri="{FF2B5EF4-FFF2-40B4-BE49-F238E27FC236}">
                <a16:creationId xmlns:a16="http://schemas.microsoft.com/office/drawing/2014/main" id="{6C3C0B5A-4390-642F-1624-062E10A9B346}"/>
              </a:ext>
            </a:extLst>
          </p:cNvPr>
          <p:cNvSpPr>
            <a:spLocks noGrp="1"/>
          </p:cNvSpPr>
          <p:nvPr/>
        </p:nvSpPr>
        <p:spPr>
          <a:xfrm>
            <a:off x="5875020" y="4329684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SHAP Yorumu</a:t>
            </a:r>
          </a:p>
        </p:txBody>
      </p:sp>
      <p:sp>
        <p:nvSpPr>
          <p:cNvPr id="200" name="SHAP_Desc"/>
          <p:cNvSpPr>
            <a:spLocks noGrp="1"/>
          </p:cNvSpPr>
          <p:nvPr/>
        </p:nvSpPr>
        <p:spPr>
          <a:xfrm>
            <a:off x="5875020" y="4530684"/>
            <a:ext cx="3000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6757E"/>
                </a:solidFill>
                <a:latin typeface="Aptos"/>
              </a:defRPr>
            </a:pPr>
            <a:r>
              <a:rPr sz="1000" b="0">
                <a:solidFill>
                  <a:srgbClr val="66757E"/>
                </a:solidFill>
                <a:latin typeface="Aptos"/>
              </a:rPr>
              <a:t>Model kararları tek tahmin bazında açıklandı.</a:t>
            </a:r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id="{C9027F25-2B5D-CF0B-C027-4C5EDDB16CD9}"/>
              </a:ext>
            </a:extLst>
          </p:cNvPr>
          <p:cNvSpPr>
            <a:spLocks noGrp="1"/>
          </p:cNvSpPr>
          <p:nvPr/>
        </p:nvSpPr>
        <p:spPr>
          <a:xfrm>
            <a:off x="2446020" y="2620935"/>
            <a:ext cx="3000000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1">
                <a:solidFill>
                  <a:srgbClr val="10212B"/>
                </a:solidFill>
                <a:latin typeface="Aptos"/>
                <a:ea typeface="Aptos"/>
                <a:cs typeface="Aptos"/>
              </a:defRPr>
            </a:pPr>
            <a:r>
              <a:rPr sz="800" i="1">
                <a:solidFill>
                  <a:srgbClr val="10212B"/>
                </a:solidFill>
                <a:latin typeface="Aptos"/>
                <a:ea typeface="Aptos"/>
                <a:cs typeface="Aptos"/>
              </a:rPr>
              <a:t>Summary plot</a:t>
            </a:r>
            <a:endParaRPr lang="tr-TR" sz="800" i="1">
              <a:solidFill>
                <a:srgbClr val="1021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Metin kutusu 9">
            <a:extLst>
              <a:ext uri="{FF2B5EF4-FFF2-40B4-BE49-F238E27FC236}">
                <a16:creationId xmlns:a16="http://schemas.microsoft.com/office/drawing/2014/main" id="{44218593-A3C4-1C1E-580E-CE223A550502}"/>
              </a:ext>
            </a:extLst>
          </p:cNvPr>
          <p:cNvSpPr txBox="1"/>
          <p:nvPr/>
        </p:nvSpPr>
        <p:spPr>
          <a:xfrm>
            <a:off x="2426179" y="4480344"/>
            <a:ext cx="45720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 b="1" i="1" u="none" strike="noStrike" baseline="0">
                <a:solidFill>
                  <a:srgbClr val="10212B"/>
                </a:solidFill>
                <a:latin typeface="Aptos"/>
              </a:rPr>
              <a:t>Waterfall</a:t>
            </a:r>
            <a:endParaRPr lang="tr-TR" sz="800" i="1"/>
          </a:p>
          <a:p>
            <a:pPr algn="ctr"/>
            <a:endParaRPr lang="tr-TR" sz="800" i="1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288925" y="-32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52B788"/>
                </a:solidFill>
              </a:rPr>
              <a:t>14 — STREAMLIT UYGULAMASI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8681" y="21419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Uygulaması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70332" y="801880"/>
            <a:ext cx="8362188" cy="446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</a:rPr>
              <a:t>Eğitilmiş XGBoost modeli gerçek zamanlı tahmin arayüzüne entegre </a:t>
            </a:r>
            <a:r>
              <a:rPr lang="en-US" sz="1200" i="1" dirty="0" err="1">
                <a:solidFill>
                  <a:srgbClr val="6B7280"/>
                </a:solidFill>
              </a:rPr>
              <a:t>edildi</a:t>
            </a:r>
            <a:r>
              <a:rPr lang="en-US" sz="1200" i="1" dirty="0">
                <a:solidFill>
                  <a:srgbClr val="6B7280"/>
                </a:solidFill>
              </a:rPr>
              <a:t>.</a:t>
            </a:r>
            <a:endParaRPr lang="tr-TR" sz="1200" i="1" dirty="0">
              <a:solidFill>
                <a:srgbClr val="6B7280"/>
              </a:solidFill>
            </a:endParaRPr>
          </a:p>
          <a:p>
            <a:r>
              <a:rPr lang="tr-TR" sz="1200" b="1" i="1" dirty="0">
                <a:solidFill>
                  <a:schemeClr val="tx1">
                    <a:lumMod val="95000"/>
                    <a:lumOff val="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Link: https://bim322-solar-power-prediction.streamlit.app/</a:t>
            </a:r>
            <a:endParaRPr lang="en-US" sz="1200" b="1" i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" y="1417319"/>
            <a:ext cx="2862072" cy="1007039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484632" y="1508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🎛️  Kullanıcı Girdisi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2069" y="1627632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Irradiation, Module Temperature ve Ambient Temperature değerleri slider ile ayarlanır.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9549" y="1417319"/>
            <a:ext cx="2788920" cy="100703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3410712" y="1508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⚡  Anlık Tahmin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1291" y="1655783"/>
            <a:ext cx="2468880" cy="627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Model girdi değerlerini alır, normalize eder ve Düşük / Yüksek üretim tahmini döndürür.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33786" y="1414776"/>
            <a:ext cx="2788920" cy="100703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6336792" y="1508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📊  Görsel Çıktı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27648" y="149225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</a:rPr>
              <a:t>Tahmin sonucu renk kodlu gösterim ve sınıf olasılıkları ile ekranda gösterilir.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4956048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41148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BIM 322 — Makine Öğrenmesi ve Uygulamaları  |  Solar Power Generation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03920" y="4974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tr-TR" sz="1200" dirty="0"/>
              <a:t>23</a:t>
            </a:r>
            <a:endParaRPr lang="en-US" sz="1200" dirty="0"/>
          </a:p>
        </p:txBody>
      </p:sp>
      <p:pic>
        <p:nvPicPr>
          <p:cNvPr id="24" name="Resim 23">
            <a:extLst>
              <a:ext uri="{FF2B5EF4-FFF2-40B4-BE49-F238E27FC236}">
                <a16:creationId xmlns:a16="http://schemas.microsoft.com/office/drawing/2014/main" id="{5C1933FB-9803-C489-B391-E6A05593D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869" y="2634671"/>
            <a:ext cx="2060047" cy="1744762"/>
          </a:xfrm>
          <a:prstGeom prst="rect">
            <a:avLst/>
          </a:prstGeom>
        </p:spPr>
      </p:pic>
      <p:pic>
        <p:nvPicPr>
          <p:cNvPr id="26" name="Resim 25">
            <a:extLst>
              <a:ext uri="{FF2B5EF4-FFF2-40B4-BE49-F238E27FC236}">
                <a16:creationId xmlns:a16="http://schemas.microsoft.com/office/drawing/2014/main" id="{18D6B11A-6DE3-2FF9-ED84-31B432D363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714" y="2636715"/>
            <a:ext cx="2899457" cy="1742718"/>
          </a:xfrm>
          <a:prstGeom prst="rect">
            <a:avLst/>
          </a:prstGeom>
        </p:spPr>
      </p:pic>
      <p:pic>
        <p:nvPicPr>
          <p:cNvPr id="28" name="Resim 27">
            <a:extLst>
              <a:ext uri="{FF2B5EF4-FFF2-40B4-BE49-F238E27FC236}">
                <a16:creationId xmlns:a16="http://schemas.microsoft.com/office/drawing/2014/main" id="{6C301143-83E4-3BA9-C131-2D0154DD37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094" y="2588579"/>
            <a:ext cx="1939449" cy="19055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2885" y="0"/>
            <a:ext cx="36576" cy="16459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219202" y="54864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 &amp; Değerlendirme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83210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Shape 4"/>
          <p:cNvSpPr/>
          <p:nvPr/>
        </p:nvSpPr>
        <p:spPr>
          <a:xfrm>
            <a:off x="411480" y="1060704"/>
            <a:ext cx="54864" cy="6858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594360" y="1005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XGBoost en yüksek accuracy (97.42%) ve AUC (0.997) değerleriyle final model seçildi.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Tüm modeller %91+ → veri seti temiz, özellikler güçlü.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2020824"/>
            <a:ext cx="54864" cy="6858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594360" y="1965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4 farklı özellik seçim yöntemi IRRADIATION, MODULE_TEMPERATURE, AMBIENT_TEMPERATURE üçlüsünde birleşti.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Özellik seçimi sade ve fiziksel olarak savunulabilir.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2980944"/>
            <a:ext cx="54864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594360" y="29260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Data leakage önlendi: Scaler ve threshold sadece train verisinden türetildi.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3291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Yüksek skor güvenilirliği, test bilgisinin eğitime karışmamasına bağlı.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941064"/>
            <a:ext cx="54864" cy="685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594360" y="3886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SHAP ile model kara kutu olmaktan çıkarıldı; tek tahmin seviyesinde açıklanabilirlik sağlandı.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4251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74151"/>
                </a:solidFill>
              </a:rPr>
              <a:t>IRRADIATION her tahminde baskın değişken olarak öne çıkıyor.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47548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6A4F"/>
                </a:solidFill>
              </a:rPr>
              <a:t>Büşra Demir — 030123075  ·  Nazenin Tatar — 030123053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6350">
          <a:solidFill>
            <a:srgbClr val="E5E7EB"/>
          </a:solidFill>
          <a:prstDash val="solid"/>
        </a:ln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BF8454-2034-47D1-80FB-BB834EC5281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9af4188b-5421-421a-b5d1-792b6d22b70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2185</Words>
  <Application>Microsoft Office PowerPoint</Application>
  <PresentationFormat>Ekran Gösterisi (16:9)</PresentationFormat>
  <Paragraphs>472</Paragraphs>
  <Slides>24</Slides>
  <Notes>20</Notes>
  <HiddenSlides>0</HiddenSlides>
  <MMClips>0</MMClips>
  <ScaleCrop>false</ScaleCrop>
  <HeadingPairs>
    <vt:vector size="8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Eklenmiş OLE Hizmet Programları</vt:lpstr>
      </vt:variant>
      <vt:variant>
        <vt:i4>1</vt:i4>
      </vt:variant>
      <vt:variant>
        <vt:lpstr>Slayt Başlıkları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Georgia</vt:lpstr>
      <vt:lpstr>Office Theme</vt:lpstr>
      <vt:lpstr>Worksheet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Büşra DEMİR</cp:lastModifiedBy>
  <cp:revision>7</cp:revision>
  <dcterms:created xsi:type="dcterms:W3CDTF">2026-05-17T03:14:24Z</dcterms:created>
  <dcterms:modified xsi:type="dcterms:W3CDTF">2026-05-17T17:37:01Z</dcterms:modified>
</cp:coreProperties>
</file>